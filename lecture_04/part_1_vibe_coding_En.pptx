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26.png"/><Relationship Id="rId10" Type="http://schemas.openxmlformats.org/officeDocument/2006/relationships/image" Target="../media/image25.png"/><Relationship Id="rId1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42.png"/><Relationship Id="rId1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53.png"/><Relationship Id="rId10" Type="http://schemas.openxmlformats.org/officeDocument/2006/relationships/image" Target="../media/image52.png"/><Relationship Id="rId1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6.png"/><Relationship Id="rId8" Type="http://schemas.openxmlformats.org/officeDocument/2006/relationships/image" Target="../media/image65.png"/><Relationship Id="rId7" Type="http://schemas.openxmlformats.org/officeDocument/2006/relationships/image" Target="../media/image64.png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5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41.png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79.png"/><Relationship Id="rId7" Type="http://schemas.openxmlformats.org/officeDocument/2006/relationships/image" Target="../media/image78.png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72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8.png"/><Relationship Id="rId8" Type="http://schemas.openxmlformats.org/officeDocument/2006/relationships/image" Target="../media/image87.png"/><Relationship Id="rId7" Type="http://schemas.openxmlformats.org/officeDocument/2006/relationships/image" Target="../media/image86.png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4" Type="http://schemas.openxmlformats.org/officeDocument/2006/relationships/notesSlide" Target="../notesSlides/notesSlide12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91.png"/><Relationship Id="rId11" Type="http://schemas.openxmlformats.org/officeDocument/2006/relationships/image" Target="../media/image90.png"/><Relationship Id="rId10" Type="http://schemas.openxmlformats.org/officeDocument/2006/relationships/image" Target="../media/image89.png"/><Relationship Id="rId1" Type="http://schemas.openxmlformats.org/officeDocument/2006/relationships/image" Target="../media/image8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image" Target="../media/image92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6.png"/><Relationship Id="rId8" Type="http://schemas.openxmlformats.org/officeDocument/2006/relationships/image" Target="../media/image105.png"/><Relationship Id="rId7" Type="http://schemas.openxmlformats.org/officeDocument/2006/relationships/image" Target="../media/image104.png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4" Type="http://schemas.openxmlformats.org/officeDocument/2006/relationships/notesSlide" Target="../notesSlides/notesSlide14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09.png"/><Relationship Id="rId11" Type="http://schemas.openxmlformats.org/officeDocument/2006/relationships/image" Target="../media/image108.png"/><Relationship Id="rId10" Type="http://schemas.openxmlformats.org/officeDocument/2006/relationships/image" Target="../media/image107.png"/><Relationship Id="rId1" Type="http://schemas.openxmlformats.org/officeDocument/2006/relationships/image" Target="../media/image98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4.png"/><Relationship Id="rId4" Type="http://schemas.openxmlformats.org/officeDocument/2006/relationships/image" Target="../media/image113.png"/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image" Target="../media/image110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3.png"/><Relationship Id="rId8" Type="http://schemas.openxmlformats.org/officeDocument/2006/relationships/image" Target="../media/image122.png"/><Relationship Id="rId7" Type="http://schemas.openxmlformats.org/officeDocument/2006/relationships/image" Target="../media/image121.png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6" Type="http://schemas.openxmlformats.org/officeDocument/2006/relationships/notesSlide" Target="../notesSlides/notesSlide16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28.png"/><Relationship Id="rId13" Type="http://schemas.openxmlformats.org/officeDocument/2006/relationships/image" Target="../media/image127.png"/><Relationship Id="rId12" Type="http://schemas.openxmlformats.org/officeDocument/2006/relationships/image" Target="../media/image126.png"/><Relationship Id="rId11" Type="http://schemas.openxmlformats.org/officeDocument/2006/relationships/image" Target="../media/image125.png"/><Relationship Id="rId10" Type="http://schemas.openxmlformats.org/officeDocument/2006/relationships/image" Target="../media/image124.png"/><Relationship Id="rId1" Type="http://schemas.openxmlformats.org/officeDocument/2006/relationships/image" Target="../media/image115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35.png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4" Type="http://schemas.openxmlformats.org/officeDocument/2006/relationships/image" Target="../media/image132.png"/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image" Target="../media/image129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4.png"/><Relationship Id="rId8" Type="http://schemas.openxmlformats.org/officeDocument/2006/relationships/image" Target="../media/image143.png"/><Relationship Id="rId7" Type="http://schemas.openxmlformats.org/officeDocument/2006/relationships/image" Target="../media/image142.png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36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3.png"/><Relationship Id="rId8" Type="http://schemas.openxmlformats.org/officeDocument/2006/relationships/image" Target="../media/image152.png"/><Relationship Id="rId7" Type="http://schemas.openxmlformats.org/officeDocument/2006/relationships/image" Target="../media/image151.png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6" Type="http://schemas.openxmlformats.org/officeDocument/2006/relationships/notesSlide" Target="../notesSlides/notesSlide19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58.png"/><Relationship Id="rId13" Type="http://schemas.openxmlformats.org/officeDocument/2006/relationships/image" Target="../media/image157.png"/><Relationship Id="rId12" Type="http://schemas.openxmlformats.org/officeDocument/2006/relationships/image" Target="../media/image156.png"/><Relationship Id="rId11" Type="http://schemas.openxmlformats.org/officeDocument/2006/relationships/image" Target="../media/image155.png"/><Relationship Id="rId10" Type="http://schemas.openxmlformats.org/officeDocument/2006/relationships/image" Target="../media/image154.png"/><Relationship Id="rId1" Type="http://schemas.openxmlformats.org/officeDocument/2006/relationships/image" Target="../media/image145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7.png"/><Relationship Id="rId8" Type="http://schemas.openxmlformats.org/officeDocument/2006/relationships/image" Target="../media/image166.png"/><Relationship Id="rId7" Type="http://schemas.openxmlformats.org/officeDocument/2006/relationships/image" Target="../media/image165.png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4" Type="http://schemas.openxmlformats.org/officeDocument/2006/relationships/image" Target="../media/image162.png"/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1" Type="http://schemas.openxmlformats.org/officeDocument/2006/relationships/notesSlide" Target="../notesSlides/notesSlide20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59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2.png"/><Relationship Id="rId4" Type="http://schemas.openxmlformats.org/officeDocument/2006/relationships/image" Target="../media/image171.png"/><Relationship Id="rId3" Type="http://schemas.openxmlformats.org/officeDocument/2006/relationships/image" Target="../media/image170.png"/><Relationship Id="rId2" Type="http://schemas.openxmlformats.org/officeDocument/2006/relationships/image" Target="../media/image169.png"/><Relationship Id="rId1" Type="http://schemas.openxmlformats.org/officeDocument/2006/relationships/image" Target="../media/image168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7.png"/><Relationship Id="rId4" Type="http://schemas.openxmlformats.org/officeDocument/2006/relationships/image" Target="../media/image176.png"/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image" Target="../media/image173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82.png"/><Relationship Id="rId4" Type="http://schemas.openxmlformats.org/officeDocument/2006/relationships/image" Target="../media/image181.png"/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image" Target="../media/image178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1.png"/><Relationship Id="rId8" Type="http://schemas.openxmlformats.org/officeDocument/2006/relationships/image" Target="../media/image190.png"/><Relationship Id="rId7" Type="http://schemas.openxmlformats.org/officeDocument/2006/relationships/image" Target="../media/image189.png"/><Relationship Id="rId6" Type="http://schemas.openxmlformats.org/officeDocument/2006/relationships/image" Target="../media/image188.png"/><Relationship Id="rId5" Type="http://schemas.openxmlformats.org/officeDocument/2006/relationships/image" Target="../media/image187.png"/><Relationship Id="rId4" Type="http://schemas.openxmlformats.org/officeDocument/2006/relationships/image" Target="../media/image186.png"/><Relationship Id="rId3" Type="http://schemas.openxmlformats.org/officeDocument/2006/relationships/image" Target="../media/image185.png"/><Relationship Id="rId2" Type="http://schemas.openxmlformats.org/officeDocument/2006/relationships/image" Target="../media/image184.png"/><Relationship Id="rId11" Type="http://schemas.openxmlformats.org/officeDocument/2006/relationships/notesSlide" Target="../notesSlides/notesSlide24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83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5.png"/><Relationship Id="rId3" Type="http://schemas.openxmlformats.org/officeDocument/2006/relationships/image" Target="../media/image194.png"/><Relationship Id="rId2" Type="http://schemas.openxmlformats.org/officeDocument/2006/relationships/image" Target="../media/image193.png"/><Relationship Id="rId1" Type="http://schemas.openxmlformats.org/officeDocument/2006/relationships/image" Target="../media/image1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9346997" y="0"/>
            <a:ext cx="9144" cy="6858000"/>
          </a:xfrm>
          <a:prstGeom prst="rect">
            <a:avLst/>
          </a:prstGeom>
          <a:solidFill>
            <a:srgbClr val="E5E7EB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-38893" r="-38893"/>
          <a:stretch>
            <a:fillRect/>
          </a:stretch>
        </p:blipFill>
        <p:spPr>
          <a:xfrm>
            <a:off x="6096305" y="3429000"/>
            <a:ext cx="6096305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7" name="Text 4"/>
          <p:cNvSpPr txBox="1"/>
          <p:nvPr/>
        </p:nvSpPr>
        <p:spPr>
          <a:xfrm>
            <a:off x="11563502" y="6400800"/>
            <a:ext cx="3008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01</a:t>
            </a:r>
            <a:endParaRPr lang="en-US" sz="1300" b="1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14400" y="1595628"/>
            <a:ext cx="457200" cy="3840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9" name="Shape 6"/>
          <p:cNvSpPr/>
          <p:nvPr/>
        </p:nvSpPr>
        <p:spPr>
          <a:xfrm>
            <a:off x="914400" y="2948026"/>
            <a:ext cx="75895" cy="49560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0" name="Shape 7"/>
          <p:cNvSpPr/>
          <p:nvPr/>
        </p:nvSpPr>
        <p:spPr>
          <a:xfrm>
            <a:off x="914400" y="4604918"/>
            <a:ext cx="9506102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3" name="Text 8"/>
          <p:cNvSpPr txBox="1"/>
          <p:nvPr/>
        </p:nvSpPr>
        <p:spPr>
          <a:xfrm>
            <a:off x="1524305" y="1538021"/>
            <a:ext cx="32817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AI-ASSISTED RESEARCH METHODOLOGY</a:t>
            </a:r>
            <a:endParaRPr lang="en-US" sz="1000" b="1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914400" y="2042770"/>
            <a:ext cx="7001561" cy="505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AI-Assisted Research Programming</a:t>
            </a:r>
            <a:endParaRPr lang="en-US" sz="3600" b="1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1218895" y="3033979"/>
            <a:ext cx="5777179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From Vibe Coding to Spec-Driven Development</a:t>
            </a:r>
            <a:endParaRPr lang="en-US" sz="2200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914400" y="3757270"/>
            <a:ext cx="2781605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 Practical Guide for Researchers</a:t>
            </a:r>
            <a:endParaRPr lang="en-US" sz="1500" i="1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10082174" y="4852721"/>
            <a:ext cx="4197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DATE</a:t>
            </a:r>
            <a:endParaRPr lang="en-US" sz="900" b="1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23" name="Text 18"/>
          <p:cNvSpPr txBox="1"/>
          <p:nvPr/>
        </p:nvSpPr>
        <p:spPr>
          <a:xfrm>
            <a:off x="9525305" y="5100523"/>
            <a:ext cx="103875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2025-12-28</a:t>
            </a:r>
            <a:endParaRPr lang="en-US" sz="1500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pic>
        <p:nvPicPr>
          <p:cNvPr id="24" name="图片 23"/>
          <p:cNvPicPr/>
          <p:nvPr/>
        </p:nvPicPr>
        <p:blipFill>
          <a:blip r:embed="rId2"/>
          <a:stretch>
            <a:fillRect/>
          </a:stretch>
        </p:blipFill>
        <p:spPr>
          <a:xfrm>
            <a:off x="8743950" y="214630"/>
            <a:ext cx="3281680" cy="942975"/>
          </a:xfrm>
          <a:prstGeom prst="rect">
            <a:avLst/>
          </a:prstGeom>
          <a:gradFill>
            <a:gsLst>
              <a:gs pos="1000">
                <a:srgbClr val="003399">
                  <a:alpha val="70000"/>
                </a:srgbClr>
              </a:gs>
              <a:gs pos="0">
                <a:schemeClr val="accent1">
                  <a:lumMod val="5000"/>
                  <a:lumOff val="95000"/>
                </a:schemeClr>
              </a:gs>
              <a:gs pos="81000">
                <a:srgbClr val="003399"/>
              </a:gs>
            </a:gsLst>
            <a:lin ang="10800000" scaled="0"/>
          </a:gradFill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40" y="0"/>
            <a:ext cx="1493520" cy="1372870"/>
          </a:xfrm>
          <a:prstGeom prst="rect">
            <a:avLst/>
          </a:prstGeom>
        </p:spPr>
      </p:pic>
      <p:sp>
        <p:nvSpPr>
          <p:cNvPr id="26" name="Text 12"/>
          <p:cNvSpPr txBox="1"/>
          <p:nvPr/>
        </p:nvSpPr>
        <p:spPr>
          <a:xfrm>
            <a:off x="2040128" y="4847361"/>
            <a:ext cx="89794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  <a:latin typeface="Times New Roman Bold" panose="02020503050405090304" charset="0"/>
                <a:ea typeface="Roboto" pitchFamily="34" charset="-122"/>
                <a:cs typeface="Times New Roman Bold" panose="02020503050405090304" charset="0"/>
              </a:rPr>
              <a:t>PRESENTER</a:t>
            </a:r>
            <a:endParaRPr lang="en-US" sz="1000" b="1" dirty="0">
              <a:solidFill>
                <a:schemeClr val="tx1"/>
              </a:solidFill>
              <a:latin typeface="Times New Roman Bold" panose="02020503050405090304" charset="0"/>
              <a:ea typeface="Roboto" pitchFamily="34" charset="-122"/>
              <a:cs typeface="Times New Roman Bold" panose="02020503050405090304" charset="0"/>
            </a:endParaRPr>
          </a:p>
        </p:txBody>
      </p:sp>
      <p:sp>
        <p:nvSpPr>
          <p:cNvPr id="27" name="Text 13"/>
          <p:cNvSpPr txBox="1"/>
          <p:nvPr/>
        </p:nvSpPr>
        <p:spPr>
          <a:xfrm>
            <a:off x="1933143" y="5089677"/>
            <a:ext cx="11475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 Bold" panose="02020503050405090304" charset="0"/>
                <a:ea typeface="Roboto" pitchFamily="34" charset="-122"/>
                <a:cs typeface="Times New Roman Bold" panose="02020503050405090304" charset="0"/>
              </a:rPr>
              <a:t>[Jiale Guo]</a:t>
            </a:r>
            <a:endParaRPr lang="en-US" sz="1400" b="1" dirty="0">
              <a:solidFill>
                <a:schemeClr val="tx1"/>
              </a:solidFill>
              <a:latin typeface="Times New Roman Bold" panose="02020503050405090304" charset="0"/>
              <a:ea typeface="Roboto" pitchFamily="34" charset="-122"/>
              <a:cs typeface="Times New Roman Bold" panose="02020503050405090304" charset="0"/>
            </a:endParaRPr>
          </a:p>
        </p:txBody>
      </p:sp>
      <p:sp>
        <p:nvSpPr>
          <p:cNvPr id="28" name="Text 14"/>
          <p:cNvSpPr txBox="1"/>
          <p:nvPr/>
        </p:nvSpPr>
        <p:spPr>
          <a:xfrm>
            <a:off x="4995926" y="5656351"/>
            <a:ext cx="90708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chemeClr val="tx1"/>
              </a:solidFill>
              <a:latin typeface="Times New Roman Bold" panose="02020503050405090304" charset="0"/>
              <a:ea typeface="Roboto" pitchFamily="34" charset="-122"/>
              <a:cs typeface="Times New Roman Bold" panose="02020503050405090304" charset="0"/>
            </a:endParaRPr>
          </a:p>
        </p:txBody>
      </p:sp>
      <p:sp>
        <p:nvSpPr>
          <p:cNvPr id="29" name="Text 15"/>
          <p:cNvSpPr txBox="1"/>
          <p:nvPr/>
        </p:nvSpPr>
        <p:spPr>
          <a:xfrm>
            <a:off x="614680" y="5466080"/>
            <a:ext cx="37846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 Bold" panose="02020503050405090304" charset="0"/>
                <a:ea typeface="Roboto" pitchFamily="34" charset="-122"/>
                <a:cs typeface="Times New Roman Bold" panose="02020503050405090304" charset="0"/>
              </a:rPr>
              <a:t>2024_Fall_MSc_</a:t>
            </a:r>
            <a:r>
              <a:rPr lang="en-US" altLang="zh-CN" sz="1400" b="1" dirty="0">
                <a:solidFill>
                  <a:schemeClr val="tx1"/>
                </a:solidFill>
                <a:latin typeface="Times New Roman Bold" panose="02020503050405090304" charset="0"/>
                <a:ea typeface="Roboto" pitchFamily="34" charset="-122"/>
                <a:cs typeface="Times New Roman Bold" panose="02020503050405090304" charset="0"/>
              </a:rPr>
              <a:t>Geoinformatics Engineering</a:t>
            </a:r>
            <a:endParaRPr lang="en-US" altLang="zh-CN" sz="1400" b="1" dirty="0">
              <a:solidFill>
                <a:schemeClr val="tx1"/>
              </a:solidFill>
              <a:latin typeface="Times New Roman Bold" panose="02020503050405090304" charset="0"/>
              <a:ea typeface="Roboto" pitchFamily="34" charset="-122"/>
              <a:cs typeface="Times New Roman Bold" panose="02020503050405090304" charset="0"/>
            </a:endParaRPr>
          </a:p>
          <a:p>
            <a:pPr marL="0" indent="0" algn="ctr"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Times New Roman Bold" panose="02020503050405090304" charset="0"/>
                <a:ea typeface="Roboto" pitchFamily="34" charset="-122"/>
                <a:cs typeface="Times New Roman Bold" panose="02020503050405090304" charset="0"/>
              </a:rPr>
              <a:t>Politecnico di Milano</a:t>
            </a:r>
            <a:endParaRPr lang="en-US" altLang="zh-CN" sz="1400" b="1" dirty="0">
              <a:solidFill>
                <a:schemeClr val="tx1"/>
              </a:solidFill>
              <a:latin typeface="Times New Roman Bold" panose="02020503050405090304" charset="0"/>
              <a:ea typeface="Roboto" pitchFamily="34" charset="-122"/>
              <a:cs typeface="Times New Roman Bold" panose="0202050305040509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3472891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1.0 Programming Evolution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177894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492447" y="295351"/>
            <a:ext cx="41340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From Humans Adapting to Machines to Machines Serving People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5391302"/>
            <a:ext cx="11277295" cy="780898"/>
          </a:xfrm>
          <a:prstGeom prst="roundRect">
            <a:avLst>
              <a:gd name="adj" fmla="val 11424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049" y="559155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 l="-1773" r="-1773"/>
          <a:stretch>
            <a:fillRect/>
          </a:stretch>
        </p:blipFill>
        <p:spPr>
          <a:xfrm>
            <a:off x="743407" y="5695798"/>
            <a:ext cx="133502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52144" y="5581498"/>
            <a:ext cx="13057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Evolutionary Law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" y="5838444"/>
            <a:ext cx="46442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Programming abstraction layers rise continuously; HCI approaches natural language.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392363" y="5553151"/>
            <a:ext cx="9144" cy="45720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4" name="Text 11"/>
          <p:cNvSpPr txBox="1"/>
          <p:nvPr/>
        </p:nvSpPr>
        <p:spPr>
          <a:xfrm>
            <a:off x="10891418" y="5562295"/>
            <a:ext cx="7717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NEXT STEP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631022" y="5781751"/>
            <a:ext cx="30723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563E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Prompt Engineering Is The New Coding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1551615" y="6383426"/>
            <a:ext cx="32827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69671" y="3333902"/>
            <a:ext cx="11058754" cy="38405"/>
          </a:xfrm>
          <a:prstGeom prst="roundRect">
            <a:avLst>
              <a:gd name="adj" fmla="val 1190470"/>
            </a:avLst>
          </a:prstGeom>
          <a:solidFill>
            <a:srgbClr val="E2E8F0"/>
          </a:solidFill>
        </p:spPr>
      </p:sp>
      <p:sp>
        <p:nvSpPr>
          <p:cNvPr id="18" name="Shape 15"/>
          <p:cNvSpPr/>
          <p:nvPr/>
        </p:nvSpPr>
        <p:spPr>
          <a:xfrm>
            <a:off x="598932" y="1654150"/>
            <a:ext cx="1238098" cy="146669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rcRect l="-271277" r="-271277"/>
          <a:stretch>
            <a:fillRect/>
          </a:stretch>
        </p:blipFill>
        <p:spPr>
          <a:xfrm>
            <a:off x="665683" y="1740103"/>
            <a:ext cx="1104595" cy="171907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072591" y="1968703"/>
            <a:ext cx="38679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1940s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929030" y="2151583"/>
            <a:ext cx="683971" cy="3246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Machine Language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953719" y="2519172"/>
            <a:ext cx="613562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0101 Binary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762610" y="2658161"/>
            <a:ext cx="994867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Direct Hardware Ops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817474" y="2834640"/>
            <a:ext cx="809244" cy="200254"/>
          </a:xfrm>
          <a:prstGeom prst="roundRect">
            <a:avLst>
              <a:gd name="adj" fmla="val 8697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65022" y="2873045"/>
            <a:ext cx="790956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Adapt to Machine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2224735" y="3590849"/>
            <a:ext cx="1238098" cy="1304849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rcRect l="-207022" r="-207022"/>
          <a:stretch>
            <a:fillRect/>
          </a:stretch>
        </p:blipFill>
        <p:spPr>
          <a:xfrm>
            <a:off x="2291486" y="3676802"/>
            <a:ext cx="1104595" cy="171907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698394" y="3905402"/>
            <a:ext cx="38679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1950s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2562149" y="4088282"/>
            <a:ext cx="67482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Assembly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2407615" y="4291279"/>
            <a:ext cx="956462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Mnemonics Replace</a:t>
            </a:r>
            <a:endParaRPr lang="en-US" sz="800" dirty="0"/>
          </a:p>
        </p:txBody>
      </p:sp>
      <p:sp>
        <p:nvSpPr>
          <p:cNvPr id="31" name="Text 26"/>
          <p:cNvSpPr txBox="1"/>
          <p:nvPr/>
        </p:nvSpPr>
        <p:spPr>
          <a:xfrm>
            <a:off x="2434133" y="4429354"/>
            <a:ext cx="908914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Binary Instructions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2409444" y="4606747"/>
            <a:ext cx="875995" cy="200254"/>
          </a:xfrm>
          <a:prstGeom prst="roundRect">
            <a:avLst>
              <a:gd name="adj" fmla="val 8697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2456993" y="4644238"/>
            <a:ext cx="857707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Low-Level Abstract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3850538" y="1818742"/>
            <a:ext cx="1238098" cy="1304849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4"/>
          <a:srcRect l="-207022" r="-207022"/>
          <a:stretch>
            <a:fillRect/>
          </a:stretch>
        </p:blipFill>
        <p:spPr>
          <a:xfrm>
            <a:off x="3917290" y="1904695"/>
            <a:ext cx="1104595" cy="171907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4242816" y="2133295"/>
            <a:ext cx="54864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1960-70s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4142232" y="2316175"/>
            <a:ext cx="76078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High-Level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262933" y="2519172"/>
            <a:ext cx="499262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Fortran/C</a:t>
            </a:r>
            <a:endParaRPr lang="en-US" sz="800" dirty="0"/>
          </a:p>
        </p:txBody>
      </p:sp>
      <p:sp>
        <p:nvSpPr>
          <p:cNvPr id="39" name="Text 33"/>
          <p:cNvSpPr txBox="1"/>
          <p:nvPr/>
        </p:nvSpPr>
        <p:spPr>
          <a:xfrm>
            <a:off x="4086454" y="2658161"/>
            <a:ext cx="852221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Logic Abstraction</a:t>
            </a:r>
            <a:endParaRPr lang="en-US" sz="800" dirty="0"/>
          </a:p>
        </p:txBody>
      </p:sp>
      <p:sp>
        <p:nvSpPr>
          <p:cNvPr id="40" name="Shape 34"/>
          <p:cNvSpPr/>
          <p:nvPr/>
        </p:nvSpPr>
        <p:spPr>
          <a:xfrm>
            <a:off x="4134002" y="2834640"/>
            <a:ext cx="676656" cy="200254"/>
          </a:xfrm>
          <a:prstGeom prst="roundRect">
            <a:avLst>
              <a:gd name="adj" fmla="val 8697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4181551" y="2873045"/>
            <a:ext cx="657454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Logic Abstract</a:t>
            </a:r>
            <a:endParaRPr lang="en-US" sz="800" dirty="0"/>
          </a:p>
        </p:txBody>
      </p:sp>
      <p:sp>
        <p:nvSpPr>
          <p:cNvPr id="42" name="Shape 36"/>
          <p:cNvSpPr/>
          <p:nvPr/>
        </p:nvSpPr>
        <p:spPr>
          <a:xfrm>
            <a:off x="5476342" y="3590849"/>
            <a:ext cx="1238098" cy="1304849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5"/>
          <a:srcRect l="-235579" r="-235579"/>
          <a:stretch>
            <a:fillRect/>
          </a:stretch>
        </p:blipFill>
        <p:spPr>
          <a:xfrm>
            <a:off x="5543093" y="3676802"/>
            <a:ext cx="1104595" cy="171907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5868619" y="3905402"/>
            <a:ext cx="54864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1980-90s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5947258" y="4088282"/>
            <a:ext cx="40782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OOP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5890565" y="4291279"/>
            <a:ext cx="499262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Java/C++</a:t>
            </a:r>
            <a:endParaRPr lang="en-US" sz="800" dirty="0"/>
          </a:p>
        </p:txBody>
      </p:sp>
      <p:sp>
        <p:nvSpPr>
          <p:cNvPr id="47" name="Text 40"/>
          <p:cNvSpPr txBox="1"/>
          <p:nvPr/>
        </p:nvSpPr>
        <p:spPr>
          <a:xfrm>
            <a:off x="5780837" y="4429354"/>
            <a:ext cx="718718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Object Models</a:t>
            </a:r>
            <a:endParaRPr lang="en-US" sz="800" dirty="0"/>
          </a:p>
        </p:txBody>
      </p:sp>
      <p:sp>
        <p:nvSpPr>
          <p:cNvPr id="48" name="Shape 41"/>
          <p:cNvSpPr/>
          <p:nvPr/>
        </p:nvSpPr>
        <p:spPr>
          <a:xfrm>
            <a:off x="5779922" y="4606747"/>
            <a:ext cx="638251" cy="200254"/>
          </a:xfrm>
          <a:prstGeom prst="roundRect">
            <a:avLst>
              <a:gd name="adj" fmla="val 8697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5828386" y="4644238"/>
            <a:ext cx="619963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Object Model</a:t>
            </a:r>
            <a:endParaRPr lang="en-US" sz="800" dirty="0"/>
          </a:p>
        </p:txBody>
      </p:sp>
      <p:sp>
        <p:nvSpPr>
          <p:cNvPr id="50" name="Shape 43"/>
          <p:cNvSpPr/>
          <p:nvPr/>
        </p:nvSpPr>
        <p:spPr>
          <a:xfrm>
            <a:off x="7102145" y="1818742"/>
            <a:ext cx="1238098" cy="1304849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6"/>
          <a:srcRect l="-317174" r="-317174"/>
          <a:stretch>
            <a:fillRect/>
          </a:stretch>
        </p:blipFill>
        <p:spPr>
          <a:xfrm>
            <a:off x="7168896" y="1904695"/>
            <a:ext cx="1104595" cy="171907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7541057" y="2133295"/>
            <a:ext cx="45354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2000s+</a:t>
            </a:r>
            <a:endParaRPr lang="en-US" sz="900" dirty="0"/>
          </a:p>
        </p:txBody>
      </p:sp>
      <p:sp>
        <p:nvSpPr>
          <p:cNvPr id="53" name="Text 45"/>
          <p:cNvSpPr txBox="1"/>
          <p:nvPr/>
        </p:nvSpPr>
        <p:spPr>
          <a:xfrm>
            <a:off x="7485278" y="2316175"/>
            <a:ext cx="57973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Modern</a:t>
            </a:r>
            <a:endParaRPr lang="en-US" sz="1000" dirty="0"/>
          </a:p>
        </p:txBody>
      </p:sp>
      <p:sp>
        <p:nvSpPr>
          <p:cNvPr id="54" name="Text 46"/>
          <p:cNvSpPr txBox="1"/>
          <p:nvPr/>
        </p:nvSpPr>
        <p:spPr>
          <a:xfrm>
            <a:off x="7505395" y="2519172"/>
            <a:ext cx="518465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Python/JS</a:t>
            </a:r>
            <a:endParaRPr lang="en-US" sz="800" dirty="0"/>
          </a:p>
        </p:txBody>
      </p:sp>
      <p:sp>
        <p:nvSpPr>
          <p:cNvPr id="55" name="Text 47"/>
          <p:cNvSpPr txBox="1"/>
          <p:nvPr/>
        </p:nvSpPr>
        <p:spPr>
          <a:xfrm>
            <a:off x="7348118" y="2658161"/>
            <a:ext cx="833018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Simplicity &amp; Eco</a:t>
            </a:r>
            <a:endParaRPr lang="en-US" sz="800" dirty="0"/>
          </a:p>
        </p:txBody>
      </p:sp>
      <p:sp>
        <p:nvSpPr>
          <p:cNvPr id="56" name="Shape 48"/>
          <p:cNvSpPr/>
          <p:nvPr/>
        </p:nvSpPr>
        <p:spPr>
          <a:xfrm>
            <a:off x="7472477" y="2834640"/>
            <a:ext cx="504749" cy="200254"/>
          </a:xfrm>
          <a:prstGeom prst="roundRect">
            <a:avLst>
              <a:gd name="adj" fmla="val 8697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49"/>
          <p:cNvSpPr txBox="1"/>
          <p:nvPr/>
        </p:nvSpPr>
        <p:spPr>
          <a:xfrm>
            <a:off x="7520026" y="2873045"/>
            <a:ext cx="486461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Eco Reuse</a:t>
            </a:r>
            <a:endParaRPr lang="en-US" sz="800" dirty="0"/>
          </a:p>
        </p:txBody>
      </p:sp>
      <p:sp>
        <p:nvSpPr>
          <p:cNvPr id="58" name="Shape 50"/>
          <p:cNvSpPr/>
          <p:nvPr/>
        </p:nvSpPr>
        <p:spPr>
          <a:xfrm>
            <a:off x="8727948" y="3590849"/>
            <a:ext cx="1238098" cy="1304849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 r:embed="rId7"/>
          <a:srcRect l="-271277" r="-271277"/>
          <a:stretch>
            <a:fillRect/>
          </a:stretch>
        </p:blipFill>
        <p:spPr>
          <a:xfrm>
            <a:off x="8794699" y="3676802"/>
            <a:ext cx="1104595" cy="171907"/>
          </a:xfrm>
          <a:prstGeom prst="rect">
            <a:avLst/>
          </a:prstGeom>
        </p:spPr>
      </p:pic>
      <p:sp>
        <p:nvSpPr>
          <p:cNvPr id="60" name="Text 51"/>
          <p:cNvSpPr txBox="1"/>
          <p:nvPr/>
        </p:nvSpPr>
        <p:spPr>
          <a:xfrm>
            <a:off x="9225382" y="3905402"/>
            <a:ext cx="33924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2021</a:t>
            </a:r>
            <a:endParaRPr lang="en-US" sz="900" dirty="0"/>
          </a:p>
        </p:txBody>
      </p:sp>
      <p:sp>
        <p:nvSpPr>
          <p:cNvPr id="61" name="Text 52"/>
          <p:cNvSpPr txBox="1"/>
          <p:nvPr/>
        </p:nvSpPr>
        <p:spPr>
          <a:xfrm>
            <a:off x="9008669" y="4088282"/>
            <a:ext cx="78912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AI-Assisted</a:t>
            </a:r>
            <a:endParaRPr lang="en-US" sz="1000" dirty="0"/>
          </a:p>
        </p:txBody>
      </p:sp>
      <p:sp>
        <p:nvSpPr>
          <p:cNvPr id="62" name="Text 53"/>
          <p:cNvSpPr txBox="1"/>
          <p:nvPr/>
        </p:nvSpPr>
        <p:spPr>
          <a:xfrm>
            <a:off x="9186977" y="4291279"/>
            <a:ext cx="404165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Copilot</a:t>
            </a:r>
            <a:endParaRPr lang="en-US" sz="800" dirty="0"/>
          </a:p>
        </p:txBody>
      </p:sp>
      <p:sp>
        <p:nvSpPr>
          <p:cNvPr id="63" name="Text 54"/>
          <p:cNvSpPr txBox="1"/>
          <p:nvPr/>
        </p:nvSpPr>
        <p:spPr>
          <a:xfrm>
            <a:off x="8954719" y="4429354"/>
            <a:ext cx="871423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Smart Completion</a:t>
            </a:r>
            <a:endParaRPr lang="en-US" sz="800" dirty="0"/>
          </a:p>
        </p:txBody>
      </p:sp>
      <p:sp>
        <p:nvSpPr>
          <p:cNvPr id="64" name="Shape 55"/>
          <p:cNvSpPr/>
          <p:nvPr/>
        </p:nvSpPr>
        <p:spPr>
          <a:xfrm>
            <a:off x="8854135" y="4606747"/>
            <a:ext cx="990295" cy="200254"/>
          </a:xfrm>
          <a:prstGeom prst="roundRect">
            <a:avLst>
              <a:gd name="adj" fmla="val 86975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5" name="Text 56"/>
          <p:cNvSpPr txBox="1"/>
          <p:nvPr/>
        </p:nvSpPr>
        <p:spPr>
          <a:xfrm>
            <a:off x="8901684" y="4644238"/>
            <a:ext cx="972007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4ED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Human-AI Collab v1.0</a:t>
            </a:r>
            <a:endParaRPr lang="en-US" sz="800" dirty="0"/>
          </a:p>
        </p:txBody>
      </p:sp>
      <p:sp>
        <p:nvSpPr>
          <p:cNvPr id="66" name="Shape 57"/>
          <p:cNvSpPr/>
          <p:nvPr/>
        </p:nvSpPr>
        <p:spPr>
          <a:xfrm>
            <a:off x="10353751" y="1818742"/>
            <a:ext cx="1238098" cy="1304849"/>
          </a:xfrm>
          <a:prstGeom prst="roundRect">
            <a:avLst>
              <a:gd name="adj" fmla="val 4545"/>
            </a:avLst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67" name="Image 7" descr="preencoded.png"/>
          <p:cNvPicPr>
            <a:picLocks noChangeAspect="1"/>
          </p:cNvPicPr>
          <p:nvPr/>
        </p:nvPicPr>
        <p:blipFill>
          <a:blip r:embed="rId8"/>
          <a:srcRect l="-207022" r="-207022"/>
          <a:stretch>
            <a:fillRect/>
          </a:stretch>
        </p:blipFill>
        <p:spPr>
          <a:xfrm>
            <a:off x="10420502" y="1904695"/>
            <a:ext cx="1104595" cy="171907"/>
          </a:xfrm>
          <a:prstGeom prst="rect">
            <a:avLst/>
          </a:prstGeom>
        </p:spPr>
      </p:pic>
      <p:sp>
        <p:nvSpPr>
          <p:cNvPr id="68" name="Text 58"/>
          <p:cNvSpPr txBox="1"/>
          <p:nvPr/>
        </p:nvSpPr>
        <p:spPr>
          <a:xfrm>
            <a:off x="10851185" y="2133295"/>
            <a:ext cx="33924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2025</a:t>
            </a:r>
            <a:endParaRPr lang="en-US" sz="900" dirty="0"/>
          </a:p>
        </p:txBody>
      </p:sp>
      <p:sp>
        <p:nvSpPr>
          <p:cNvPr id="69" name="Text 59"/>
          <p:cNvSpPr txBox="1"/>
          <p:nvPr/>
        </p:nvSpPr>
        <p:spPr>
          <a:xfrm>
            <a:off x="10683850" y="2316175"/>
            <a:ext cx="68397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AI-Native</a:t>
            </a:r>
            <a:endParaRPr lang="en-US" sz="1000" dirty="0"/>
          </a:p>
        </p:txBody>
      </p:sp>
      <p:sp>
        <p:nvSpPr>
          <p:cNvPr id="70" name="Text 60"/>
          <p:cNvSpPr txBox="1"/>
          <p:nvPr/>
        </p:nvSpPr>
        <p:spPr>
          <a:xfrm>
            <a:off x="10661904" y="2519172"/>
            <a:ext cx="708660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Cursor/Claude</a:t>
            </a:r>
            <a:endParaRPr lang="en-US" sz="800" dirty="0"/>
          </a:p>
        </p:txBody>
      </p:sp>
      <p:sp>
        <p:nvSpPr>
          <p:cNvPr id="71" name="Text 61"/>
          <p:cNvSpPr txBox="1"/>
          <p:nvPr/>
        </p:nvSpPr>
        <p:spPr>
          <a:xfrm>
            <a:off x="10576865" y="2658161"/>
            <a:ext cx="880567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Intent-Driven v2.0</a:t>
            </a:r>
            <a:endParaRPr lang="en-US" sz="800" dirty="0"/>
          </a:p>
        </p:txBody>
      </p:sp>
      <p:sp>
        <p:nvSpPr>
          <p:cNvPr id="72" name="Shape 62"/>
          <p:cNvSpPr/>
          <p:nvPr/>
        </p:nvSpPr>
        <p:spPr>
          <a:xfrm>
            <a:off x="10568635" y="2834640"/>
            <a:ext cx="809244" cy="200254"/>
          </a:xfrm>
          <a:prstGeom prst="roundRect">
            <a:avLst>
              <a:gd name="adj" fmla="val 86975"/>
            </a:avLst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3" name="Text 63"/>
          <p:cNvSpPr txBox="1"/>
          <p:nvPr/>
        </p:nvSpPr>
        <p:spPr>
          <a:xfrm>
            <a:off x="10616184" y="2873045"/>
            <a:ext cx="790956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D28D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Intent Driven v2.0</a:t>
            </a:r>
            <a:endParaRPr lang="en-US" sz="800" dirty="0"/>
          </a:p>
        </p:txBody>
      </p:sp>
      <p:sp>
        <p:nvSpPr>
          <p:cNvPr id="74" name="Shape 64"/>
          <p:cNvSpPr/>
          <p:nvPr/>
        </p:nvSpPr>
        <p:spPr>
          <a:xfrm>
            <a:off x="1208837" y="3114446"/>
            <a:ext cx="19202" cy="237744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75" name="Shape 65"/>
          <p:cNvSpPr/>
          <p:nvPr/>
        </p:nvSpPr>
        <p:spPr>
          <a:xfrm>
            <a:off x="2834640" y="3353105"/>
            <a:ext cx="19202" cy="237744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76" name="Shape 66"/>
          <p:cNvSpPr/>
          <p:nvPr/>
        </p:nvSpPr>
        <p:spPr>
          <a:xfrm>
            <a:off x="4460443" y="3114446"/>
            <a:ext cx="19202" cy="237744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77" name="Shape 67"/>
          <p:cNvSpPr/>
          <p:nvPr/>
        </p:nvSpPr>
        <p:spPr>
          <a:xfrm>
            <a:off x="6086246" y="3353105"/>
            <a:ext cx="19202" cy="237744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78" name="Shape 68"/>
          <p:cNvSpPr/>
          <p:nvPr/>
        </p:nvSpPr>
        <p:spPr>
          <a:xfrm>
            <a:off x="7712050" y="3114446"/>
            <a:ext cx="19202" cy="237744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79" name="Shape 69"/>
          <p:cNvSpPr/>
          <p:nvPr/>
        </p:nvSpPr>
        <p:spPr>
          <a:xfrm>
            <a:off x="9337853" y="3353105"/>
            <a:ext cx="19202" cy="237744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80" name="Shape 70"/>
          <p:cNvSpPr/>
          <p:nvPr/>
        </p:nvSpPr>
        <p:spPr>
          <a:xfrm>
            <a:off x="10963656" y="3114446"/>
            <a:ext cx="19202" cy="237744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81" name="Shape 71"/>
          <p:cNvSpPr/>
          <p:nvPr/>
        </p:nvSpPr>
        <p:spPr>
          <a:xfrm>
            <a:off x="1142086" y="3276295"/>
            <a:ext cx="152705" cy="1527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BD5E1"/>
            </a:solidFill>
            <a:prstDash val="solid"/>
          </a:ln>
        </p:spPr>
      </p:sp>
      <p:sp>
        <p:nvSpPr>
          <p:cNvPr id="82" name="Shape 72"/>
          <p:cNvSpPr/>
          <p:nvPr/>
        </p:nvSpPr>
        <p:spPr>
          <a:xfrm>
            <a:off x="2767889" y="3276295"/>
            <a:ext cx="152705" cy="1527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BD5E1"/>
            </a:solidFill>
            <a:prstDash val="solid"/>
          </a:ln>
        </p:spPr>
      </p:sp>
      <p:sp>
        <p:nvSpPr>
          <p:cNvPr id="83" name="Shape 73"/>
          <p:cNvSpPr/>
          <p:nvPr/>
        </p:nvSpPr>
        <p:spPr>
          <a:xfrm>
            <a:off x="4393692" y="3276295"/>
            <a:ext cx="152705" cy="152705"/>
          </a:xfrm>
          <a:prstGeom prst="ellipse">
            <a:avLst/>
          </a:prstGeom>
          <a:solidFill>
            <a:srgbClr val="3B82F6"/>
          </a:solidFill>
          <a:ln w="50800">
            <a:solidFill>
              <a:srgbClr val="3B82F6"/>
            </a:solidFill>
            <a:prstDash val="solid"/>
          </a:ln>
          <a:effectLst>
            <a:outerShdw blurRad="12700" dist="12700" dir="16200000" algn="bl" rotWithShape="0">
              <a:srgbClr val="3B82F6">
                <a:alpha val="15000"/>
              </a:srgbClr>
            </a:outerShdw>
          </a:effectLst>
        </p:spPr>
      </p:sp>
      <p:sp>
        <p:nvSpPr>
          <p:cNvPr id="84" name="Shape 74"/>
          <p:cNvSpPr/>
          <p:nvPr/>
        </p:nvSpPr>
        <p:spPr>
          <a:xfrm>
            <a:off x="6019495" y="3276295"/>
            <a:ext cx="152705" cy="152705"/>
          </a:xfrm>
          <a:prstGeom prst="ellipse">
            <a:avLst/>
          </a:prstGeom>
          <a:solidFill>
            <a:srgbClr val="3B82F6"/>
          </a:solidFill>
          <a:ln w="50800">
            <a:solidFill>
              <a:srgbClr val="3B82F6"/>
            </a:solidFill>
            <a:prstDash val="solid"/>
          </a:ln>
          <a:effectLst>
            <a:outerShdw blurRad="12700" dist="12700" dir="16200000" algn="bl" rotWithShape="0">
              <a:srgbClr val="3B82F6">
                <a:alpha val="15000"/>
              </a:srgbClr>
            </a:outerShdw>
          </a:effectLst>
        </p:spPr>
      </p:sp>
      <p:sp>
        <p:nvSpPr>
          <p:cNvPr id="85" name="Shape 75"/>
          <p:cNvSpPr/>
          <p:nvPr/>
        </p:nvSpPr>
        <p:spPr>
          <a:xfrm>
            <a:off x="7645298" y="3276295"/>
            <a:ext cx="152705" cy="152705"/>
          </a:xfrm>
          <a:prstGeom prst="ellipse">
            <a:avLst/>
          </a:prstGeom>
          <a:solidFill>
            <a:srgbClr val="3B82F6"/>
          </a:solidFill>
          <a:ln w="50800">
            <a:solidFill>
              <a:srgbClr val="3B82F6"/>
            </a:solidFill>
            <a:prstDash val="solid"/>
          </a:ln>
          <a:effectLst>
            <a:outerShdw blurRad="12700" dist="12700" dir="16200000" algn="bl" rotWithShape="0">
              <a:srgbClr val="3B82F6">
                <a:alpha val="15000"/>
              </a:srgbClr>
            </a:outerShdw>
          </a:effectLst>
        </p:spPr>
      </p:sp>
      <p:sp>
        <p:nvSpPr>
          <p:cNvPr id="86" name="Shape 76"/>
          <p:cNvSpPr/>
          <p:nvPr/>
        </p:nvSpPr>
        <p:spPr>
          <a:xfrm>
            <a:off x="9271102" y="3276295"/>
            <a:ext cx="152705" cy="152705"/>
          </a:xfrm>
          <a:prstGeom prst="ellipse">
            <a:avLst/>
          </a:prstGeom>
          <a:solidFill>
            <a:srgbClr val="3B82F6"/>
          </a:solidFill>
          <a:ln w="50800">
            <a:solidFill>
              <a:srgbClr val="3B82F6"/>
            </a:solidFill>
            <a:prstDash val="solid"/>
          </a:ln>
          <a:effectLst>
            <a:outerShdw blurRad="12700" dist="12700" dir="16200000" algn="bl" rotWithShape="0">
              <a:srgbClr val="3B82F6">
                <a:alpha val="15000"/>
              </a:srgbClr>
            </a:outerShdw>
          </a:effectLst>
        </p:spPr>
      </p:sp>
      <p:sp>
        <p:nvSpPr>
          <p:cNvPr id="87" name="Shape 77"/>
          <p:cNvSpPr/>
          <p:nvPr/>
        </p:nvSpPr>
        <p:spPr>
          <a:xfrm>
            <a:off x="10896905" y="3276295"/>
            <a:ext cx="152705" cy="152705"/>
          </a:xfrm>
          <a:prstGeom prst="ellipse">
            <a:avLst/>
          </a:prstGeom>
          <a:solidFill>
            <a:srgbClr val="8B5CF6"/>
          </a:solidFill>
          <a:ln w="50800">
            <a:solidFill>
              <a:srgbClr val="8B5CF6"/>
            </a:solidFill>
            <a:prstDash val="solid"/>
          </a:ln>
          <a:effectLst>
            <a:outerShdw blurRad="12700" dist="12700" dir="16200000" algn="bl" rotWithShape="0">
              <a:srgbClr val="8B5CF6">
                <a:alpha val="15000"/>
              </a:srgbClr>
            </a:outerShdw>
          </a:effectLst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4835347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1.1 Programming Paradigm Revolution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541264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5855818" y="295351"/>
            <a:ext cx="31720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From 'Writing Code' to 'Describing Requirements'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905" y="914400"/>
            <a:ext cx="10972800" cy="1200607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9" name="Shape 7"/>
          <p:cNvSpPr/>
          <p:nvPr/>
        </p:nvSpPr>
        <p:spPr>
          <a:xfrm>
            <a:off x="609905" y="914400"/>
            <a:ext cx="38405" cy="1200607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0" name="Text 8"/>
          <p:cNvSpPr txBox="1"/>
          <p:nvPr/>
        </p:nvSpPr>
        <p:spPr>
          <a:xfrm>
            <a:off x="875995" y="1074420"/>
            <a:ext cx="89062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 Shift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75995" y="1417320"/>
            <a:ext cx="89062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Traditional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708099" y="1436522"/>
            <a:ext cx="17647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=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859890" y="1417320"/>
            <a:ext cx="633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Human</a:t>
            </a:r>
            <a:endParaRPr lang="en-US" sz="13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rcRect l="-760" r="-760"/>
          <a:stretch>
            <a:fillRect/>
          </a:stretch>
        </p:blipFill>
        <p:spPr>
          <a:xfrm>
            <a:off x="2440534" y="1426464"/>
            <a:ext cx="152705" cy="17190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2745943" y="1436522"/>
            <a:ext cx="138623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Machine Language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75995" y="1760220"/>
            <a:ext cx="139628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4ED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Programming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211019" y="1779422"/>
            <a:ext cx="17647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3C5FD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=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363724" y="1760220"/>
            <a:ext cx="6912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4ED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Human</a:t>
            </a:r>
            <a:endParaRPr lang="en-US" sz="13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1"/>
          <a:srcRect l="-760" r="-760"/>
          <a:stretch>
            <a:fillRect/>
          </a:stretch>
        </p:blipFill>
        <p:spPr>
          <a:xfrm>
            <a:off x="2992831" y="1769364"/>
            <a:ext cx="152705" cy="171907"/>
          </a:xfrm>
          <a:prstGeom prst="rect">
            <a:avLst/>
          </a:prstGeom>
        </p:spPr>
      </p:pic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2"/>
          <a:srcRect l="-1064" r="-1064"/>
          <a:stretch>
            <a:fillRect/>
          </a:stretch>
        </p:blipFill>
        <p:spPr>
          <a:xfrm>
            <a:off x="3221431" y="1762963"/>
            <a:ext cx="219456" cy="17190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478378" y="1760220"/>
            <a:ext cx="3291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</a:t>
            </a:r>
            <a:endParaRPr lang="en-US" sz="13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1"/>
          <a:srcRect l="-760" r="-760"/>
          <a:stretch>
            <a:fillRect/>
          </a:stretch>
        </p:blipFill>
        <p:spPr>
          <a:xfrm>
            <a:off x="3745382" y="1769364"/>
            <a:ext cx="152705" cy="171907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3973982" y="1721815"/>
            <a:ext cx="1600200" cy="267005"/>
          </a:xfrm>
          <a:prstGeom prst="roundRect">
            <a:avLst>
              <a:gd name="adj" fmla="val 48924"/>
            </a:avLst>
          </a:prstGeom>
          <a:solidFill>
            <a:srgbClr val="DBEAFE"/>
          </a:solidFill>
        </p:spPr>
      </p:sp>
      <p:sp>
        <p:nvSpPr>
          <p:cNvPr id="24" name="Text 18"/>
          <p:cNvSpPr txBox="1"/>
          <p:nvPr/>
        </p:nvSpPr>
        <p:spPr>
          <a:xfrm>
            <a:off x="4049878" y="1779422"/>
            <a:ext cx="1548079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Collaborative Code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187330" y="1322222"/>
            <a:ext cx="127193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From "Syntax Recall"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9992563" y="1550822"/>
            <a:ext cx="146212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To "Prompt Engineering"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09905" y="2232965"/>
            <a:ext cx="38405" cy="267005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28" name="Text 22"/>
          <p:cNvSpPr txBox="1"/>
          <p:nvPr/>
        </p:nvSpPr>
        <p:spPr>
          <a:xfrm>
            <a:off x="724205" y="2270455"/>
            <a:ext cx="220553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Key Dimension Comparison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609905" y="2918765"/>
            <a:ext cx="1647749" cy="19202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30" name="Text 24"/>
          <p:cNvSpPr txBox="1"/>
          <p:nvPr/>
        </p:nvSpPr>
        <p:spPr>
          <a:xfrm>
            <a:off x="724205" y="2664562"/>
            <a:ext cx="8101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2255825" y="2918765"/>
            <a:ext cx="3847795" cy="19202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32" name="Text 26"/>
          <p:cNvSpPr txBox="1"/>
          <p:nvPr/>
        </p:nvSpPr>
        <p:spPr>
          <a:xfrm>
            <a:off x="2370125" y="2664562"/>
            <a:ext cx="18004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Traditional Programming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6096305" y="2918765"/>
            <a:ext cx="3847795" cy="19202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34" name="Text 28"/>
          <p:cNvSpPr txBox="1"/>
          <p:nvPr/>
        </p:nvSpPr>
        <p:spPr>
          <a:xfrm>
            <a:off x="6210605" y="2664562"/>
            <a:ext cx="12390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Programming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9935870" y="2918765"/>
            <a:ext cx="1647749" cy="19202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36" name="Text 30"/>
          <p:cNvSpPr txBox="1"/>
          <p:nvPr/>
        </p:nvSpPr>
        <p:spPr>
          <a:xfrm>
            <a:off x="10050170" y="2664562"/>
            <a:ext cx="12765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Nature of Change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609905" y="3240634"/>
            <a:ext cx="1647749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2"/>
          <p:cNvSpPr txBox="1"/>
          <p:nvPr/>
        </p:nvSpPr>
        <p:spPr>
          <a:xfrm>
            <a:off x="724205" y="3007462"/>
            <a:ext cx="79461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 Skills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2255825" y="3240634"/>
            <a:ext cx="38477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4"/>
          <p:cNvSpPr txBox="1"/>
          <p:nvPr/>
        </p:nvSpPr>
        <p:spPr>
          <a:xfrm>
            <a:off x="2370125" y="3007462"/>
            <a:ext cx="160477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Syntax recall, API lookup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6096305" y="3240634"/>
            <a:ext cx="38477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36"/>
          <p:cNvSpPr txBox="1"/>
          <p:nvPr/>
        </p:nvSpPr>
        <p:spPr>
          <a:xfrm>
            <a:off x="6210605" y="3007462"/>
            <a:ext cx="271851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Requirement description, Logic validation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9935870" y="3240634"/>
            <a:ext cx="1647749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38"/>
          <p:cNvSpPr txBox="1"/>
          <p:nvPr/>
        </p:nvSpPr>
        <p:spPr>
          <a:xfrm>
            <a:off x="10050170" y="3007462"/>
            <a:ext cx="147127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Memory → Expression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609905" y="3539642"/>
            <a:ext cx="1647749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0"/>
          <p:cNvSpPr txBox="1"/>
          <p:nvPr/>
        </p:nvSpPr>
        <p:spPr>
          <a:xfrm>
            <a:off x="724205" y="3311957"/>
            <a:ext cx="110916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Learning Curve</a:t>
            </a:r>
            <a:endParaRPr 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2255825" y="3539642"/>
            <a:ext cx="38477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2"/>
          <p:cNvSpPr txBox="1"/>
          <p:nvPr/>
        </p:nvSpPr>
        <p:spPr>
          <a:xfrm>
            <a:off x="2370125" y="3311957"/>
            <a:ext cx="128107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Steep Months-Years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6096305" y="3539642"/>
            <a:ext cx="38477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4"/>
          <p:cNvSpPr txBox="1"/>
          <p:nvPr/>
        </p:nvSpPr>
        <p:spPr>
          <a:xfrm>
            <a:off x="6210605" y="3311957"/>
            <a:ext cx="126187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Gentle Days-Weeks</a:t>
            </a:r>
            <a:endParaRPr lang="en-US" sz="1100" dirty="0"/>
          </a:p>
        </p:txBody>
      </p:sp>
      <p:sp>
        <p:nvSpPr>
          <p:cNvPr id="51" name="Shape 45"/>
          <p:cNvSpPr/>
          <p:nvPr/>
        </p:nvSpPr>
        <p:spPr>
          <a:xfrm>
            <a:off x="9935870" y="3539642"/>
            <a:ext cx="1647749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46"/>
          <p:cNvSpPr txBox="1"/>
          <p:nvPr/>
        </p:nvSpPr>
        <p:spPr>
          <a:xfrm>
            <a:off x="10050170" y="3311957"/>
            <a:ext cx="93817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Lower Barrier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609905" y="3844138"/>
            <a:ext cx="1647749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48"/>
          <p:cNvSpPr txBox="1"/>
          <p:nvPr/>
        </p:nvSpPr>
        <p:spPr>
          <a:xfrm>
            <a:off x="724205" y="3616452"/>
            <a:ext cx="75712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Dev Speed</a:t>
            </a:r>
            <a:endParaRPr lang="en-US" sz="1100" dirty="0"/>
          </a:p>
        </p:txBody>
      </p:sp>
      <p:sp>
        <p:nvSpPr>
          <p:cNvPr id="55" name="Shape 49"/>
          <p:cNvSpPr/>
          <p:nvPr/>
        </p:nvSpPr>
        <p:spPr>
          <a:xfrm>
            <a:off x="2255825" y="3844138"/>
            <a:ext cx="38477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0"/>
          <p:cNvSpPr txBox="1"/>
          <p:nvPr/>
        </p:nvSpPr>
        <p:spPr>
          <a:xfrm>
            <a:off x="2370125" y="3616452"/>
            <a:ext cx="230886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Slow (Manual write + Manual debug)</a:t>
            </a:r>
            <a:endParaRPr lang="en-US" sz="1100" dirty="0"/>
          </a:p>
        </p:txBody>
      </p:sp>
      <p:sp>
        <p:nvSpPr>
          <p:cNvPr id="57" name="Shape 51"/>
          <p:cNvSpPr/>
          <p:nvPr/>
        </p:nvSpPr>
        <p:spPr>
          <a:xfrm>
            <a:off x="6096305" y="3844138"/>
            <a:ext cx="38477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2"/>
          <p:cNvSpPr txBox="1"/>
          <p:nvPr/>
        </p:nvSpPr>
        <p:spPr>
          <a:xfrm>
            <a:off x="6210605" y="3616452"/>
            <a:ext cx="222382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Fast (Instant generation + Iterate)</a:t>
            </a:r>
            <a:endParaRPr lang="en-US" sz="1100" dirty="0"/>
          </a:p>
        </p:txBody>
      </p:sp>
      <p:sp>
        <p:nvSpPr>
          <p:cNvPr id="59" name="Shape 53"/>
          <p:cNvSpPr/>
          <p:nvPr/>
        </p:nvSpPr>
        <p:spPr>
          <a:xfrm>
            <a:off x="9935870" y="3844138"/>
            <a:ext cx="1647749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4"/>
          <p:cNvSpPr txBox="1"/>
          <p:nvPr/>
        </p:nvSpPr>
        <p:spPr>
          <a:xfrm>
            <a:off x="10050170" y="3616452"/>
            <a:ext cx="104241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Efficiency Leap</a:t>
            </a:r>
            <a:endParaRPr lang="en-US" sz="1100" dirty="0"/>
          </a:p>
        </p:txBody>
      </p:sp>
      <p:sp>
        <p:nvSpPr>
          <p:cNvPr id="61" name="Text 55"/>
          <p:cNvSpPr txBox="1"/>
          <p:nvPr/>
        </p:nvSpPr>
        <p:spPr>
          <a:xfrm>
            <a:off x="724205" y="3920947"/>
            <a:ext cx="47091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Scope</a:t>
            </a:r>
            <a:endParaRPr lang="en-US" sz="1100" dirty="0"/>
          </a:p>
        </p:txBody>
      </p:sp>
      <p:sp>
        <p:nvSpPr>
          <p:cNvPr id="62" name="Text 56"/>
          <p:cNvSpPr txBox="1"/>
          <p:nvPr/>
        </p:nvSpPr>
        <p:spPr>
          <a:xfrm>
            <a:off x="2370125" y="3920947"/>
            <a:ext cx="228051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All scenarios (incl. low-level drivers)</a:t>
            </a:r>
            <a:endParaRPr lang="en-US" sz="1100" dirty="0"/>
          </a:p>
        </p:txBody>
      </p:sp>
      <p:sp>
        <p:nvSpPr>
          <p:cNvPr id="63" name="Text 57"/>
          <p:cNvSpPr txBox="1"/>
          <p:nvPr/>
        </p:nvSpPr>
        <p:spPr>
          <a:xfrm>
            <a:off x="6210605" y="3920947"/>
            <a:ext cx="171907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80% Routine research tasks</a:t>
            </a:r>
            <a:endParaRPr lang="en-US" sz="1100" dirty="0"/>
          </a:p>
        </p:txBody>
      </p:sp>
      <p:sp>
        <p:nvSpPr>
          <p:cNvPr id="64" name="Text 58"/>
          <p:cNvSpPr txBox="1"/>
          <p:nvPr/>
        </p:nvSpPr>
        <p:spPr>
          <a:xfrm>
            <a:off x="10050170" y="3920947"/>
            <a:ext cx="104241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Pareto Principle</a:t>
            </a:r>
            <a:endParaRPr lang="en-US" sz="1100" dirty="0"/>
          </a:p>
        </p:txBody>
      </p:sp>
      <p:sp>
        <p:nvSpPr>
          <p:cNvPr id="65" name="Shape 59"/>
          <p:cNvSpPr/>
          <p:nvPr/>
        </p:nvSpPr>
        <p:spPr>
          <a:xfrm>
            <a:off x="609905" y="4667098"/>
            <a:ext cx="5372100" cy="1390802"/>
          </a:xfrm>
          <a:prstGeom prst="roundRect">
            <a:avLst>
              <a:gd name="adj" fmla="val 1801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66" name="Image 4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33349" y="4819802"/>
            <a:ext cx="133502" cy="133502"/>
          </a:xfrm>
          <a:prstGeom prst="rect">
            <a:avLst/>
          </a:prstGeom>
        </p:spPr>
      </p:pic>
      <p:sp>
        <p:nvSpPr>
          <p:cNvPr id="67" name="Text 60"/>
          <p:cNvSpPr txBox="1"/>
          <p:nvPr/>
        </p:nvSpPr>
        <p:spPr>
          <a:xfrm>
            <a:off x="942746" y="4791456"/>
            <a:ext cx="83393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F4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Strengths</a:t>
            </a:r>
            <a:endParaRPr lang="en-US" sz="1000" dirty="0"/>
          </a:p>
        </p:txBody>
      </p:sp>
      <p:sp>
        <p:nvSpPr>
          <p:cNvPr id="68" name="Text 61"/>
          <p:cNvSpPr txBox="1"/>
          <p:nvPr/>
        </p:nvSpPr>
        <p:spPr>
          <a:xfrm>
            <a:off x="961949" y="5076749"/>
            <a:ext cx="25200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Standard algorithms (Sorting, Stats, GIS ops)</a:t>
            </a:r>
            <a:endParaRPr lang="en-US" sz="1000" dirty="0"/>
          </a:p>
        </p:txBody>
      </p:sp>
      <p:sp>
        <p:nvSpPr>
          <p:cNvPr id="69" name="Text 62"/>
          <p:cNvSpPr txBox="1"/>
          <p:nvPr/>
        </p:nvSpPr>
        <p:spPr>
          <a:xfrm>
            <a:off x="961949" y="5305349"/>
            <a:ext cx="176753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Code translation (Python ↔ R)</a:t>
            </a:r>
            <a:endParaRPr lang="en-US" sz="1000" dirty="0"/>
          </a:p>
        </p:txBody>
      </p:sp>
      <p:sp>
        <p:nvSpPr>
          <p:cNvPr id="70" name="Text 63"/>
          <p:cNvSpPr txBox="1"/>
          <p:nvPr/>
        </p:nvSpPr>
        <p:spPr>
          <a:xfrm>
            <a:off x="961949" y="5533949"/>
            <a:ext cx="28154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Error diagnosis &amp; Fix suggestions (Explain &amp; Fix)</a:t>
            </a:r>
            <a:endParaRPr lang="en-US" sz="1000" dirty="0"/>
          </a:p>
        </p:txBody>
      </p:sp>
      <p:sp>
        <p:nvSpPr>
          <p:cNvPr id="71" name="Text 64"/>
          <p:cNvSpPr txBox="1"/>
          <p:nvPr/>
        </p:nvSpPr>
        <p:spPr>
          <a:xfrm>
            <a:off x="961949" y="5762549"/>
            <a:ext cx="22439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Automated documentation &amp; comments</a:t>
            </a:r>
            <a:endParaRPr lang="en-US" sz="1000" dirty="0"/>
          </a:p>
        </p:txBody>
      </p:sp>
      <p:sp>
        <p:nvSpPr>
          <p:cNvPr id="72" name="Shape 65"/>
          <p:cNvSpPr/>
          <p:nvPr/>
        </p:nvSpPr>
        <p:spPr>
          <a:xfrm>
            <a:off x="6210605" y="4667098"/>
            <a:ext cx="5372100" cy="1390802"/>
          </a:xfrm>
          <a:prstGeom prst="roundRect">
            <a:avLst>
              <a:gd name="adj" fmla="val 1801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73" name="Image 5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334049" y="4819802"/>
            <a:ext cx="133502" cy="133502"/>
          </a:xfrm>
          <a:prstGeom prst="rect">
            <a:avLst/>
          </a:prstGeom>
        </p:spPr>
      </p:pic>
      <p:sp>
        <p:nvSpPr>
          <p:cNvPr id="74" name="Text 66"/>
          <p:cNvSpPr txBox="1"/>
          <p:nvPr/>
        </p:nvSpPr>
        <p:spPr>
          <a:xfrm>
            <a:off x="6543446" y="4791456"/>
            <a:ext cx="94823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91B1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Limitations</a:t>
            </a:r>
            <a:endParaRPr lang="en-US" sz="1000" dirty="0"/>
          </a:p>
        </p:txBody>
      </p:sp>
      <p:sp>
        <p:nvSpPr>
          <p:cNvPr id="75" name="Text 67"/>
          <p:cNvSpPr txBox="1"/>
          <p:nvPr/>
        </p:nvSpPr>
        <p:spPr>
          <a:xfrm>
            <a:off x="6562649" y="5076749"/>
            <a:ext cx="268193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Complex domain logic (Needs deep knowledge)</a:t>
            </a:r>
            <a:endParaRPr lang="en-US" sz="1000" dirty="0"/>
          </a:p>
        </p:txBody>
      </p:sp>
      <p:sp>
        <p:nvSpPr>
          <p:cNvPr id="76" name="Text 68"/>
          <p:cNvSpPr txBox="1"/>
          <p:nvPr/>
        </p:nvSpPr>
        <p:spPr>
          <a:xfrm>
            <a:off x="6562649" y="5305349"/>
            <a:ext cx="250088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Novel algorithm design (Non-standard/New)</a:t>
            </a:r>
            <a:endParaRPr lang="en-US" sz="1000" dirty="0"/>
          </a:p>
        </p:txBody>
      </p:sp>
      <p:sp>
        <p:nvSpPr>
          <p:cNvPr id="77" name="Text 69"/>
          <p:cNvSpPr txBox="1"/>
          <p:nvPr/>
        </p:nvSpPr>
        <p:spPr>
          <a:xfrm>
            <a:off x="6562649" y="5533949"/>
            <a:ext cx="199613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System-level architecture decisions</a:t>
            </a:r>
            <a:endParaRPr lang="en-US" sz="1000" dirty="0"/>
          </a:p>
        </p:txBody>
      </p:sp>
      <p:sp>
        <p:nvSpPr>
          <p:cNvPr id="78" name="Text 70"/>
          <p:cNvSpPr txBox="1"/>
          <p:nvPr/>
        </p:nvSpPr>
        <p:spPr>
          <a:xfrm>
            <a:off x="6562649" y="5762549"/>
            <a:ext cx="291053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Extreme performance optimization (Hardware level)</a:t>
            </a:r>
            <a:endParaRPr lang="en-US" sz="1000" dirty="0"/>
          </a:p>
        </p:txBody>
      </p:sp>
      <p:sp>
        <p:nvSpPr>
          <p:cNvPr id="79" name="Shape 71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0" name="Shape 72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1" name="Text 73"/>
          <p:cNvSpPr txBox="1"/>
          <p:nvPr/>
        </p:nvSpPr>
        <p:spPr>
          <a:xfrm>
            <a:off x="11551615" y="6429146"/>
            <a:ext cx="32827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2083003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1.2 Vibe Coding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81605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3096158" y="295351"/>
            <a:ext cx="20199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Definition, Strengths &amp; Pitfalls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905" y="990295"/>
            <a:ext cx="4457700" cy="981151"/>
          </a:xfrm>
          <a:prstGeom prst="rect">
            <a:avLst/>
          </a:prstGeom>
          <a:solidFill>
            <a:srgbClr val="F0F9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9905" y="990295"/>
            <a:ext cx="47549" cy="981151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10" name="Text 8"/>
          <p:cNvSpPr txBox="1"/>
          <p:nvPr/>
        </p:nvSpPr>
        <p:spPr>
          <a:xfrm>
            <a:off x="809244" y="1181405"/>
            <a:ext cx="104333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40A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Vibe Coding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9244" y="1466698"/>
            <a:ext cx="4205326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Natural language conversation-driven, exploratory, intuition-based programming method characterized by rapid trial-and-error iteration.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9905" y="2462479"/>
            <a:ext cx="4457700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3" name="Text 11"/>
          <p:cNvSpPr txBox="1"/>
          <p:nvPr/>
        </p:nvSpPr>
        <p:spPr>
          <a:xfrm>
            <a:off x="609905" y="2223821"/>
            <a:ext cx="1467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Three Core Features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9905" y="2566721"/>
            <a:ext cx="4457700" cy="609905"/>
          </a:xfrm>
          <a:prstGeom prst="roundRect">
            <a:avLst>
              <a:gd name="adj" fmla="val 18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1754" y="2700223"/>
            <a:ext cx="342900" cy="342900"/>
          </a:xfrm>
          <a:prstGeom prst="ellipse">
            <a:avLst/>
          </a:prstGeom>
          <a:solidFill>
            <a:srgbClr val="D1FAE5"/>
          </a:solidFill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rcRect l="-33" r="-33"/>
          <a:stretch>
            <a:fillRect/>
          </a:stretch>
        </p:blipFill>
        <p:spPr>
          <a:xfrm>
            <a:off x="857707" y="2795321"/>
            <a:ext cx="171907" cy="15270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266444" y="2710282"/>
            <a:ext cx="82478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Low Barrier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266444" y="2909621"/>
            <a:ext cx="25530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No complex syntax required, natural language is code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09905" y="3271723"/>
            <a:ext cx="4457700" cy="609905"/>
          </a:xfrm>
          <a:prstGeom prst="roundRect">
            <a:avLst>
              <a:gd name="adj" fmla="val 18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71754" y="3405226"/>
            <a:ext cx="342900" cy="342900"/>
          </a:xfrm>
          <a:prstGeom prst="ellipse">
            <a:avLst/>
          </a:prstGeom>
          <a:solidFill>
            <a:srgbClr val="DBEAFE"/>
          </a:solidFill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rcRect t="-43" b="-43"/>
          <a:stretch>
            <a:fillRect/>
          </a:stretch>
        </p:blipFill>
        <p:spPr>
          <a:xfrm>
            <a:off x="875995" y="3500323"/>
            <a:ext cx="133502" cy="152705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266444" y="3414370"/>
            <a:ext cx="7580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High Speed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1266444" y="3614623"/>
            <a:ext cx="19339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Idea to code in minutes, rapid validation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09905" y="3976726"/>
            <a:ext cx="4457700" cy="609905"/>
          </a:xfrm>
          <a:prstGeom prst="roundRect">
            <a:avLst>
              <a:gd name="adj" fmla="val 18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71754" y="4110228"/>
            <a:ext cx="342900" cy="342900"/>
          </a:xfrm>
          <a:prstGeom prst="ellipse">
            <a:avLst/>
          </a:prstGeom>
          <a:solidFill>
            <a:srgbClr val="EDE9FE"/>
          </a:solidFill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66851" y="4205326"/>
            <a:ext cx="152705" cy="152705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266444" y="4119372"/>
            <a:ext cx="120517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Strong Exploration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1266444" y="4319626"/>
            <a:ext cx="21241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Discover unknown possibilities via dialogue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5438851" y="990295"/>
            <a:ext cx="3019349" cy="1362456"/>
          </a:xfrm>
          <a:prstGeom prst="roundRect">
            <a:avLst>
              <a:gd name="adj" fmla="val 3755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563210" y="1343254"/>
            <a:ext cx="2771546" cy="9144"/>
          </a:xfrm>
          <a:prstGeom prst="rect">
            <a:avLst/>
          </a:prstGeom>
          <a:solidFill>
            <a:srgbClr val="A7F3D0"/>
          </a:solidFill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563210" y="1131113"/>
            <a:ext cx="133502" cy="13350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5772607" y="1133856"/>
            <a:ext cx="94823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F4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Recommended</a:t>
            </a:r>
            <a:endParaRPr lang="en-US" sz="10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rcRect l="-20688" r="-20688"/>
          <a:stretch>
            <a:fillRect/>
          </a:stretch>
        </p:blipFill>
        <p:spPr>
          <a:xfrm>
            <a:off x="5563210" y="1446581"/>
            <a:ext cx="152705" cy="12344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5715000" y="1429207"/>
            <a:ext cx="8668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Code &lt; 200 lines</a:t>
            </a:r>
            <a:endParaRPr lang="en-US" sz="9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5"/>
          <a:srcRect l="-20688" r="-20688"/>
          <a:stretch>
            <a:fillRect/>
          </a:stretch>
        </p:blipFill>
        <p:spPr>
          <a:xfrm>
            <a:off x="5563210" y="1645006"/>
            <a:ext cx="152705" cy="1234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5715000" y="1626718"/>
            <a:ext cx="7818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One-off scripts</a:t>
            </a:r>
            <a:endParaRPr lang="en-US" sz="90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5"/>
          <a:srcRect l="-20688" r="-20688"/>
          <a:stretch>
            <a:fillRect/>
          </a:stretch>
        </p:blipFill>
        <p:spPr>
          <a:xfrm>
            <a:off x="5563210" y="1842516"/>
            <a:ext cx="152705" cy="123444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5715000" y="1825142"/>
            <a:ext cx="8769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Rapid prototypes</a:t>
            </a:r>
            <a:endParaRPr lang="en-US" sz="9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5"/>
          <a:srcRect l="-20688" r="-20688"/>
          <a:stretch>
            <a:fillRect/>
          </a:stretch>
        </p:blipFill>
        <p:spPr>
          <a:xfrm>
            <a:off x="5563210" y="2040941"/>
            <a:ext cx="152705" cy="12344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5715000" y="2022653"/>
            <a:ext cx="10287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Learning new stacks</a:t>
            </a:r>
            <a:endParaRPr lang="en-US" sz="900" dirty="0"/>
          </a:p>
        </p:txBody>
      </p:sp>
      <p:sp>
        <p:nvSpPr>
          <p:cNvPr id="41" name="Shape 31"/>
          <p:cNvSpPr/>
          <p:nvPr/>
        </p:nvSpPr>
        <p:spPr>
          <a:xfrm>
            <a:off x="8567928" y="990295"/>
            <a:ext cx="3019349" cy="1362456"/>
          </a:xfrm>
          <a:prstGeom prst="roundRect">
            <a:avLst>
              <a:gd name="adj" fmla="val 3755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8691372" y="1343254"/>
            <a:ext cx="2771546" cy="9144"/>
          </a:xfrm>
          <a:prstGeom prst="rect">
            <a:avLst/>
          </a:prstGeom>
          <a:solidFill>
            <a:srgbClr val="E5E7EB"/>
          </a:solidFill>
        </p:spPr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91372" y="1131113"/>
            <a:ext cx="133502" cy="133502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8900770" y="1133856"/>
            <a:ext cx="43342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Avoid</a:t>
            </a:r>
            <a:endParaRPr lang="en-US" sz="1000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7"/>
          <a:srcRect l="-32469" r="-32469"/>
          <a:stretch>
            <a:fillRect/>
          </a:stretch>
        </p:blipFill>
        <p:spPr>
          <a:xfrm>
            <a:off x="8691372" y="1446581"/>
            <a:ext cx="152705" cy="123444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8844077" y="1429207"/>
            <a:ext cx="8668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Code &gt; 500 lines</a:t>
            </a:r>
            <a:endParaRPr lang="en-US" sz="900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7"/>
          <a:srcRect l="-32469" r="-32469"/>
          <a:stretch>
            <a:fillRect/>
          </a:stretch>
        </p:blipFill>
        <p:spPr>
          <a:xfrm>
            <a:off x="8691372" y="1645006"/>
            <a:ext cx="152705" cy="123444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8844077" y="1626718"/>
            <a:ext cx="11814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Long-term maintenance</a:t>
            </a:r>
            <a:endParaRPr lang="en-US" sz="900" dirty="0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7"/>
          <a:srcRect l="-32469" r="-32469"/>
          <a:stretch>
            <a:fillRect/>
          </a:stretch>
        </p:blipFill>
        <p:spPr>
          <a:xfrm>
            <a:off x="8691372" y="1842516"/>
            <a:ext cx="152705" cy="123444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8844077" y="1825142"/>
            <a:ext cx="7342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Team projects</a:t>
            </a:r>
            <a:endParaRPr lang="en-US" sz="900" dirty="0"/>
          </a:p>
        </p:txBody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7"/>
          <a:srcRect l="-32469" r="-32469"/>
          <a:stretch>
            <a:fillRect/>
          </a:stretch>
        </p:blipFill>
        <p:spPr>
          <a:xfrm>
            <a:off x="8691372" y="2040941"/>
            <a:ext cx="152705" cy="123444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8844077" y="2022653"/>
            <a:ext cx="8293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 algorithms</a:t>
            </a:r>
            <a:endParaRPr lang="en-US" sz="900" dirty="0"/>
          </a:p>
        </p:txBody>
      </p:sp>
      <p:pic>
        <p:nvPicPr>
          <p:cNvPr id="53" name="Image 13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5438851" y="2571293"/>
            <a:ext cx="133502" cy="133502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5648249" y="2542946"/>
            <a:ext cx="113842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91C1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Three Fatal Flaws</a:t>
            </a:r>
            <a:endParaRPr lang="en-US" sz="1000" dirty="0"/>
          </a:p>
        </p:txBody>
      </p:sp>
      <p:sp>
        <p:nvSpPr>
          <p:cNvPr id="55" name="Shape 39"/>
          <p:cNvSpPr/>
          <p:nvPr/>
        </p:nvSpPr>
        <p:spPr>
          <a:xfrm>
            <a:off x="5438851" y="2809951"/>
            <a:ext cx="6143854" cy="599846"/>
          </a:xfrm>
          <a:prstGeom prst="roundRect">
            <a:avLst>
              <a:gd name="adj" fmla="val 19357"/>
            </a:avLst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9"/>
          <a:srcRect l="-1911" r="-1911"/>
          <a:stretch>
            <a:fillRect/>
          </a:stretch>
        </p:blipFill>
        <p:spPr>
          <a:xfrm>
            <a:off x="5570525" y="2956255"/>
            <a:ext cx="133502" cy="114300"/>
          </a:xfrm>
          <a:prstGeom prst="rect">
            <a:avLst/>
          </a:prstGeom>
        </p:spPr>
      </p:pic>
      <p:sp>
        <p:nvSpPr>
          <p:cNvPr id="57" name="Text 40"/>
          <p:cNvSpPr txBox="1"/>
          <p:nvPr/>
        </p:nvSpPr>
        <p:spPr>
          <a:xfrm>
            <a:off x="5779922" y="2910535"/>
            <a:ext cx="92263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E123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Scale Disaster</a:t>
            </a:r>
            <a:endParaRPr lang="en-US" sz="1000" dirty="0"/>
          </a:p>
        </p:txBody>
      </p:sp>
      <p:sp>
        <p:nvSpPr>
          <p:cNvPr id="58" name="Text 41"/>
          <p:cNvSpPr txBox="1"/>
          <p:nvPr/>
        </p:nvSpPr>
        <p:spPr>
          <a:xfrm>
            <a:off x="5799125" y="3156509"/>
            <a:ext cx="460674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133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500+ lines become a "patch pile", lacking architecture, maintenance cost rises exponentially.</a:t>
            </a:r>
            <a:endParaRPr lang="en-US" sz="900" dirty="0"/>
          </a:p>
        </p:txBody>
      </p:sp>
      <p:sp>
        <p:nvSpPr>
          <p:cNvPr id="59" name="Shape 42"/>
          <p:cNvSpPr/>
          <p:nvPr/>
        </p:nvSpPr>
        <p:spPr>
          <a:xfrm>
            <a:off x="5438851" y="3482035"/>
            <a:ext cx="6143854" cy="599846"/>
          </a:xfrm>
          <a:prstGeom prst="roundRect">
            <a:avLst>
              <a:gd name="adj" fmla="val 19357"/>
            </a:avLst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60" name="Image 15" descr="preencoded.png"/>
          <p:cNvPicPr>
            <a:picLocks noChangeAspect="1"/>
          </p:cNvPicPr>
          <p:nvPr/>
        </p:nvPicPr>
        <p:blipFill>
          <a:blip r:embed="rId10"/>
          <a:srcRect t="-80" b="-80"/>
          <a:stretch>
            <a:fillRect/>
          </a:stretch>
        </p:blipFill>
        <p:spPr>
          <a:xfrm>
            <a:off x="5570525" y="3629254"/>
            <a:ext cx="142646" cy="114300"/>
          </a:xfrm>
          <a:prstGeom prst="rect">
            <a:avLst/>
          </a:prstGeom>
        </p:spPr>
      </p:pic>
      <p:sp>
        <p:nvSpPr>
          <p:cNvPr id="61" name="Text 43"/>
          <p:cNvSpPr txBox="1"/>
          <p:nvPr/>
        </p:nvSpPr>
        <p:spPr>
          <a:xfrm>
            <a:off x="5789981" y="3583534"/>
            <a:ext cx="13030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E123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Understanding Drift</a:t>
            </a:r>
            <a:endParaRPr lang="en-US" sz="1000" dirty="0"/>
          </a:p>
        </p:txBody>
      </p:sp>
      <p:sp>
        <p:nvSpPr>
          <p:cNvPr id="62" name="Text 44"/>
          <p:cNvSpPr txBox="1"/>
          <p:nvPr/>
        </p:nvSpPr>
        <p:spPr>
          <a:xfrm>
            <a:off x="5799125" y="3828593"/>
            <a:ext cx="496885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133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Term ambiguity (e.g., "building density" definitions), AI lacks context and won't clarify proactively.</a:t>
            </a:r>
            <a:endParaRPr lang="en-US" sz="900" dirty="0"/>
          </a:p>
        </p:txBody>
      </p:sp>
      <p:sp>
        <p:nvSpPr>
          <p:cNvPr id="63" name="Shape 45"/>
          <p:cNvSpPr/>
          <p:nvPr/>
        </p:nvSpPr>
        <p:spPr>
          <a:xfrm>
            <a:off x="5438851" y="4155034"/>
            <a:ext cx="6143854" cy="599846"/>
          </a:xfrm>
          <a:prstGeom prst="roundRect">
            <a:avLst>
              <a:gd name="adj" fmla="val 19357"/>
            </a:avLst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64" name="Image 16" descr="preencoded.png"/>
          <p:cNvPicPr>
            <a:picLocks noChangeAspect="1"/>
          </p:cNvPicPr>
          <p:nvPr/>
        </p:nvPicPr>
        <p:blipFill>
          <a:blip r:embed="rId11"/>
          <a:srcRect l="-133" r="-133"/>
          <a:stretch>
            <a:fillRect/>
          </a:stretch>
        </p:blipFill>
        <p:spPr>
          <a:xfrm>
            <a:off x="5570525" y="4301338"/>
            <a:ext cx="85954" cy="114300"/>
          </a:xfrm>
          <a:prstGeom prst="rect">
            <a:avLst/>
          </a:prstGeom>
        </p:spPr>
      </p:pic>
      <p:sp>
        <p:nvSpPr>
          <p:cNvPr id="65" name="Text 46"/>
          <p:cNvSpPr txBox="1"/>
          <p:nvPr/>
        </p:nvSpPr>
        <p:spPr>
          <a:xfrm>
            <a:off x="5732374" y="4255618"/>
            <a:ext cx="655625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E123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Doc Drift</a:t>
            </a:r>
            <a:endParaRPr lang="en-US" sz="1000" dirty="0"/>
          </a:p>
        </p:txBody>
      </p:sp>
      <p:sp>
        <p:nvSpPr>
          <p:cNvPr id="66" name="Text 47"/>
          <p:cNvSpPr txBox="1"/>
          <p:nvPr/>
        </p:nvSpPr>
        <p:spPr>
          <a:xfrm>
            <a:off x="5799125" y="4501591"/>
            <a:ext cx="452079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133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Code changes without doc updates lead to inconsistency, rendering documentation useless.</a:t>
            </a:r>
            <a:endParaRPr lang="en-US" sz="900" dirty="0"/>
          </a:p>
        </p:txBody>
      </p:sp>
      <p:sp>
        <p:nvSpPr>
          <p:cNvPr id="67" name="Text 48"/>
          <p:cNvSpPr txBox="1"/>
          <p:nvPr/>
        </p:nvSpPr>
        <p:spPr>
          <a:xfrm>
            <a:off x="11544300" y="6381598"/>
            <a:ext cx="333756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04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2606040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1.3 Solution Preview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309214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3623767" y="295351"/>
            <a:ext cx="25246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Keep Vibe Speed, Add Spec Reliability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757270" y="1096670"/>
            <a:ext cx="481980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 Shift: From Dialogue-Driven to Spec-Driven (Contract)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rcRect l="-57" r="-57"/>
          <a:stretch>
            <a:fillRect/>
          </a:stretch>
        </p:blipFill>
        <p:spPr>
          <a:xfrm>
            <a:off x="4058107" y="2746858"/>
            <a:ext cx="200254" cy="22860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1"/>
          <a:srcRect l="-57" r="-57"/>
          <a:stretch>
            <a:fillRect/>
          </a:stretch>
        </p:blipFill>
        <p:spPr>
          <a:xfrm>
            <a:off x="7934249" y="2746858"/>
            <a:ext cx="200254" cy="228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09905" y="4032504"/>
            <a:ext cx="5372100" cy="1104595"/>
          </a:xfrm>
          <a:prstGeom prst="roundRect">
            <a:avLst>
              <a:gd name="adj" fmla="val 5709"/>
            </a:avLst>
          </a:prstGeom>
          <a:solidFill>
            <a:srgbClr val="F8FAFC"/>
          </a:solidFill>
        </p:spPr>
      </p:sp>
      <p:sp>
        <p:nvSpPr>
          <p:cNvPr id="12" name="Shape 8"/>
          <p:cNvSpPr/>
          <p:nvPr/>
        </p:nvSpPr>
        <p:spPr>
          <a:xfrm>
            <a:off x="609905" y="4032504"/>
            <a:ext cx="38405" cy="1104595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2"/>
          <a:srcRect l="-33" r="-33"/>
          <a:stretch>
            <a:fillRect/>
          </a:stretch>
        </p:blipFill>
        <p:spPr>
          <a:xfrm>
            <a:off x="875995" y="4213555"/>
            <a:ext cx="171907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23798" y="4213555"/>
            <a:ext cx="257220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Vibe Coding = Verbal House Building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875995" y="4508906"/>
            <a:ext cx="230063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"Ad-hoc changes, building as you speak"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875995" y="4756709"/>
            <a:ext cx="2048256" cy="228600"/>
          </a:xfrm>
          <a:prstGeom prst="roundRect">
            <a:avLst>
              <a:gd name="adj" fmla="val 66667"/>
            </a:avLst>
          </a:prstGeom>
          <a:solidFill>
            <a:srgbClr val="FEF2F2"/>
          </a:solidFill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2805" y="4813402"/>
            <a:ext cx="114300" cy="1143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04595" y="4794199"/>
            <a:ext cx="18288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F4444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Result: Crooked house, missed details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6210605" y="4032504"/>
            <a:ext cx="5372100" cy="1104595"/>
          </a:xfrm>
          <a:prstGeom prst="roundRect">
            <a:avLst>
              <a:gd name="adj" fmla="val 5709"/>
            </a:avLst>
          </a:prstGeom>
          <a:solidFill>
            <a:srgbClr val="F8FAFC"/>
          </a:solidFill>
        </p:spPr>
      </p:sp>
      <p:sp>
        <p:nvSpPr>
          <p:cNvPr id="20" name="Shape 14"/>
          <p:cNvSpPr/>
          <p:nvPr/>
        </p:nvSpPr>
        <p:spPr>
          <a:xfrm>
            <a:off x="6210605" y="4032504"/>
            <a:ext cx="38405" cy="1104595"/>
          </a:xfrm>
          <a:prstGeom prst="rect">
            <a:avLst/>
          </a:prstGeom>
          <a:solidFill>
            <a:srgbClr val="059669"/>
          </a:solidFill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76695" y="4213555"/>
            <a:ext cx="152705" cy="15270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705295" y="4213555"/>
            <a:ext cx="21241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785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Spec-Driven = Blueprints First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6476695" y="4508906"/>
            <a:ext cx="244327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"Blueprints define all details and standards"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476695" y="4756709"/>
            <a:ext cx="2009851" cy="228600"/>
          </a:xfrm>
          <a:prstGeom prst="roundRect">
            <a:avLst>
              <a:gd name="adj" fmla="val 66667"/>
            </a:avLst>
          </a:prstGeom>
          <a:solidFill>
            <a:srgbClr val="ECFDF5"/>
          </a:solidFill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553505" y="4813402"/>
            <a:ext cx="114300" cy="1143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705295" y="4794199"/>
            <a:ext cx="179131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Result: Quality assured, reproducible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609905" y="5442509"/>
            <a:ext cx="10972800" cy="666598"/>
          </a:xfrm>
          <a:prstGeom prst="roundRect">
            <a:avLst>
              <a:gd name="adj" fmla="val 15677"/>
            </a:avLst>
          </a:prstGeom>
          <a:solidFill>
            <a:srgbClr val="1E293B"/>
          </a:solidFill>
        </p:spPr>
      </p:sp>
      <p:sp>
        <p:nvSpPr>
          <p:cNvPr id="28" name="Shape 20"/>
          <p:cNvSpPr/>
          <p:nvPr/>
        </p:nvSpPr>
        <p:spPr>
          <a:xfrm>
            <a:off x="5952744" y="5299862"/>
            <a:ext cx="286207" cy="286207"/>
          </a:xfrm>
          <a:prstGeom prst="ellipse">
            <a:avLst/>
          </a:prstGeom>
          <a:solidFill>
            <a:srgbClr val="3B82F6"/>
          </a:solidFill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6"/>
          <a:srcRect l="-2838" r="-2838"/>
          <a:stretch>
            <a:fillRect/>
          </a:stretch>
        </p:blipFill>
        <p:spPr>
          <a:xfrm>
            <a:off x="6034126" y="5375758"/>
            <a:ext cx="123444" cy="13350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2503627" y="5671109"/>
            <a:ext cx="73206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"Vibe Coding is Fast Food—tasty but unhealthy. Spec-Driven is Healthy Fast Food—fast AND reliable."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Shape 23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3" name="Text 24"/>
          <p:cNvSpPr txBox="1"/>
          <p:nvPr/>
        </p:nvSpPr>
        <p:spPr>
          <a:xfrm>
            <a:off x="11551615" y="6468466"/>
            <a:ext cx="32827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Shape 25"/>
          <p:cNvSpPr/>
          <p:nvPr/>
        </p:nvSpPr>
        <p:spPr>
          <a:xfrm>
            <a:off x="609905" y="2013509"/>
            <a:ext cx="3219602" cy="17145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26"/>
          <p:cNvSpPr txBox="1"/>
          <p:nvPr/>
        </p:nvSpPr>
        <p:spPr>
          <a:xfrm>
            <a:off x="780898" y="2261311"/>
            <a:ext cx="104333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Vibe Coding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780898" y="2537460"/>
            <a:ext cx="12865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DIALOGUE-DRIVEN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780898" y="2813609"/>
            <a:ext cx="72877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High Speed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780898" y="3079699"/>
            <a:ext cx="55778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Intuitive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780898" y="3346704"/>
            <a:ext cx="101498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Unstable Quality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771754" y="1918411"/>
            <a:ext cx="228600" cy="228600"/>
          </a:xfrm>
          <a:prstGeom prst="ellipse">
            <a:avLst/>
          </a:prstGeom>
          <a:solidFill>
            <a:srgbClr val="F59E0B"/>
          </a:solidFill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2"/>
          <p:cNvSpPr txBox="1"/>
          <p:nvPr/>
        </p:nvSpPr>
        <p:spPr>
          <a:xfrm>
            <a:off x="851306" y="1929384"/>
            <a:ext cx="17922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4486046" y="1994306"/>
            <a:ext cx="3219602" cy="1714500"/>
          </a:xfrm>
          <a:prstGeom prst="roundRect">
            <a:avLst>
              <a:gd name="adj" fmla="val 3556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blurRad="114300" dist="76200" dir="5400000" algn="bl" rotWithShape="0">
              <a:srgbClr val="3B82F6">
                <a:alpha val="20000"/>
              </a:srgbClr>
            </a:outerShdw>
          </a:effectLst>
        </p:spPr>
      </p:sp>
      <p:sp>
        <p:nvSpPr>
          <p:cNvPr id="43" name="Text 34"/>
          <p:cNvSpPr txBox="1"/>
          <p:nvPr/>
        </p:nvSpPr>
        <p:spPr>
          <a:xfrm>
            <a:off x="4657954" y="2242109"/>
            <a:ext cx="8814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Spec-First</a:t>
            </a:r>
            <a:endParaRPr lang="en-US" sz="1300" dirty="0"/>
          </a:p>
        </p:txBody>
      </p:sp>
      <p:sp>
        <p:nvSpPr>
          <p:cNvPr id="44" name="Text 35"/>
          <p:cNvSpPr txBox="1"/>
          <p:nvPr/>
        </p:nvSpPr>
        <p:spPr>
          <a:xfrm>
            <a:off x="4657954" y="2518258"/>
            <a:ext cx="13432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PRIORITY ON SPECS</a:t>
            </a:r>
            <a:endParaRPr lang="en-US" sz="900" dirty="0"/>
          </a:p>
        </p:txBody>
      </p:sp>
      <p:sp>
        <p:nvSpPr>
          <p:cNvPr id="45" name="Text 36"/>
          <p:cNvSpPr txBox="1"/>
          <p:nvPr/>
        </p:nvSpPr>
        <p:spPr>
          <a:xfrm>
            <a:off x="4657954" y="2794406"/>
            <a:ext cx="59618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Def-First</a:t>
            </a:r>
            <a:endParaRPr lang="en-US" sz="1000" dirty="0"/>
          </a:p>
        </p:txBody>
      </p:sp>
      <p:sp>
        <p:nvSpPr>
          <p:cNvPr id="46" name="Text 37"/>
          <p:cNvSpPr txBox="1"/>
          <p:nvPr/>
        </p:nvSpPr>
        <p:spPr>
          <a:xfrm>
            <a:off x="4657954" y="3061411"/>
            <a:ext cx="116768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Anchored Iterations</a:t>
            </a:r>
            <a:endParaRPr lang="en-US" sz="1000" dirty="0"/>
          </a:p>
        </p:txBody>
      </p:sp>
      <p:sp>
        <p:nvSpPr>
          <p:cNvPr id="47" name="Text 38"/>
          <p:cNvSpPr txBox="1"/>
          <p:nvPr/>
        </p:nvSpPr>
        <p:spPr>
          <a:xfrm>
            <a:off x="4657954" y="3327502"/>
            <a:ext cx="9866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Reliable Quality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4647895" y="1899209"/>
            <a:ext cx="228600" cy="228600"/>
          </a:xfrm>
          <a:prstGeom prst="ellipse">
            <a:avLst/>
          </a:prstGeom>
          <a:solidFill>
            <a:srgbClr val="3B82F6"/>
          </a:solidFill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Text 40"/>
          <p:cNvSpPr txBox="1"/>
          <p:nvPr/>
        </p:nvSpPr>
        <p:spPr>
          <a:xfrm>
            <a:off x="4728362" y="1910182"/>
            <a:ext cx="17922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</a:t>
            </a:r>
            <a:endParaRPr lang="en-US" sz="1000" dirty="0"/>
          </a:p>
        </p:txBody>
      </p:sp>
      <p:sp>
        <p:nvSpPr>
          <p:cNvPr id="50" name="Shape 41"/>
          <p:cNvSpPr/>
          <p:nvPr/>
        </p:nvSpPr>
        <p:spPr>
          <a:xfrm>
            <a:off x="8363102" y="2013509"/>
            <a:ext cx="3219602" cy="1714500"/>
          </a:xfrm>
          <a:prstGeom prst="roundRect">
            <a:avLst>
              <a:gd name="adj" fmla="val 3556"/>
            </a:avLst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Text 42"/>
          <p:cNvSpPr txBox="1"/>
          <p:nvPr/>
        </p:nvSpPr>
        <p:spPr>
          <a:xfrm>
            <a:off x="8534095" y="2261311"/>
            <a:ext cx="12435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Spec-as-Source</a:t>
            </a:r>
            <a:endParaRPr lang="en-US" sz="1300" dirty="0"/>
          </a:p>
        </p:txBody>
      </p:sp>
      <p:sp>
        <p:nvSpPr>
          <p:cNvPr id="52" name="Text 43"/>
          <p:cNvSpPr txBox="1"/>
          <p:nvPr/>
        </p:nvSpPr>
        <p:spPr>
          <a:xfrm>
            <a:off x="8534095" y="2537460"/>
            <a:ext cx="10479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SPECS AS CODE</a:t>
            </a:r>
            <a:endParaRPr lang="en-US" sz="900" dirty="0"/>
          </a:p>
        </p:txBody>
      </p:sp>
      <p:sp>
        <p:nvSpPr>
          <p:cNvPr id="53" name="Text 44"/>
          <p:cNvSpPr txBox="1"/>
          <p:nvPr/>
        </p:nvSpPr>
        <p:spPr>
          <a:xfrm>
            <a:off x="8534095" y="2813609"/>
            <a:ext cx="95737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Auto-Gen Code</a:t>
            </a:r>
            <a:endParaRPr lang="en-US" sz="1000" dirty="0"/>
          </a:p>
        </p:txBody>
      </p:sp>
      <p:sp>
        <p:nvSpPr>
          <p:cNvPr id="54" name="Text 45"/>
          <p:cNvSpPr txBox="1"/>
          <p:nvPr/>
        </p:nvSpPr>
        <p:spPr>
          <a:xfrm>
            <a:off x="8534095" y="3079699"/>
            <a:ext cx="101498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100% Consistent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8534095" y="3346704"/>
            <a:ext cx="11009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Collab Foundation</a:t>
            </a:r>
            <a:endParaRPr lang="en-US" sz="1000" dirty="0"/>
          </a:p>
        </p:txBody>
      </p:sp>
      <p:sp>
        <p:nvSpPr>
          <p:cNvPr id="56" name="Shape 47"/>
          <p:cNvSpPr/>
          <p:nvPr/>
        </p:nvSpPr>
        <p:spPr>
          <a:xfrm>
            <a:off x="8524951" y="1918411"/>
            <a:ext cx="228600" cy="228600"/>
          </a:xfrm>
          <a:prstGeom prst="ellipse">
            <a:avLst/>
          </a:prstGeom>
          <a:solidFill>
            <a:srgbClr val="059669"/>
          </a:solidFill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Text 48"/>
          <p:cNvSpPr txBox="1"/>
          <p:nvPr/>
        </p:nvSpPr>
        <p:spPr>
          <a:xfrm>
            <a:off x="8604504" y="1929384"/>
            <a:ext cx="17922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5264201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2.1 Tool Panorama (2025): Four Categories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968289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6281928" y="295351"/>
            <a:ext cx="33147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2025 Mainstream AI Programming Tools Landscape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5562295" cy="226679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8874" y="1079906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EFF6FF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 t="-1310" b="-1310"/>
          <a:stretch>
            <a:fillRect/>
          </a:stretch>
        </p:blipFill>
        <p:spPr>
          <a:xfrm>
            <a:off x="655625" y="1165860"/>
            <a:ext cx="209398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23214" y="1065276"/>
            <a:ext cx="124084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AI-Native IDEs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23214" y="1284732"/>
            <a:ext cx="275325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Complete development environment, deeply integrated AI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8874" y="1498702"/>
            <a:ext cx="504749" cy="209398"/>
          </a:xfrm>
          <a:prstGeom prst="roundRect">
            <a:avLst>
              <a:gd name="adj" fmla="val 79396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3913" y="1542593"/>
            <a:ext cx="414223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369A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Cursor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139342" y="1498702"/>
            <a:ext cx="609905" cy="209398"/>
          </a:xfrm>
          <a:prstGeom prst="roundRect">
            <a:avLst>
              <a:gd name="adj" fmla="val 79396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24382" y="1542593"/>
            <a:ext cx="518465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369A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Windsurf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1800454" y="1498702"/>
            <a:ext cx="705002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885493" y="1542593"/>
            <a:ext cx="613562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Antigravity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552090" y="1498702"/>
            <a:ext cx="390449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637130" y="1542593"/>
            <a:ext cx="299923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Trae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2987345" y="1498702"/>
            <a:ext cx="390449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073298" y="1542593"/>
            <a:ext cx="299923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Kiro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3423514" y="1498702"/>
            <a:ext cx="599846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09467" y="1542593"/>
            <a:ext cx="509321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Augment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588874" y="2398471"/>
            <a:ext cx="5305349" cy="647395"/>
          </a:xfrm>
          <a:prstGeom prst="roundRect">
            <a:avLst>
              <a:gd name="adj" fmla="val 12463"/>
            </a:avLst>
          </a:prstGeom>
          <a:solidFill>
            <a:srgbClr val="F8FAFC"/>
          </a:solidFill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/>
          <a:srcRect l="-7143" r="-7143"/>
          <a:stretch>
            <a:fillRect/>
          </a:stretch>
        </p:blipFill>
        <p:spPr>
          <a:xfrm>
            <a:off x="664769" y="2491740"/>
            <a:ext cx="114300" cy="11430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840334" y="2475281"/>
            <a:ext cx="13057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For medium-large projects</a:t>
            </a:r>
            <a:endParaRPr lang="en-US" sz="9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2"/>
          <a:srcRect l="-7143" r="-7143"/>
          <a:stretch>
            <a:fillRect/>
          </a:stretch>
        </p:blipFill>
        <p:spPr>
          <a:xfrm>
            <a:off x="664769" y="2663647"/>
            <a:ext cx="114300" cy="11430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40334" y="2646274"/>
            <a:ext cx="13716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Deep context understanding</a:t>
            </a:r>
            <a:endParaRPr lang="en-US" sz="9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2"/>
          <a:srcRect l="-7143" r="-7143"/>
          <a:stretch>
            <a:fillRect/>
          </a:stretch>
        </p:blipFill>
        <p:spPr>
          <a:xfrm>
            <a:off x="664769" y="2834640"/>
            <a:ext cx="114300" cy="1143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40334" y="2817266"/>
            <a:ext cx="19147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Agent mode: Autonomous development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172200" y="914400"/>
            <a:ext cx="5562295" cy="226679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303874" y="1079906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ECFDF5"/>
          </a:solidFill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3"/>
          <a:srcRect t="-842" b="-842"/>
          <a:stretch>
            <a:fillRect/>
          </a:stretch>
        </p:blipFill>
        <p:spPr>
          <a:xfrm>
            <a:off x="6379769" y="1165860"/>
            <a:ext cx="190195" cy="171907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6738214" y="1065276"/>
            <a:ext cx="84033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CLI Tools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6738214" y="1284732"/>
            <a:ext cx="17437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Geek's choice, scripts &amp; automation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6303874" y="1498702"/>
            <a:ext cx="761695" cy="209398"/>
          </a:xfrm>
          <a:prstGeom prst="roundRect">
            <a:avLst>
              <a:gd name="adj" fmla="val 79396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6388913" y="1542593"/>
            <a:ext cx="671170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369A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39" name="Shape 32"/>
          <p:cNvSpPr/>
          <p:nvPr/>
        </p:nvSpPr>
        <p:spPr>
          <a:xfrm>
            <a:off x="7117690" y="1498702"/>
            <a:ext cx="685800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7203643" y="1542593"/>
            <a:ext cx="594360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Codex CLI</a:t>
            </a:r>
            <a:endParaRPr lang="en-US" sz="800" dirty="0"/>
          </a:p>
        </p:txBody>
      </p:sp>
      <p:sp>
        <p:nvSpPr>
          <p:cNvPr id="41" name="Shape 34"/>
          <p:cNvSpPr/>
          <p:nvPr/>
        </p:nvSpPr>
        <p:spPr>
          <a:xfrm>
            <a:off x="7848295" y="1498702"/>
            <a:ext cx="733349" cy="209398"/>
          </a:xfrm>
          <a:prstGeom prst="roundRect">
            <a:avLst>
              <a:gd name="adj" fmla="val 79396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7934249" y="1542593"/>
            <a:ext cx="642823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369A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Gemini CLI</a:t>
            </a:r>
            <a:endParaRPr lang="en-US" sz="800" dirty="0"/>
          </a:p>
        </p:txBody>
      </p:sp>
      <p:sp>
        <p:nvSpPr>
          <p:cNvPr id="43" name="Shape 36"/>
          <p:cNvSpPr/>
          <p:nvPr/>
        </p:nvSpPr>
        <p:spPr>
          <a:xfrm>
            <a:off x="8627364" y="1498702"/>
            <a:ext cx="437998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8712403" y="1542593"/>
            <a:ext cx="347472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Droid</a:t>
            </a:r>
            <a:endParaRPr lang="en-US" sz="800" dirty="0"/>
          </a:p>
        </p:txBody>
      </p:sp>
      <p:sp>
        <p:nvSpPr>
          <p:cNvPr id="45" name="Shape 38"/>
          <p:cNvSpPr/>
          <p:nvPr/>
        </p:nvSpPr>
        <p:spPr>
          <a:xfrm>
            <a:off x="6303874" y="2398471"/>
            <a:ext cx="5305349" cy="647395"/>
          </a:xfrm>
          <a:prstGeom prst="roundRect">
            <a:avLst>
              <a:gd name="adj" fmla="val 12463"/>
            </a:avLst>
          </a:prstGeom>
          <a:solidFill>
            <a:srgbClr val="F8FAFC"/>
          </a:solidFill>
        </p:spPr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4"/>
          <a:srcRect l="-7143" r="-7143"/>
          <a:stretch>
            <a:fillRect/>
          </a:stretch>
        </p:blipFill>
        <p:spPr>
          <a:xfrm>
            <a:off x="6379769" y="2491740"/>
            <a:ext cx="114300" cy="114300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6555334" y="2475281"/>
            <a:ext cx="17629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For complex reasoning &amp; deep logic</a:t>
            </a:r>
            <a:endParaRPr lang="en-US" sz="900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4"/>
          <a:srcRect l="-7143" r="-7143"/>
          <a:stretch>
            <a:fillRect/>
          </a:stretch>
        </p:blipFill>
        <p:spPr>
          <a:xfrm>
            <a:off x="6379769" y="2663647"/>
            <a:ext cx="114300" cy="114300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6555334" y="2646274"/>
            <a:ext cx="16669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Automation &amp; task decomposition</a:t>
            </a:r>
            <a:endParaRPr lang="en-US" sz="9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4"/>
          <a:srcRect l="-7143" r="-7143"/>
          <a:stretch>
            <a:fillRect/>
          </a:stretch>
        </p:blipFill>
        <p:spPr>
          <a:xfrm>
            <a:off x="6379769" y="2834640"/>
            <a:ext cx="114300" cy="114300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6555334" y="2817266"/>
            <a:ext cx="17145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Huge context window (200K - 1M)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457200" y="3326587"/>
            <a:ext cx="5562295" cy="226679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3" name="Shape 43"/>
          <p:cNvSpPr/>
          <p:nvPr/>
        </p:nvSpPr>
        <p:spPr>
          <a:xfrm>
            <a:off x="588874" y="3491179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FFBEB"/>
          </a:solidFill>
        </p:spPr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5"/>
          <a:srcRect t="-1310" b="-1310"/>
          <a:stretch>
            <a:fillRect/>
          </a:stretch>
        </p:blipFill>
        <p:spPr>
          <a:xfrm>
            <a:off x="655625" y="3577133"/>
            <a:ext cx="209398" cy="171907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1023214" y="3476549"/>
            <a:ext cx="131673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Cloud Platforms</a:t>
            </a:r>
            <a:endParaRPr lang="en-US" sz="1300" dirty="0"/>
          </a:p>
        </p:txBody>
      </p:sp>
      <p:sp>
        <p:nvSpPr>
          <p:cNvPr id="56" name="Text 45"/>
          <p:cNvSpPr txBox="1"/>
          <p:nvPr/>
        </p:nvSpPr>
        <p:spPr>
          <a:xfrm>
            <a:off x="1023214" y="3696919"/>
            <a:ext cx="19147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Online development, zero configuration</a:t>
            </a:r>
            <a:endParaRPr lang="en-US" sz="900" dirty="0"/>
          </a:p>
        </p:txBody>
      </p:sp>
      <p:sp>
        <p:nvSpPr>
          <p:cNvPr id="57" name="Shape 46"/>
          <p:cNvSpPr/>
          <p:nvPr/>
        </p:nvSpPr>
        <p:spPr>
          <a:xfrm>
            <a:off x="588874" y="3909974"/>
            <a:ext cx="457200" cy="209398"/>
          </a:xfrm>
          <a:prstGeom prst="roundRect">
            <a:avLst>
              <a:gd name="adj" fmla="val 79396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8" name="Text 47"/>
          <p:cNvSpPr txBox="1"/>
          <p:nvPr/>
        </p:nvSpPr>
        <p:spPr>
          <a:xfrm>
            <a:off x="673913" y="3953866"/>
            <a:ext cx="365760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369A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Replit</a:t>
            </a:r>
            <a:endParaRPr lang="en-US" sz="800" dirty="0"/>
          </a:p>
        </p:txBody>
      </p:sp>
      <p:sp>
        <p:nvSpPr>
          <p:cNvPr id="59" name="Shape 48"/>
          <p:cNvSpPr/>
          <p:nvPr/>
        </p:nvSpPr>
        <p:spPr>
          <a:xfrm>
            <a:off x="1091794" y="3909974"/>
            <a:ext cx="562356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49"/>
          <p:cNvSpPr txBox="1"/>
          <p:nvPr/>
        </p:nvSpPr>
        <p:spPr>
          <a:xfrm>
            <a:off x="1177747" y="3953866"/>
            <a:ext cx="470916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bolt.new</a:t>
            </a:r>
            <a:endParaRPr lang="en-US" sz="800" dirty="0"/>
          </a:p>
        </p:txBody>
      </p:sp>
      <p:sp>
        <p:nvSpPr>
          <p:cNvPr id="61" name="Shape 50"/>
          <p:cNvSpPr/>
          <p:nvPr/>
        </p:nvSpPr>
        <p:spPr>
          <a:xfrm>
            <a:off x="1704442" y="3909974"/>
            <a:ext cx="543154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51"/>
          <p:cNvSpPr txBox="1"/>
          <p:nvPr/>
        </p:nvSpPr>
        <p:spPr>
          <a:xfrm>
            <a:off x="1790395" y="3953866"/>
            <a:ext cx="451714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Lovable</a:t>
            </a:r>
            <a:endParaRPr lang="en-US" sz="800" dirty="0"/>
          </a:p>
        </p:txBody>
      </p:sp>
      <p:sp>
        <p:nvSpPr>
          <p:cNvPr id="63" name="Shape 52"/>
          <p:cNvSpPr/>
          <p:nvPr/>
        </p:nvSpPr>
        <p:spPr>
          <a:xfrm>
            <a:off x="2296058" y="3909974"/>
            <a:ext cx="543154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53"/>
          <p:cNvSpPr txBox="1"/>
          <p:nvPr/>
        </p:nvSpPr>
        <p:spPr>
          <a:xfrm>
            <a:off x="2382012" y="3953866"/>
            <a:ext cx="451714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Orchids</a:t>
            </a:r>
            <a:endParaRPr lang="en-US" sz="800" dirty="0"/>
          </a:p>
        </p:txBody>
      </p:sp>
      <p:sp>
        <p:nvSpPr>
          <p:cNvPr id="65" name="Shape 54"/>
          <p:cNvSpPr/>
          <p:nvPr/>
        </p:nvSpPr>
        <p:spPr>
          <a:xfrm>
            <a:off x="588874" y="4810658"/>
            <a:ext cx="5305349" cy="647395"/>
          </a:xfrm>
          <a:prstGeom prst="roundRect">
            <a:avLst>
              <a:gd name="adj" fmla="val 12463"/>
            </a:avLst>
          </a:prstGeom>
          <a:solidFill>
            <a:srgbClr val="F8FAFC"/>
          </a:solidFill>
        </p:spPr>
      </p:sp>
      <p:pic>
        <p:nvPicPr>
          <p:cNvPr id="66" name="Image 9" descr="preencoded.png"/>
          <p:cNvPicPr>
            <a:picLocks noChangeAspect="1"/>
          </p:cNvPicPr>
          <p:nvPr/>
        </p:nvPicPr>
        <p:blipFill>
          <a:blip r:embed="rId6"/>
          <a:srcRect l="-7143" r="-7143"/>
          <a:stretch>
            <a:fillRect/>
          </a:stretch>
        </p:blipFill>
        <p:spPr>
          <a:xfrm>
            <a:off x="664769" y="4903927"/>
            <a:ext cx="114300" cy="114300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840334" y="4886554"/>
            <a:ext cx="12957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Zero setup, browser-ready</a:t>
            </a:r>
            <a:endParaRPr lang="en-US" sz="900" dirty="0"/>
          </a:p>
        </p:txBody>
      </p:sp>
      <p:pic>
        <p:nvPicPr>
          <p:cNvPr id="68" name="Image 10" descr="preencoded.png"/>
          <p:cNvPicPr>
            <a:picLocks noChangeAspect="1"/>
          </p:cNvPicPr>
          <p:nvPr/>
        </p:nvPicPr>
        <p:blipFill>
          <a:blip r:embed="rId6"/>
          <a:srcRect l="-7143" r="-7143"/>
          <a:stretch>
            <a:fillRect/>
          </a:stretch>
        </p:blipFill>
        <p:spPr>
          <a:xfrm>
            <a:off x="664769" y="5074920"/>
            <a:ext cx="114300" cy="114300"/>
          </a:xfrm>
          <a:prstGeom prst="rect">
            <a:avLst/>
          </a:prstGeom>
        </p:spPr>
      </p:pic>
      <p:sp>
        <p:nvSpPr>
          <p:cNvPr id="69" name="Text 56"/>
          <p:cNvSpPr txBox="1"/>
          <p:nvPr/>
        </p:nvSpPr>
        <p:spPr>
          <a:xfrm>
            <a:off x="840334" y="5058461"/>
            <a:ext cx="14008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Real-time full-stack preview</a:t>
            </a:r>
            <a:endParaRPr lang="en-US" sz="900" dirty="0"/>
          </a:p>
        </p:txBody>
      </p:sp>
      <p:pic>
        <p:nvPicPr>
          <p:cNvPr id="70" name="Image 11" descr="preencoded.png"/>
          <p:cNvPicPr>
            <a:picLocks noChangeAspect="1"/>
          </p:cNvPicPr>
          <p:nvPr/>
        </p:nvPicPr>
        <p:blipFill>
          <a:blip r:embed="rId6"/>
          <a:srcRect l="-7143" r="-7143"/>
          <a:stretch>
            <a:fillRect/>
          </a:stretch>
        </p:blipFill>
        <p:spPr>
          <a:xfrm>
            <a:off x="664769" y="5246827"/>
            <a:ext cx="114300" cy="114300"/>
          </a:xfrm>
          <a:prstGeom prst="rect">
            <a:avLst/>
          </a:prstGeom>
        </p:spPr>
      </p:pic>
      <p:sp>
        <p:nvSpPr>
          <p:cNvPr id="71" name="Text 57"/>
          <p:cNvSpPr txBox="1"/>
          <p:nvPr/>
        </p:nvSpPr>
        <p:spPr>
          <a:xfrm>
            <a:off x="840334" y="5229454"/>
            <a:ext cx="15243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Ideal for teaching &amp; prototypes</a:t>
            </a:r>
            <a:endParaRPr lang="en-US" sz="900" dirty="0"/>
          </a:p>
        </p:txBody>
      </p:sp>
      <p:sp>
        <p:nvSpPr>
          <p:cNvPr id="72" name="Shape 58"/>
          <p:cNvSpPr/>
          <p:nvPr/>
        </p:nvSpPr>
        <p:spPr>
          <a:xfrm>
            <a:off x="6172200" y="3326587"/>
            <a:ext cx="5562295" cy="226679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38100">
            <a:solidFill>
              <a:srgbClr val="8B5CF6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3" name="Shape 59"/>
          <p:cNvSpPr/>
          <p:nvPr/>
        </p:nvSpPr>
        <p:spPr>
          <a:xfrm>
            <a:off x="6303874" y="3491179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5F3FF"/>
          </a:solidFill>
        </p:spPr>
      </p:sp>
      <p:pic>
        <p:nvPicPr>
          <p:cNvPr id="74" name="Image 12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388913" y="3577133"/>
            <a:ext cx="171907" cy="171907"/>
          </a:xfrm>
          <a:prstGeom prst="rect">
            <a:avLst/>
          </a:prstGeom>
        </p:spPr>
      </p:pic>
      <p:sp>
        <p:nvSpPr>
          <p:cNvPr id="75" name="Text 60"/>
          <p:cNvSpPr txBox="1"/>
          <p:nvPr/>
        </p:nvSpPr>
        <p:spPr>
          <a:xfrm>
            <a:off x="6738214" y="3476549"/>
            <a:ext cx="12216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Auxiliary Tools</a:t>
            </a:r>
            <a:endParaRPr lang="en-US" sz="1300" dirty="0"/>
          </a:p>
        </p:txBody>
      </p:sp>
      <p:sp>
        <p:nvSpPr>
          <p:cNvPr id="76" name="Text 61"/>
          <p:cNvSpPr txBox="1"/>
          <p:nvPr/>
        </p:nvSpPr>
        <p:spPr>
          <a:xfrm>
            <a:off x="6738214" y="3696919"/>
            <a:ext cx="20391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Specific task enhancement &amp; visualization</a:t>
            </a:r>
            <a:endParaRPr lang="en-US" sz="900" dirty="0"/>
          </a:p>
        </p:txBody>
      </p:sp>
      <p:sp>
        <p:nvSpPr>
          <p:cNvPr id="77" name="Shape 62"/>
          <p:cNvSpPr/>
          <p:nvPr/>
        </p:nvSpPr>
        <p:spPr>
          <a:xfrm>
            <a:off x="6303874" y="3909974"/>
            <a:ext cx="857707" cy="209398"/>
          </a:xfrm>
          <a:prstGeom prst="roundRect">
            <a:avLst>
              <a:gd name="adj" fmla="val 79396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8" name="Text 63"/>
          <p:cNvSpPr txBox="1"/>
          <p:nvPr/>
        </p:nvSpPr>
        <p:spPr>
          <a:xfrm>
            <a:off x="6388913" y="3953866"/>
            <a:ext cx="766267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369A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Augment Code</a:t>
            </a:r>
            <a:endParaRPr lang="en-US" sz="800" dirty="0"/>
          </a:p>
        </p:txBody>
      </p:sp>
      <p:sp>
        <p:nvSpPr>
          <p:cNvPr id="79" name="Shape 64"/>
          <p:cNvSpPr/>
          <p:nvPr/>
        </p:nvSpPr>
        <p:spPr>
          <a:xfrm>
            <a:off x="7211873" y="3909974"/>
            <a:ext cx="457200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65"/>
          <p:cNvSpPr txBox="1"/>
          <p:nvPr/>
        </p:nvSpPr>
        <p:spPr>
          <a:xfrm>
            <a:off x="7297826" y="3953866"/>
            <a:ext cx="365760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Zread</a:t>
            </a:r>
            <a:endParaRPr lang="en-US" sz="800" dirty="0"/>
          </a:p>
        </p:txBody>
      </p:sp>
      <p:sp>
        <p:nvSpPr>
          <p:cNvPr id="81" name="Shape 66"/>
          <p:cNvSpPr/>
          <p:nvPr/>
        </p:nvSpPr>
        <p:spPr>
          <a:xfrm>
            <a:off x="7712964" y="3909974"/>
            <a:ext cx="790956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67"/>
          <p:cNvSpPr txBox="1"/>
          <p:nvPr/>
        </p:nvSpPr>
        <p:spPr>
          <a:xfrm>
            <a:off x="7798918" y="3953866"/>
            <a:ext cx="699516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NotebookLM</a:t>
            </a:r>
            <a:endParaRPr lang="en-US" sz="800" dirty="0"/>
          </a:p>
        </p:txBody>
      </p:sp>
      <p:sp>
        <p:nvSpPr>
          <p:cNvPr id="83" name="Shape 68"/>
          <p:cNvSpPr/>
          <p:nvPr/>
        </p:nvSpPr>
        <p:spPr>
          <a:xfrm>
            <a:off x="8547811" y="3909974"/>
            <a:ext cx="905256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69"/>
          <p:cNvSpPr txBox="1"/>
          <p:nvPr/>
        </p:nvSpPr>
        <p:spPr>
          <a:xfrm>
            <a:off x="8633765" y="3953866"/>
            <a:ext cx="813816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Mermaid Chart</a:t>
            </a:r>
            <a:endParaRPr lang="en-US" sz="800" dirty="0"/>
          </a:p>
        </p:txBody>
      </p:sp>
      <p:sp>
        <p:nvSpPr>
          <p:cNvPr id="85" name="Shape 70"/>
          <p:cNvSpPr/>
          <p:nvPr/>
        </p:nvSpPr>
        <p:spPr>
          <a:xfrm>
            <a:off x="6303874" y="4810658"/>
            <a:ext cx="5305349" cy="647395"/>
          </a:xfrm>
          <a:prstGeom prst="roundRect">
            <a:avLst>
              <a:gd name="adj" fmla="val 12463"/>
            </a:avLst>
          </a:prstGeom>
          <a:solidFill>
            <a:srgbClr val="F8FAFC"/>
          </a:solidFill>
        </p:spPr>
      </p:sp>
      <p:pic>
        <p:nvPicPr>
          <p:cNvPr id="86" name="Image 13" descr="preencoded.png"/>
          <p:cNvPicPr>
            <a:picLocks noChangeAspect="1"/>
          </p:cNvPicPr>
          <p:nvPr/>
        </p:nvPicPr>
        <p:blipFill>
          <a:blip r:embed="rId8"/>
          <a:srcRect l="-7143" r="-7143"/>
          <a:stretch>
            <a:fillRect/>
          </a:stretch>
        </p:blipFill>
        <p:spPr>
          <a:xfrm>
            <a:off x="6379769" y="4903927"/>
            <a:ext cx="114300" cy="114300"/>
          </a:xfrm>
          <a:prstGeom prst="rect">
            <a:avLst/>
          </a:prstGeom>
        </p:spPr>
      </p:pic>
      <p:sp>
        <p:nvSpPr>
          <p:cNvPr id="87" name="Text 71"/>
          <p:cNvSpPr txBox="1"/>
          <p:nvPr/>
        </p:nvSpPr>
        <p:spPr>
          <a:xfrm>
            <a:off x="6555334" y="4886554"/>
            <a:ext cx="14200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Context engine enhancement</a:t>
            </a:r>
            <a:endParaRPr lang="en-US" sz="900" dirty="0"/>
          </a:p>
        </p:txBody>
      </p:sp>
      <p:pic>
        <p:nvPicPr>
          <p:cNvPr id="88" name="Image 14" descr="preencoded.png"/>
          <p:cNvPicPr>
            <a:picLocks noChangeAspect="1"/>
          </p:cNvPicPr>
          <p:nvPr/>
        </p:nvPicPr>
        <p:blipFill>
          <a:blip r:embed="rId8"/>
          <a:srcRect l="-7143" r="-7143"/>
          <a:stretch>
            <a:fillRect/>
          </a:stretch>
        </p:blipFill>
        <p:spPr>
          <a:xfrm>
            <a:off x="6379769" y="5074920"/>
            <a:ext cx="114300" cy="114300"/>
          </a:xfrm>
          <a:prstGeom prst="rect">
            <a:avLst/>
          </a:prstGeom>
        </p:spPr>
      </p:pic>
      <p:sp>
        <p:nvSpPr>
          <p:cNvPr id="89" name="Text 72"/>
          <p:cNvSpPr txBox="1"/>
          <p:nvPr/>
        </p:nvSpPr>
        <p:spPr>
          <a:xfrm>
            <a:off x="6555334" y="5058461"/>
            <a:ext cx="12097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Document interpretation</a:t>
            </a:r>
            <a:endParaRPr lang="en-US" sz="900" dirty="0"/>
          </a:p>
        </p:txBody>
      </p:sp>
      <p:pic>
        <p:nvPicPr>
          <p:cNvPr id="90" name="Image 15" descr="preencoded.png"/>
          <p:cNvPicPr>
            <a:picLocks noChangeAspect="1"/>
          </p:cNvPicPr>
          <p:nvPr/>
        </p:nvPicPr>
        <p:blipFill>
          <a:blip r:embed="rId8"/>
          <a:srcRect l="-7143" r="-7143"/>
          <a:stretch>
            <a:fillRect/>
          </a:stretch>
        </p:blipFill>
        <p:spPr>
          <a:xfrm>
            <a:off x="6379769" y="5246827"/>
            <a:ext cx="114300" cy="114300"/>
          </a:xfrm>
          <a:prstGeom prst="rect">
            <a:avLst/>
          </a:prstGeom>
        </p:spPr>
      </p:pic>
      <p:sp>
        <p:nvSpPr>
          <p:cNvPr id="91" name="Text 73"/>
          <p:cNvSpPr txBox="1"/>
          <p:nvPr/>
        </p:nvSpPr>
        <p:spPr>
          <a:xfrm>
            <a:off x="6555334" y="5229454"/>
            <a:ext cx="12765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Architecture visualization</a:t>
            </a:r>
            <a:endParaRPr lang="en-US" sz="900" dirty="0"/>
          </a:p>
        </p:txBody>
      </p:sp>
      <p:sp>
        <p:nvSpPr>
          <p:cNvPr id="92" name="Shape 74"/>
          <p:cNvSpPr/>
          <p:nvPr/>
        </p:nvSpPr>
        <p:spPr>
          <a:xfrm>
            <a:off x="457200" y="5707685"/>
            <a:ext cx="11277295" cy="504749"/>
          </a:xfrm>
          <a:prstGeom prst="roundRect">
            <a:avLst>
              <a:gd name="adj" fmla="val 27345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93" name="Image 16" descr="preencoded.png"/>
          <p:cNvPicPr>
            <a:picLocks noChangeAspect="1"/>
          </p:cNvPicPr>
          <p:nvPr/>
        </p:nvPicPr>
        <p:blipFill>
          <a:blip r:embed="rId9"/>
          <a:srcRect l="-1773" r="-1773"/>
          <a:stretch>
            <a:fillRect/>
          </a:stretch>
        </p:blipFill>
        <p:spPr>
          <a:xfrm>
            <a:off x="619049" y="5873191"/>
            <a:ext cx="133502" cy="171907"/>
          </a:xfrm>
          <a:prstGeom prst="rect">
            <a:avLst/>
          </a:prstGeom>
        </p:spPr>
      </p:pic>
      <p:sp>
        <p:nvSpPr>
          <p:cNvPr id="94" name="Text 75"/>
          <p:cNvSpPr txBox="1"/>
          <p:nvPr/>
        </p:nvSpPr>
        <p:spPr>
          <a:xfrm>
            <a:off x="866851" y="5797296"/>
            <a:ext cx="261518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2410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 Advice: Combinations beat single tools</a:t>
            </a:r>
            <a:endParaRPr lang="en-US" sz="1000" dirty="0"/>
          </a:p>
        </p:txBody>
      </p:sp>
      <p:sp>
        <p:nvSpPr>
          <p:cNvPr id="95" name="Text 76"/>
          <p:cNvSpPr txBox="1"/>
          <p:nvPr/>
        </p:nvSpPr>
        <p:spPr>
          <a:xfrm>
            <a:off x="866851" y="5996635"/>
            <a:ext cx="49057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2410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Recommended Research Combo: AI-Native IDE (for building projects) + CLI Tools (for deep reasoning)</a:t>
            </a:r>
            <a:endParaRPr lang="en-US" sz="900" dirty="0"/>
          </a:p>
        </p:txBody>
      </p:sp>
      <p:sp>
        <p:nvSpPr>
          <p:cNvPr id="96" name="Shape 77"/>
          <p:cNvSpPr/>
          <p:nvPr/>
        </p:nvSpPr>
        <p:spPr>
          <a:xfrm>
            <a:off x="10360152" y="5834786"/>
            <a:ext cx="1218895" cy="247802"/>
          </a:xfrm>
          <a:prstGeom prst="roundRect">
            <a:avLst>
              <a:gd name="adj" fmla="val 567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97" name="Image 17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0446106" y="5896966"/>
            <a:ext cx="114300" cy="114300"/>
          </a:xfrm>
          <a:prstGeom prst="rect">
            <a:avLst/>
          </a:prstGeom>
        </p:spPr>
      </p:pic>
      <p:sp>
        <p:nvSpPr>
          <p:cNvPr id="98" name="Text 78"/>
          <p:cNvSpPr txBox="1"/>
          <p:nvPr/>
        </p:nvSpPr>
        <p:spPr>
          <a:xfrm>
            <a:off x="10597896" y="5892394"/>
            <a:ext cx="9811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2410C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Updated 2025 Data</a:t>
            </a:r>
            <a:endParaRPr lang="en-US" sz="900" dirty="0"/>
          </a:p>
        </p:txBody>
      </p:sp>
      <p:sp>
        <p:nvSpPr>
          <p:cNvPr id="99" name="Shape 79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0" name="Text 80"/>
          <p:cNvSpPr txBox="1"/>
          <p:nvPr/>
        </p:nvSpPr>
        <p:spPr>
          <a:xfrm>
            <a:off x="11582705" y="6429146"/>
            <a:ext cx="2670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3368650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2.2 AI-Native IDEs (Part I)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076395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390034" y="295351"/>
            <a:ext cx="28200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Cursor / Windsurf / Antigravity Comparison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067105"/>
            <a:ext cx="3610051" cy="4839005"/>
          </a:xfrm>
          <a:prstGeom prst="roundRect">
            <a:avLst>
              <a:gd name="adj" fmla="val 802"/>
            </a:avLst>
          </a:prstGeom>
          <a:solidFill>
            <a:srgbClr val="FFFFFF"/>
          </a:solidFill>
          <a:ln w="50800">
            <a:solidFill>
              <a:srgbClr val="3B82F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4944" y="2067458"/>
            <a:ext cx="3133649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0" name="Text 8"/>
          <p:cNvSpPr txBox="1"/>
          <p:nvPr/>
        </p:nvSpPr>
        <p:spPr>
          <a:xfrm>
            <a:off x="694944" y="1380744"/>
            <a:ext cx="8769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Cursor</a:t>
            </a:r>
            <a:endParaRPr lang="en-US" sz="18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 l="-837" r="-837"/>
          <a:stretch>
            <a:fillRect/>
          </a:stretch>
        </p:blipFill>
        <p:spPr>
          <a:xfrm>
            <a:off x="694944" y="1733702"/>
            <a:ext cx="152705" cy="133502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1"/>
          <a:srcRect l="-837" r="-837"/>
          <a:stretch>
            <a:fillRect/>
          </a:stretch>
        </p:blipFill>
        <p:spPr>
          <a:xfrm>
            <a:off x="847649" y="1733702"/>
            <a:ext cx="152705" cy="133502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1"/>
          <a:srcRect l="-837" r="-837"/>
          <a:stretch>
            <a:fillRect/>
          </a:stretch>
        </p:blipFill>
        <p:spPr>
          <a:xfrm>
            <a:off x="1000354" y="1733702"/>
            <a:ext cx="152705" cy="133502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1"/>
          <a:srcRect l="-837" r="-837"/>
          <a:stretch>
            <a:fillRect/>
          </a:stretch>
        </p:blipFill>
        <p:spPr>
          <a:xfrm>
            <a:off x="1152144" y="1733702"/>
            <a:ext cx="152705" cy="133502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"/>
          <a:srcRect l="-837" r="-837"/>
          <a:stretch>
            <a:fillRect/>
          </a:stretch>
        </p:blipFill>
        <p:spPr>
          <a:xfrm>
            <a:off x="1304849" y="1733702"/>
            <a:ext cx="152705" cy="133502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2822753" y="1333195"/>
            <a:ext cx="1009498" cy="237744"/>
          </a:xfrm>
          <a:prstGeom prst="roundRect">
            <a:avLst>
              <a:gd name="adj" fmla="val 384615"/>
            </a:avLst>
          </a:prstGeom>
          <a:solidFill>
            <a:srgbClr val="EFF6FF"/>
          </a:solidFill>
        </p:spPr>
      </p:sp>
      <p:sp>
        <p:nvSpPr>
          <p:cNvPr id="17" name="Text 10"/>
          <p:cNvSpPr txBox="1"/>
          <p:nvPr/>
        </p:nvSpPr>
        <p:spPr>
          <a:xfrm>
            <a:off x="2914193" y="1382573"/>
            <a:ext cx="9144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BENCHMARK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694944" y="2226564"/>
            <a:ext cx="3133649" cy="457200"/>
          </a:xfrm>
          <a:prstGeom prst="roundRect">
            <a:avLst>
              <a:gd name="adj" fmla="val 33333"/>
            </a:avLst>
          </a:prstGeom>
          <a:solidFill>
            <a:srgbClr val="F8FAFC"/>
          </a:solidFill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2"/>
          <a:srcRect l="-2838" r="-2838"/>
          <a:stretch>
            <a:fillRect/>
          </a:stretch>
        </p:blipFill>
        <p:spPr>
          <a:xfrm>
            <a:off x="817474" y="2384755"/>
            <a:ext cx="123444" cy="13350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16813" y="2368296"/>
            <a:ext cx="136977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$20 Pro / $40 Business</a:t>
            </a:r>
            <a:endParaRPr lang="en-US" sz="10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94944" y="2859329"/>
            <a:ext cx="133502" cy="133502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905256" y="2848356"/>
            <a:ext cx="15645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Claude 4.5 Sonnet / GPT-5.2</a:t>
            </a:r>
            <a:endParaRPr lang="en-US" sz="1000" dirty="0"/>
          </a:p>
        </p:txBody>
      </p:sp>
      <p:sp>
        <p:nvSpPr>
          <p:cNvPr id="23" name="Text 14"/>
          <p:cNvSpPr txBox="1"/>
          <p:nvPr/>
        </p:nvSpPr>
        <p:spPr>
          <a:xfrm>
            <a:off x="694944" y="3175711"/>
            <a:ext cx="253197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Agent Mode: Autonomous project-level dev</a:t>
            </a:r>
            <a:endParaRPr lang="en-US" sz="1000" dirty="0"/>
          </a:p>
        </p:txBody>
      </p:sp>
      <p:sp>
        <p:nvSpPr>
          <p:cNvPr id="24" name="Text 15"/>
          <p:cNvSpPr txBox="1"/>
          <p:nvPr/>
        </p:nvSpPr>
        <p:spPr>
          <a:xfrm>
            <a:off x="694944" y="3459175"/>
            <a:ext cx="246522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Composer: Multi-file editing &amp; refactoring</a:t>
            </a:r>
            <a:endParaRPr lang="en-US" sz="1000" dirty="0"/>
          </a:p>
        </p:txBody>
      </p:sp>
      <p:sp>
        <p:nvSpPr>
          <p:cNvPr id="25" name="Text 16"/>
          <p:cNvSpPr txBox="1"/>
          <p:nvPr/>
        </p:nvSpPr>
        <p:spPr>
          <a:xfrm>
            <a:off x="694944" y="3742639"/>
            <a:ext cx="227502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@Symbols: Precise context referencing</a:t>
            </a:r>
            <a:endParaRPr lang="en-US" sz="1000" dirty="0"/>
          </a:p>
        </p:txBody>
      </p:sp>
      <p:sp>
        <p:nvSpPr>
          <p:cNvPr id="26" name="Text 17"/>
          <p:cNvSpPr txBox="1"/>
          <p:nvPr/>
        </p:nvSpPr>
        <p:spPr>
          <a:xfrm>
            <a:off x="694944" y="4026103"/>
            <a:ext cx="206563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.cursorrules: Project-specific norms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694944" y="5271516"/>
            <a:ext cx="3133649" cy="400507"/>
          </a:xfrm>
          <a:prstGeom prst="roundRect">
            <a:avLst>
              <a:gd name="adj" fmla="val 32616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38428" y="5388559"/>
            <a:ext cx="133502" cy="13350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309421" y="5391302"/>
            <a:ext cx="217444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Research Value: Complex Algorithms</a:t>
            </a:r>
            <a:endParaRPr lang="en-US" sz="1000" dirty="0"/>
          </a:p>
        </p:txBody>
      </p:sp>
      <p:sp>
        <p:nvSpPr>
          <p:cNvPr id="30" name="Shape 20"/>
          <p:cNvSpPr/>
          <p:nvPr/>
        </p:nvSpPr>
        <p:spPr>
          <a:xfrm>
            <a:off x="4292194" y="1067105"/>
            <a:ext cx="3610051" cy="4839005"/>
          </a:xfrm>
          <a:prstGeom prst="roundRect">
            <a:avLst>
              <a:gd name="adj" fmla="val 802"/>
            </a:avLst>
          </a:prstGeom>
          <a:solidFill>
            <a:srgbClr val="FFFFFF"/>
          </a:solidFill>
          <a:ln w="50800">
            <a:solidFill>
              <a:srgbClr val="10B981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4530852" y="2067458"/>
            <a:ext cx="3133649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2" name="Text 22"/>
          <p:cNvSpPr txBox="1"/>
          <p:nvPr/>
        </p:nvSpPr>
        <p:spPr>
          <a:xfrm>
            <a:off x="4530852" y="1380744"/>
            <a:ext cx="1114654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Windsurf</a:t>
            </a:r>
            <a:endParaRPr lang="en-US" sz="18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"/>
          <a:srcRect l="-837" r="-837"/>
          <a:stretch>
            <a:fillRect/>
          </a:stretch>
        </p:blipFill>
        <p:spPr>
          <a:xfrm>
            <a:off x="4530852" y="1733702"/>
            <a:ext cx="152705" cy="133502"/>
          </a:xfrm>
          <a:prstGeom prst="rect">
            <a:avLst/>
          </a:prstGeom>
        </p:spPr>
      </p:pic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"/>
          <a:srcRect l="-837" r="-837"/>
          <a:stretch>
            <a:fillRect/>
          </a:stretch>
        </p:blipFill>
        <p:spPr>
          <a:xfrm>
            <a:off x="4682642" y="1733702"/>
            <a:ext cx="152705" cy="133502"/>
          </a:xfrm>
          <a:prstGeom prst="rect">
            <a:avLst/>
          </a:prstGeom>
        </p:spPr>
      </p:pic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"/>
          <a:srcRect l="-837" r="-837"/>
          <a:stretch>
            <a:fillRect/>
          </a:stretch>
        </p:blipFill>
        <p:spPr>
          <a:xfrm>
            <a:off x="4835347" y="1733702"/>
            <a:ext cx="152705" cy="133502"/>
          </a:xfrm>
          <a:prstGeom prst="rect">
            <a:avLst/>
          </a:prstGeom>
        </p:spPr>
      </p:pic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1"/>
          <a:srcRect l="-837" r="-837"/>
          <a:stretch>
            <a:fillRect/>
          </a:stretch>
        </p:blipFill>
        <p:spPr>
          <a:xfrm>
            <a:off x="4988052" y="1733702"/>
            <a:ext cx="152705" cy="133502"/>
          </a:xfrm>
          <a:prstGeom prst="rect">
            <a:avLst/>
          </a:prstGeom>
        </p:spPr>
      </p:pic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5"/>
          <a:srcRect l="-837" r="-837"/>
          <a:stretch>
            <a:fillRect/>
          </a:stretch>
        </p:blipFill>
        <p:spPr>
          <a:xfrm>
            <a:off x="5139842" y="1733702"/>
            <a:ext cx="152705" cy="133502"/>
          </a:xfrm>
          <a:prstGeom prst="rect">
            <a:avLst/>
          </a:prstGeom>
        </p:spPr>
      </p:pic>
      <p:sp>
        <p:nvSpPr>
          <p:cNvPr id="38" name="Shape 23"/>
          <p:cNvSpPr/>
          <p:nvPr/>
        </p:nvSpPr>
        <p:spPr>
          <a:xfrm>
            <a:off x="6702552" y="1333195"/>
            <a:ext cx="961949" cy="237744"/>
          </a:xfrm>
          <a:prstGeom prst="roundRect">
            <a:avLst>
              <a:gd name="adj" fmla="val 384615"/>
            </a:avLst>
          </a:prstGeom>
          <a:solidFill>
            <a:srgbClr val="ECFDF5"/>
          </a:solidFill>
        </p:spPr>
      </p:sp>
      <p:sp>
        <p:nvSpPr>
          <p:cNvPr id="39" name="Text 24"/>
          <p:cNvSpPr txBox="1"/>
          <p:nvPr/>
        </p:nvSpPr>
        <p:spPr>
          <a:xfrm>
            <a:off x="6793992" y="1382573"/>
            <a:ext cx="8668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VALUE KING</a:t>
            </a:r>
            <a:endParaRPr lang="en-US" sz="900" dirty="0"/>
          </a:p>
        </p:txBody>
      </p:sp>
      <p:sp>
        <p:nvSpPr>
          <p:cNvPr id="40" name="Shape 25"/>
          <p:cNvSpPr/>
          <p:nvPr/>
        </p:nvSpPr>
        <p:spPr>
          <a:xfrm>
            <a:off x="4530852" y="2226564"/>
            <a:ext cx="3133649" cy="457200"/>
          </a:xfrm>
          <a:prstGeom prst="roundRect">
            <a:avLst>
              <a:gd name="adj" fmla="val 33333"/>
            </a:avLst>
          </a:prstGeom>
          <a:solidFill>
            <a:srgbClr val="F8FAFC"/>
          </a:solidFill>
        </p:spPr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6"/>
          <a:srcRect l="-2838" r="-2838"/>
          <a:stretch>
            <a:fillRect/>
          </a:stretch>
        </p:blipFill>
        <p:spPr>
          <a:xfrm>
            <a:off x="4652467" y="2384755"/>
            <a:ext cx="123444" cy="133502"/>
          </a:xfrm>
          <a:prstGeom prst="rect">
            <a:avLst/>
          </a:prstGeom>
        </p:spPr>
      </p:pic>
      <p:sp>
        <p:nvSpPr>
          <p:cNvPr id="42" name="Text 26"/>
          <p:cNvSpPr txBox="1"/>
          <p:nvPr/>
        </p:nvSpPr>
        <p:spPr>
          <a:xfrm>
            <a:off x="4852721" y="2368296"/>
            <a:ext cx="139903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$15/mo (~1000 credits)</a:t>
            </a:r>
            <a:endParaRPr lang="en-US" sz="1000" dirty="0"/>
          </a:p>
        </p:txBody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530852" y="2859329"/>
            <a:ext cx="133502" cy="133502"/>
          </a:xfrm>
          <a:prstGeom prst="rect">
            <a:avLst/>
          </a:prstGeom>
        </p:spPr>
      </p:pic>
      <p:sp>
        <p:nvSpPr>
          <p:cNvPr id="44" name="Text 27"/>
          <p:cNvSpPr txBox="1"/>
          <p:nvPr/>
        </p:nvSpPr>
        <p:spPr>
          <a:xfrm>
            <a:off x="4740275" y="2848610"/>
            <a:ext cx="2066290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Cascade Flow / Claude4.5 / GPT 5.2</a:t>
            </a:r>
            <a:endParaRPr lang="en-US" sz="1000" dirty="0"/>
          </a:p>
        </p:txBody>
      </p:sp>
      <p:sp>
        <p:nvSpPr>
          <p:cNvPr id="45" name="Text 28"/>
          <p:cNvSpPr txBox="1"/>
          <p:nvPr/>
        </p:nvSpPr>
        <p:spPr>
          <a:xfrm>
            <a:off x="4530852" y="3175711"/>
            <a:ext cx="2227478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Cascade Flow: Iterative coding system</a:t>
            </a:r>
            <a:endParaRPr lang="en-US" sz="1000" dirty="0"/>
          </a:p>
        </p:txBody>
      </p:sp>
      <p:sp>
        <p:nvSpPr>
          <p:cNvPr id="46" name="Text 29"/>
          <p:cNvSpPr txBox="1"/>
          <p:nvPr/>
        </p:nvSpPr>
        <p:spPr>
          <a:xfrm>
            <a:off x="4530852" y="3459175"/>
            <a:ext cx="213238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Context: Strong multi-file awareness</a:t>
            </a:r>
            <a:endParaRPr lang="en-US" sz="1000" dirty="0"/>
          </a:p>
        </p:txBody>
      </p:sp>
      <p:sp>
        <p:nvSpPr>
          <p:cNvPr id="47" name="Text 30"/>
          <p:cNvSpPr txBox="1"/>
          <p:nvPr/>
        </p:nvSpPr>
        <p:spPr>
          <a:xfrm>
            <a:off x="4530852" y="3742639"/>
            <a:ext cx="181782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Cost: 25% cheaper than Cursor</a:t>
            </a:r>
            <a:endParaRPr lang="en-US" sz="1000" dirty="0"/>
          </a:p>
        </p:txBody>
      </p:sp>
      <p:sp>
        <p:nvSpPr>
          <p:cNvPr id="48" name="Text 31"/>
          <p:cNvSpPr txBox="1"/>
          <p:nvPr/>
        </p:nvSpPr>
        <p:spPr>
          <a:xfrm>
            <a:off x="4530852" y="4026103"/>
            <a:ext cx="22082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Agentic: First agent-IDE (2024 debut)</a:t>
            </a:r>
            <a:endParaRPr lang="en-US" sz="1000" dirty="0"/>
          </a:p>
        </p:txBody>
      </p:sp>
      <p:sp>
        <p:nvSpPr>
          <p:cNvPr id="49" name="Shape 32"/>
          <p:cNvSpPr/>
          <p:nvPr/>
        </p:nvSpPr>
        <p:spPr>
          <a:xfrm>
            <a:off x="4530852" y="5271516"/>
            <a:ext cx="3133649" cy="400507"/>
          </a:xfrm>
          <a:prstGeom prst="roundRect">
            <a:avLst>
              <a:gd name="adj" fmla="val 32616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8"/>
          <a:srcRect t="-1100" b="-1100"/>
          <a:stretch>
            <a:fillRect/>
          </a:stretch>
        </p:blipFill>
        <p:spPr>
          <a:xfrm>
            <a:off x="4797857" y="5388559"/>
            <a:ext cx="114300" cy="133502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4949647" y="5391302"/>
            <a:ext cx="254569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Research Value: Data Scripts &amp; Prototyping</a:t>
            </a:r>
            <a:endParaRPr lang="en-US" sz="1000" dirty="0"/>
          </a:p>
        </p:txBody>
      </p:sp>
      <p:sp>
        <p:nvSpPr>
          <p:cNvPr id="52" name="Shape 34"/>
          <p:cNvSpPr/>
          <p:nvPr/>
        </p:nvSpPr>
        <p:spPr>
          <a:xfrm>
            <a:off x="8128102" y="1067105"/>
            <a:ext cx="3610051" cy="4839005"/>
          </a:xfrm>
          <a:prstGeom prst="roundRect">
            <a:avLst>
              <a:gd name="adj" fmla="val 802"/>
            </a:avLst>
          </a:prstGeom>
          <a:solidFill>
            <a:srgbClr val="FFFFFF"/>
          </a:solidFill>
          <a:ln w="50800">
            <a:solidFill>
              <a:srgbClr val="8B5CF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3" name="Shape 35"/>
          <p:cNvSpPr/>
          <p:nvPr/>
        </p:nvSpPr>
        <p:spPr>
          <a:xfrm>
            <a:off x="8365846" y="2067458"/>
            <a:ext cx="3133649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4" name="Text 36"/>
          <p:cNvSpPr txBox="1"/>
          <p:nvPr/>
        </p:nvSpPr>
        <p:spPr>
          <a:xfrm>
            <a:off x="8365846" y="1380744"/>
            <a:ext cx="1305763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Antigravity</a:t>
            </a:r>
            <a:endParaRPr lang="en-US" sz="1800" dirty="0"/>
          </a:p>
        </p:txBody>
      </p:sp>
      <p:pic>
        <p:nvPicPr>
          <p:cNvPr id="55" name="Image 16" descr="preencoded.png"/>
          <p:cNvPicPr>
            <a:picLocks noChangeAspect="1"/>
          </p:cNvPicPr>
          <p:nvPr/>
        </p:nvPicPr>
        <p:blipFill>
          <a:blip r:embed="rId1"/>
          <a:srcRect l="-837" r="-837"/>
          <a:stretch>
            <a:fillRect/>
          </a:stretch>
        </p:blipFill>
        <p:spPr>
          <a:xfrm>
            <a:off x="8365846" y="1733702"/>
            <a:ext cx="152705" cy="133502"/>
          </a:xfrm>
          <a:prstGeom prst="rect">
            <a:avLst/>
          </a:prstGeom>
        </p:spPr>
      </p:pic>
      <p:pic>
        <p:nvPicPr>
          <p:cNvPr id="56" name="Image 17" descr="preencoded.png"/>
          <p:cNvPicPr>
            <a:picLocks noChangeAspect="1"/>
          </p:cNvPicPr>
          <p:nvPr/>
        </p:nvPicPr>
        <p:blipFill>
          <a:blip r:embed="rId1"/>
          <a:srcRect l="-837" r="-837"/>
          <a:stretch>
            <a:fillRect/>
          </a:stretch>
        </p:blipFill>
        <p:spPr>
          <a:xfrm>
            <a:off x="8518550" y="1733702"/>
            <a:ext cx="152705" cy="133502"/>
          </a:xfrm>
          <a:prstGeom prst="rect">
            <a:avLst/>
          </a:prstGeom>
        </p:spPr>
      </p:pic>
      <p:pic>
        <p:nvPicPr>
          <p:cNvPr id="57" name="Image 18" descr="preencoded.png"/>
          <p:cNvPicPr>
            <a:picLocks noChangeAspect="1"/>
          </p:cNvPicPr>
          <p:nvPr/>
        </p:nvPicPr>
        <p:blipFill>
          <a:blip r:embed="rId1"/>
          <a:srcRect l="-837" r="-837"/>
          <a:stretch>
            <a:fillRect/>
          </a:stretch>
        </p:blipFill>
        <p:spPr>
          <a:xfrm>
            <a:off x="8671255" y="1733702"/>
            <a:ext cx="152705" cy="133502"/>
          </a:xfrm>
          <a:prstGeom prst="rect">
            <a:avLst/>
          </a:prstGeom>
        </p:spPr>
      </p:pic>
      <p:pic>
        <p:nvPicPr>
          <p:cNvPr id="58" name="Image 19" descr="preencoded.png"/>
          <p:cNvPicPr>
            <a:picLocks noChangeAspect="1"/>
          </p:cNvPicPr>
          <p:nvPr/>
        </p:nvPicPr>
        <p:blipFill>
          <a:blip r:embed="rId1"/>
          <a:srcRect l="-837" r="-837"/>
          <a:stretch>
            <a:fillRect/>
          </a:stretch>
        </p:blipFill>
        <p:spPr>
          <a:xfrm>
            <a:off x="8823046" y="1733702"/>
            <a:ext cx="152705" cy="133502"/>
          </a:xfrm>
          <a:prstGeom prst="rect">
            <a:avLst/>
          </a:prstGeom>
        </p:spPr>
      </p:pic>
      <p:pic>
        <p:nvPicPr>
          <p:cNvPr id="59" name="Image 20" descr="preencoded.png"/>
          <p:cNvPicPr>
            <a:picLocks noChangeAspect="1"/>
          </p:cNvPicPr>
          <p:nvPr/>
        </p:nvPicPr>
        <p:blipFill>
          <a:blip r:embed="rId1"/>
          <a:srcRect l="-837" r="-837"/>
          <a:stretch>
            <a:fillRect/>
          </a:stretch>
        </p:blipFill>
        <p:spPr>
          <a:xfrm>
            <a:off x="8975750" y="1733702"/>
            <a:ext cx="152705" cy="133502"/>
          </a:xfrm>
          <a:prstGeom prst="rect">
            <a:avLst/>
          </a:prstGeom>
        </p:spPr>
      </p:pic>
      <p:sp>
        <p:nvSpPr>
          <p:cNvPr id="60" name="Shape 37"/>
          <p:cNvSpPr/>
          <p:nvPr/>
        </p:nvSpPr>
        <p:spPr>
          <a:xfrm>
            <a:off x="10661904" y="1333195"/>
            <a:ext cx="838505" cy="237744"/>
          </a:xfrm>
          <a:prstGeom prst="roundRect">
            <a:avLst>
              <a:gd name="adj" fmla="val 384615"/>
            </a:avLst>
          </a:prstGeom>
          <a:solidFill>
            <a:srgbClr val="F5F3FF"/>
          </a:solidFill>
        </p:spPr>
      </p:sp>
      <p:sp>
        <p:nvSpPr>
          <p:cNvPr id="61" name="Text 38"/>
          <p:cNvSpPr txBox="1"/>
          <p:nvPr/>
        </p:nvSpPr>
        <p:spPr>
          <a:xfrm>
            <a:off x="10753344" y="1382573"/>
            <a:ext cx="7434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FREE GEM</a:t>
            </a:r>
            <a:endParaRPr lang="en-US" sz="900" dirty="0"/>
          </a:p>
        </p:txBody>
      </p:sp>
      <p:sp>
        <p:nvSpPr>
          <p:cNvPr id="62" name="Shape 39"/>
          <p:cNvSpPr/>
          <p:nvPr/>
        </p:nvSpPr>
        <p:spPr>
          <a:xfrm>
            <a:off x="8365846" y="2226564"/>
            <a:ext cx="3133649" cy="457200"/>
          </a:xfrm>
          <a:prstGeom prst="roundRect">
            <a:avLst>
              <a:gd name="adj" fmla="val 33333"/>
            </a:avLst>
          </a:prstGeom>
          <a:solidFill>
            <a:srgbClr val="F8FAFC"/>
          </a:solidFill>
        </p:spPr>
      </p:sp>
      <p:pic>
        <p:nvPicPr>
          <p:cNvPr id="63" name="Image 21" descr="preencoded.png"/>
          <p:cNvPicPr>
            <a:picLocks noChangeAspect="1"/>
          </p:cNvPicPr>
          <p:nvPr/>
        </p:nvPicPr>
        <p:blipFill>
          <a:blip r:embed="rId9"/>
          <a:srcRect l="-2838" r="-2838"/>
          <a:stretch>
            <a:fillRect/>
          </a:stretch>
        </p:blipFill>
        <p:spPr>
          <a:xfrm>
            <a:off x="8488375" y="2384755"/>
            <a:ext cx="123444" cy="133502"/>
          </a:xfrm>
          <a:prstGeom prst="rect">
            <a:avLst/>
          </a:prstGeom>
        </p:spPr>
      </p:pic>
      <p:sp>
        <p:nvSpPr>
          <p:cNvPr id="64" name="Text 40"/>
          <p:cNvSpPr txBox="1"/>
          <p:nvPr/>
        </p:nvSpPr>
        <p:spPr>
          <a:xfrm>
            <a:off x="8687714" y="2368296"/>
            <a:ext cx="111282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Completely FREE</a:t>
            </a:r>
            <a:endParaRPr lang="en-US" sz="1000" dirty="0"/>
          </a:p>
        </p:txBody>
      </p:sp>
      <p:pic>
        <p:nvPicPr>
          <p:cNvPr id="65" name="Image 22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8365846" y="2859329"/>
            <a:ext cx="133502" cy="133502"/>
          </a:xfrm>
          <a:prstGeom prst="rect">
            <a:avLst/>
          </a:prstGeom>
        </p:spPr>
      </p:pic>
      <p:sp>
        <p:nvSpPr>
          <p:cNvPr id="66" name="Text 41"/>
          <p:cNvSpPr txBox="1"/>
          <p:nvPr/>
        </p:nvSpPr>
        <p:spPr>
          <a:xfrm>
            <a:off x="8575040" y="2830830"/>
            <a:ext cx="1818005" cy="199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Claude Opus 4.5 + Gemini 3.0 Pro</a:t>
            </a:r>
            <a:endParaRPr lang="en-US" sz="1000" dirty="0"/>
          </a:p>
        </p:txBody>
      </p:sp>
      <p:sp>
        <p:nvSpPr>
          <p:cNvPr id="67" name="Text 42"/>
          <p:cNvSpPr txBox="1"/>
          <p:nvPr/>
        </p:nvSpPr>
        <p:spPr>
          <a:xfrm>
            <a:off x="8365846" y="3175711"/>
            <a:ext cx="208483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Multi-Agent: Async task processing</a:t>
            </a:r>
            <a:endParaRPr lang="en-US" sz="1000" dirty="0"/>
          </a:p>
        </p:txBody>
      </p:sp>
      <p:sp>
        <p:nvSpPr>
          <p:cNvPr id="68" name="Text 43"/>
          <p:cNvSpPr txBox="1"/>
          <p:nvPr/>
        </p:nvSpPr>
        <p:spPr>
          <a:xfrm>
            <a:off x="8365846" y="3459175"/>
            <a:ext cx="260878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Cross-Platform: Sync VSCode/Web/Terminal</a:t>
            </a:r>
            <a:endParaRPr lang="en-US" sz="1000" dirty="0"/>
          </a:p>
        </p:txBody>
      </p:sp>
      <p:sp>
        <p:nvSpPr>
          <p:cNvPr id="69" name="Text 44"/>
          <p:cNvSpPr txBox="1"/>
          <p:nvPr/>
        </p:nvSpPr>
        <p:spPr>
          <a:xfrm>
            <a:off x="8365846" y="3742639"/>
            <a:ext cx="235092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Ecosystem: Seamless Google integration</a:t>
            </a:r>
            <a:endParaRPr lang="en-US" sz="1000" dirty="0"/>
          </a:p>
        </p:txBody>
      </p:sp>
      <p:sp>
        <p:nvSpPr>
          <p:cNvPr id="70" name="Text 45"/>
          <p:cNvSpPr txBox="1"/>
          <p:nvPr/>
        </p:nvSpPr>
        <p:spPr>
          <a:xfrm>
            <a:off x="8365846" y="4026103"/>
            <a:ext cx="22558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Zero Cost: Best for students/academics</a:t>
            </a:r>
            <a:endParaRPr lang="en-US" sz="1000" dirty="0"/>
          </a:p>
        </p:txBody>
      </p:sp>
      <p:sp>
        <p:nvSpPr>
          <p:cNvPr id="71" name="Shape 46"/>
          <p:cNvSpPr/>
          <p:nvPr/>
        </p:nvSpPr>
        <p:spPr>
          <a:xfrm>
            <a:off x="8365846" y="5271516"/>
            <a:ext cx="3133649" cy="400507"/>
          </a:xfrm>
          <a:prstGeom prst="roundRect">
            <a:avLst>
              <a:gd name="adj" fmla="val 32616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72" name="Image 23" descr="preencoded.png"/>
          <p:cNvPicPr>
            <a:picLocks noChangeAspect="1"/>
          </p:cNvPicPr>
          <p:nvPr/>
        </p:nvPicPr>
        <p:blipFill>
          <a:blip r:embed="rId11"/>
          <a:srcRect t="-1554" b="-1554"/>
          <a:stretch>
            <a:fillRect/>
          </a:stretch>
        </p:blipFill>
        <p:spPr>
          <a:xfrm>
            <a:off x="8710574" y="5388559"/>
            <a:ext cx="161849" cy="133502"/>
          </a:xfrm>
          <a:prstGeom prst="rect">
            <a:avLst/>
          </a:prstGeom>
        </p:spPr>
      </p:pic>
      <p:sp>
        <p:nvSpPr>
          <p:cNvPr id="73" name="Text 47"/>
          <p:cNvSpPr txBox="1"/>
          <p:nvPr/>
        </p:nvSpPr>
        <p:spPr>
          <a:xfrm>
            <a:off x="8909914" y="5391302"/>
            <a:ext cx="23454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Research Value: Students &amp; Exploration</a:t>
            </a:r>
            <a:endParaRPr lang="en-US" sz="1000" dirty="0"/>
          </a:p>
        </p:txBody>
      </p:sp>
      <p:sp>
        <p:nvSpPr>
          <p:cNvPr id="74" name="Shape 48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5" name="Text 49"/>
          <p:cNvSpPr txBox="1"/>
          <p:nvPr/>
        </p:nvSpPr>
        <p:spPr>
          <a:xfrm>
            <a:off x="11582705" y="6429146"/>
            <a:ext cx="2670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3291840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2.2 AI-Native IDEs (Part II)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999586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313225" y="295351"/>
            <a:ext cx="34198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Trae / Kiro / Augment: Specialized Solutions for 2025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90295"/>
            <a:ext cx="3610051" cy="5105095"/>
          </a:xfrm>
          <a:prstGeom prst="roundRect">
            <a:avLst>
              <a:gd name="adj" fmla="val 802"/>
            </a:avLst>
          </a:prstGeom>
          <a:solidFill>
            <a:srgbClr val="FFFFFF"/>
          </a:solidFill>
          <a:ln w="50800">
            <a:solidFill>
              <a:srgbClr val="F43F5E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1849831"/>
            <a:ext cx="3228746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0" name="Shape 8"/>
          <p:cNvSpPr/>
          <p:nvPr/>
        </p:nvSpPr>
        <p:spPr>
          <a:xfrm>
            <a:off x="649224" y="1237183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43F5E"/>
          </a:solidFill>
        </p:spPr>
      </p:sp>
      <p:sp>
        <p:nvSpPr>
          <p:cNvPr id="11" name="Text 9"/>
          <p:cNvSpPr txBox="1"/>
          <p:nvPr/>
        </p:nvSpPr>
        <p:spPr>
          <a:xfrm>
            <a:off x="808330" y="1294790"/>
            <a:ext cx="314554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28954" y="1201522"/>
            <a:ext cx="551383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Trae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28954" y="1476756"/>
            <a:ext cx="905256" cy="247802"/>
          </a:xfrm>
          <a:prstGeom prst="roundRect">
            <a:avLst>
              <a:gd name="adj" fmla="val 56770"/>
            </a:avLst>
          </a:prstGeom>
          <a:solidFill>
            <a:srgbClr val="DCFCE7"/>
          </a:solidFill>
        </p:spPr>
      </p:sp>
      <p:sp>
        <p:nvSpPr>
          <p:cNvPr id="14" name="Text 12"/>
          <p:cNvSpPr txBox="1"/>
          <p:nvPr/>
        </p:nvSpPr>
        <p:spPr>
          <a:xfrm>
            <a:off x="1285646" y="1514246"/>
            <a:ext cx="89428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6534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FREE (China)</a:t>
            </a:r>
            <a:endParaRPr lang="en-US" sz="10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9224" y="2034540"/>
            <a:ext cx="133502" cy="13350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43991" y="2023567"/>
            <a:ext cx="117409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Doubao / Claude 4.5</a:t>
            </a:r>
            <a:endParaRPr lang="en-US" sz="10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649224" y="2381098"/>
            <a:ext cx="105156" cy="12344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30275" y="2370125"/>
            <a:ext cx="178948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ByteDance Localized Solution</a:t>
            </a:r>
            <a:endParaRPr lang="en-US" sz="1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649224" y="2664562"/>
            <a:ext cx="105156" cy="1234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0275" y="2653589"/>
            <a:ext cx="175107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10 fast + 50 slow requests/mo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649224" y="2948026"/>
            <a:ext cx="105156" cy="1234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30275" y="2937053"/>
            <a:ext cx="188457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No proxy required, direct access</a:t>
            </a:r>
            <a:endParaRPr lang="en-US" sz="10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649224" y="3231490"/>
            <a:ext cx="105156" cy="1234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30275" y="3220517"/>
            <a:ext cx="140817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Real-time Web preview</a:t>
            </a:r>
            <a:endParaRPr lang="en-US" sz="10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649224" y="3514954"/>
            <a:ext cx="105156" cy="12344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30275" y="3503981"/>
            <a:ext cx="195133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Best for Chinese docs &amp; teaching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649224" y="5501945"/>
            <a:ext cx="3228746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Shape 20"/>
          <p:cNvSpPr/>
          <p:nvPr/>
        </p:nvSpPr>
        <p:spPr>
          <a:xfrm>
            <a:off x="649224" y="5663794"/>
            <a:ext cx="1019556" cy="237744"/>
          </a:xfrm>
          <a:prstGeom prst="roundRect">
            <a:avLst>
              <a:gd name="adj" fmla="val 384615"/>
            </a:avLst>
          </a:prstGeom>
          <a:solidFill>
            <a:srgbClr val="FFE4E6"/>
          </a:solidFill>
        </p:spPr>
      </p:sp>
      <p:sp>
        <p:nvSpPr>
          <p:cNvPr id="29" name="Text 21"/>
          <p:cNvSpPr txBox="1"/>
          <p:nvPr/>
        </p:nvSpPr>
        <p:spPr>
          <a:xfrm>
            <a:off x="740664" y="5713171"/>
            <a:ext cx="92445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E123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LOCALIZATION</a:t>
            </a:r>
            <a:endParaRPr lang="en-US" sz="9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rcRect l="-3882" r="-3882"/>
          <a:stretch>
            <a:fillRect/>
          </a:stretch>
        </p:blipFill>
        <p:spPr>
          <a:xfrm>
            <a:off x="3062326" y="5704027"/>
            <a:ext cx="161849" cy="133502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3"/>
          <a:srcRect l="-3882" r="-3882"/>
          <a:stretch>
            <a:fillRect/>
          </a:stretch>
        </p:blipFill>
        <p:spPr>
          <a:xfrm>
            <a:off x="3224174" y="5704027"/>
            <a:ext cx="161849" cy="133502"/>
          </a:xfrm>
          <a:prstGeom prst="rect">
            <a:avLst/>
          </a:prstGeom>
        </p:spPr>
      </p:pic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3"/>
          <a:srcRect l="-3882" r="-3882"/>
          <a:stretch>
            <a:fillRect/>
          </a:stretch>
        </p:blipFill>
        <p:spPr>
          <a:xfrm>
            <a:off x="3386023" y="5704027"/>
            <a:ext cx="161849" cy="133502"/>
          </a:xfrm>
          <a:prstGeom prst="rect">
            <a:avLst/>
          </a:prstGeom>
        </p:spPr>
      </p:pic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3"/>
          <a:srcRect l="-3882" r="-3882"/>
          <a:stretch>
            <a:fillRect/>
          </a:stretch>
        </p:blipFill>
        <p:spPr>
          <a:xfrm>
            <a:off x="3547872" y="5704027"/>
            <a:ext cx="161849" cy="133502"/>
          </a:xfrm>
          <a:prstGeom prst="rect">
            <a:avLst/>
          </a:prstGeom>
        </p:spPr>
      </p:pic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4"/>
          <a:srcRect l="-3882" r="-3882"/>
          <a:stretch>
            <a:fillRect/>
          </a:stretch>
        </p:blipFill>
        <p:spPr>
          <a:xfrm>
            <a:off x="3709721" y="5704027"/>
            <a:ext cx="161849" cy="133502"/>
          </a:xfrm>
          <a:prstGeom prst="rect">
            <a:avLst/>
          </a:prstGeom>
        </p:spPr>
      </p:pic>
      <p:sp>
        <p:nvSpPr>
          <p:cNvPr id="35" name="Shape 22"/>
          <p:cNvSpPr/>
          <p:nvPr/>
        </p:nvSpPr>
        <p:spPr>
          <a:xfrm>
            <a:off x="4292194" y="990295"/>
            <a:ext cx="3610051" cy="5105095"/>
          </a:xfrm>
          <a:prstGeom prst="roundRect">
            <a:avLst>
              <a:gd name="adj" fmla="val 802"/>
            </a:avLst>
          </a:prstGeom>
          <a:solidFill>
            <a:srgbClr val="FFFFFF"/>
          </a:solidFill>
          <a:ln w="50800">
            <a:solidFill>
              <a:srgbClr val="8B5CF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6" name="Shape 23"/>
          <p:cNvSpPr/>
          <p:nvPr/>
        </p:nvSpPr>
        <p:spPr>
          <a:xfrm>
            <a:off x="4485132" y="1849831"/>
            <a:ext cx="3228746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7" name="Shape 24"/>
          <p:cNvSpPr/>
          <p:nvPr/>
        </p:nvSpPr>
        <p:spPr>
          <a:xfrm>
            <a:off x="4485132" y="1237183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8B5CF6"/>
          </a:solidFill>
        </p:spPr>
      </p:sp>
      <p:sp>
        <p:nvSpPr>
          <p:cNvPr id="38" name="Text 25"/>
          <p:cNvSpPr txBox="1"/>
          <p:nvPr/>
        </p:nvSpPr>
        <p:spPr>
          <a:xfrm>
            <a:off x="4630522" y="129479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K</a:t>
            </a:r>
            <a:endParaRPr lang="en-US" sz="1800" dirty="0"/>
          </a:p>
        </p:txBody>
      </p:sp>
      <p:sp>
        <p:nvSpPr>
          <p:cNvPr id="39" name="Text 26"/>
          <p:cNvSpPr txBox="1"/>
          <p:nvPr/>
        </p:nvSpPr>
        <p:spPr>
          <a:xfrm>
            <a:off x="5063947" y="1201522"/>
            <a:ext cx="560527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Kiro</a:t>
            </a:r>
            <a:endParaRPr lang="en-US" sz="1600" dirty="0"/>
          </a:p>
        </p:txBody>
      </p:sp>
      <p:sp>
        <p:nvSpPr>
          <p:cNvPr id="40" name="Shape 27"/>
          <p:cNvSpPr/>
          <p:nvPr/>
        </p:nvSpPr>
        <p:spPr>
          <a:xfrm>
            <a:off x="5063947" y="1476756"/>
            <a:ext cx="1019556" cy="247802"/>
          </a:xfrm>
          <a:prstGeom prst="roundRect">
            <a:avLst>
              <a:gd name="adj" fmla="val 56770"/>
            </a:avLst>
          </a:prstGeom>
          <a:solidFill>
            <a:srgbClr val="E0E7FF"/>
          </a:solidFill>
        </p:spPr>
      </p:sp>
      <p:sp>
        <p:nvSpPr>
          <p:cNvPr id="41" name="Text 28"/>
          <p:cNvSpPr txBox="1"/>
          <p:nvPr/>
        </p:nvSpPr>
        <p:spPr>
          <a:xfrm>
            <a:off x="5120640" y="1514246"/>
            <a:ext cx="100858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30A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$20 / $40 / $200</a:t>
            </a:r>
            <a:endParaRPr lang="en-US" sz="1000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485132" y="2034540"/>
            <a:ext cx="133502" cy="133502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4678985" y="2023567"/>
            <a:ext cx="93543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Model Agnostic</a:t>
            </a:r>
            <a:endParaRPr lang="en-US" sz="1000" dirty="0"/>
          </a:p>
        </p:txBody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4485132" y="2381098"/>
            <a:ext cx="105156" cy="123444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4666183" y="2370125"/>
            <a:ext cx="197053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Spec-Driven Development (SDD)</a:t>
            </a:r>
            <a:endParaRPr lang="en-US" sz="1000" dirty="0"/>
          </a:p>
        </p:txBody>
      </p:sp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4485132" y="2664562"/>
            <a:ext cx="105156" cy="123444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4666183" y="2653589"/>
            <a:ext cx="186537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Auto-maintained Memory Bank</a:t>
            </a:r>
            <a:endParaRPr lang="en-US" sz="1000" dirty="0"/>
          </a:p>
        </p:txBody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4485132" y="2948026"/>
            <a:ext cx="105156" cy="123444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4666183" y="2937053"/>
            <a:ext cx="204642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Production-grade quality assurance</a:t>
            </a:r>
            <a:endParaRPr lang="en-US" sz="10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4485132" y="3231490"/>
            <a:ext cx="105156" cy="123444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4666183" y="3220517"/>
            <a:ext cx="189372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Enforced "Docs First" workflow</a:t>
            </a:r>
            <a:endParaRPr lang="en-US" sz="1000" dirty="0"/>
          </a:p>
        </p:txBody>
      </p:sp>
      <p:pic>
        <p:nvPicPr>
          <p:cNvPr id="52" name="Image 16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4485132" y="3514954"/>
            <a:ext cx="105156" cy="123444"/>
          </a:xfrm>
          <a:prstGeom prst="rect">
            <a:avLst/>
          </a:prstGeom>
        </p:spPr>
      </p:pic>
      <p:sp>
        <p:nvSpPr>
          <p:cNvPr id="53" name="Text 34"/>
          <p:cNvSpPr txBox="1"/>
          <p:nvPr/>
        </p:nvSpPr>
        <p:spPr>
          <a:xfrm>
            <a:off x="4666183" y="3503981"/>
            <a:ext cx="163677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Ideal for large collaboration</a:t>
            </a:r>
            <a:endParaRPr lang="en-US" sz="1000" dirty="0"/>
          </a:p>
        </p:txBody>
      </p:sp>
      <p:sp>
        <p:nvSpPr>
          <p:cNvPr id="54" name="Shape 35"/>
          <p:cNvSpPr/>
          <p:nvPr/>
        </p:nvSpPr>
        <p:spPr>
          <a:xfrm>
            <a:off x="4485132" y="5501945"/>
            <a:ext cx="3228746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5" name="Shape 36"/>
          <p:cNvSpPr/>
          <p:nvPr/>
        </p:nvSpPr>
        <p:spPr>
          <a:xfrm>
            <a:off x="4485132" y="5663794"/>
            <a:ext cx="933602" cy="237744"/>
          </a:xfrm>
          <a:prstGeom prst="roundRect">
            <a:avLst>
              <a:gd name="adj" fmla="val 384615"/>
            </a:avLst>
          </a:prstGeom>
          <a:solidFill>
            <a:srgbClr val="EDE9FE"/>
          </a:solidFill>
        </p:spPr>
      </p:sp>
      <p:sp>
        <p:nvSpPr>
          <p:cNvPr id="56" name="Text 37"/>
          <p:cNvSpPr txBox="1"/>
          <p:nvPr/>
        </p:nvSpPr>
        <p:spPr>
          <a:xfrm>
            <a:off x="4576572" y="5713171"/>
            <a:ext cx="8385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D28D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SPEC-DRIVEN</a:t>
            </a:r>
            <a:endParaRPr lang="en-US" sz="900" dirty="0"/>
          </a:p>
        </p:txBody>
      </p:sp>
      <p:pic>
        <p:nvPicPr>
          <p:cNvPr id="57" name="Image 17" descr="preencoded.png"/>
          <p:cNvPicPr>
            <a:picLocks noChangeAspect="1"/>
          </p:cNvPicPr>
          <p:nvPr/>
        </p:nvPicPr>
        <p:blipFill>
          <a:blip r:embed="rId3"/>
          <a:srcRect l="-3882" r="-3882"/>
          <a:stretch>
            <a:fillRect/>
          </a:stretch>
        </p:blipFill>
        <p:spPr>
          <a:xfrm>
            <a:off x="6897319" y="5704027"/>
            <a:ext cx="161849" cy="133502"/>
          </a:xfrm>
          <a:prstGeom prst="rect">
            <a:avLst/>
          </a:prstGeom>
        </p:spPr>
      </p:pic>
      <p:pic>
        <p:nvPicPr>
          <p:cNvPr id="58" name="Image 18" descr="preencoded.png"/>
          <p:cNvPicPr>
            <a:picLocks noChangeAspect="1"/>
          </p:cNvPicPr>
          <p:nvPr/>
        </p:nvPicPr>
        <p:blipFill>
          <a:blip r:embed="rId3"/>
          <a:srcRect l="-3882" r="-3882"/>
          <a:stretch>
            <a:fillRect/>
          </a:stretch>
        </p:blipFill>
        <p:spPr>
          <a:xfrm>
            <a:off x="7059168" y="5704027"/>
            <a:ext cx="161849" cy="133502"/>
          </a:xfrm>
          <a:prstGeom prst="rect">
            <a:avLst/>
          </a:prstGeom>
        </p:spPr>
      </p:pic>
      <p:pic>
        <p:nvPicPr>
          <p:cNvPr id="59" name="Image 19" descr="preencoded.png"/>
          <p:cNvPicPr>
            <a:picLocks noChangeAspect="1"/>
          </p:cNvPicPr>
          <p:nvPr/>
        </p:nvPicPr>
        <p:blipFill>
          <a:blip r:embed="rId3"/>
          <a:srcRect l="-3882" r="-3882"/>
          <a:stretch>
            <a:fillRect/>
          </a:stretch>
        </p:blipFill>
        <p:spPr>
          <a:xfrm>
            <a:off x="7221017" y="5704027"/>
            <a:ext cx="161849" cy="133502"/>
          </a:xfrm>
          <a:prstGeom prst="rect">
            <a:avLst/>
          </a:prstGeom>
        </p:spPr>
      </p:pic>
      <p:pic>
        <p:nvPicPr>
          <p:cNvPr id="60" name="Image 20" descr="preencoded.png"/>
          <p:cNvPicPr>
            <a:picLocks noChangeAspect="1"/>
          </p:cNvPicPr>
          <p:nvPr/>
        </p:nvPicPr>
        <p:blipFill>
          <a:blip r:embed="rId3"/>
          <a:srcRect l="-3882" r="-3882"/>
          <a:stretch>
            <a:fillRect/>
          </a:stretch>
        </p:blipFill>
        <p:spPr>
          <a:xfrm>
            <a:off x="7382866" y="5704027"/>
            <a:ext cx="161849" cy="133502"/>
          </a:xfrm>
          <a:prstGeom prst="rect">
            <a:avLst/>
          </a:prstGeom>
        </p:spPr>
      </p:pic>
      <p:pic>
        <p:nvPicPr>
          <p:cNvPr id="61" name="Image 21" descr="preencoded.png"/>
          <p:cNvPicPr>
            <a:picLocks noChangeAspect="1"/>
          </p:cNvPicPr>
          <p:nvPr/>
        </p:nvPicPr>
        <p:blipFill>
          <a:blip r:embed="rId3"/>
          <a:srcRect l="-3882" r="-3882"/>
          <a:stretch>
            <a:fillRect/>
          </a:stretch>
        </p:blipFill>
        <p:spPr>
          <a:xfrm>
            <a:off x="7544714" y="5704027"/>
            <a:ext cx="161849" cy="133502"/>
          </a:xfrm>
          <a:prstGeom prst="rect">
            <a:avLst/>
          </a:prstGeom>
        </p:spPr>
      </p:pic>
      <p:sp>
        <p:nvSpPr>
          <p:cNvPr id="62" name="Shape 38"/>
          <p:cNvSpPr/>
          <p:nvPr/>
        </p:nvSpPr>
        <p:spPr>
          <a:xfrm>
            <a:off x="8128102" y="990295"/>
            <a:ext cx="3610051" cy="5105095"/>
          </a:xfrm>
          <a:prstGeom prst="roundRect">
            <a:avLst>
              <a:gd name="adj" fmla="val 802"/>
            </a:avLst>
          </a:prstGeom>
          <a:solidFill>
            <a:srgbClr val="FFFFFF"/>
          </a:solidFill>
          <a:ln w="50800">
            <a:solidFill>
              <a:srgbClr val="10B981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3" name="Shape 39"/>
          <p:cNvSpPr/>
          <p:nvPr/>
        </p:nvSpPr>
        <p:spPr>
          <a:xfrm>
            <a:off x="8320126" y="1849831"/>
            <a:ext cx="3228746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4" name="Shape 40"/>
          <p:cNvSpPr/>
          <p:nvPr/>
        </p:nvSpPr>
        <p:spPr>
          <a:xfrm>
            <a:off x="8320126" y="1237183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10B981"/>
          </a:solidFill>
        </p:spPr>
      </p:sp>
      <p:sp>
        <p:nvSpPr>
          <p:cNvPr id="65" name="Text 41"/>
          <p:cNvSpPr txBox="1"/>
          <p:nvPr/>
        </p:nvSpPr>
        <p:spPr>
          <a:xfrm>
            <a:off x="8466430" y="129479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</a:t>
            </a:r>
            <a:endParaRPr lang="en-US" sz="1800" dirty="0"/>
          </a:p>
        </p:txBody>
      </p:sp>
      <p:sp>
        <p:nvSpPr>
          <p:cNvPr id="66" name="Text 42"/>
          <p:cNvSpPr txBox="1"/>
          <p:nvPr/>
        </p:nvSpPr>
        <p:spPr>
          <a:xfrm>
            <a:off x="8898941" y="1201522"/>
            <a:ext cx="960120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Augment</a:t>
            </a:r>
            <a:endParaRPr lang="en-US" sz="1600" dirty="0"/>
          </a:p>
        </p:txBody>
      </p:sp>
      <p:sp>
        <p:nvSpPr>
          <p:cNvPr id="67" name="Shape 43"/>
          <p:cNvSpPr/>
          <p:nvPr/>
        </p:nvSpPr>
        <p:spPr>
          <a:xfrm>
            <a:off x="8898941" y="1476756"/>
            <a:ext cx="676656" cy="247802"/>
          </a:xfrm>
          <a:prstGeom prst="roundRect">
            <a:avLst>
              <a:gd name="adj" fmla="val 56770"/>
            </a:avLst>
          </a:prstGeom>
          <a:solidFill>
            <a:srgbClr val="FEE2E2"/>
          </a:solidFill>
        </p:spPr>
      </p:sp>
      <p:sp>
        <p:nvSpPr>
          <p:cNvPr id="68" name="Text 44"/>
          <p:cNvSpPr txBox="1"/>
          <p:nvPr/>
        </p:nvSpPr>
        <p:spPr>
          <a:xfrm>
            <a:off x="8956548" y="1514246"/>
            <a:ext cx="66568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91B1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$100 / mo</a:t>
            </a:r>
            <a:endParaRPr lang="en-US" sz="1000" dirty="0"/>
          </a:p>
        </p:txBody>
      </p:sp>
      <p:pic>
        <p:nvPicPr>
          <p:cNvPr id="69" name="Image 22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320126" y="2034540"/>
            <a:ext cx="133502" cy="133502"/>
          </a:xfrm>
          <a:prstGeom prst="rect">
            <a:avLst/>
          </a:prstGeom>
        </p:spPr>
      </p:pic>
      <p:sp>
        <p:nvSpPr>
          <p:cNvPr id="70" name="Text 45"/>
          <p:cNvSpPr txBox="1"/>
          <p:nvPr/>
        </p:nvSpPr>
        <p:spPr>
          <a:xfrm>
            <a:off x="8514893" y="2023567"/>
            <a:ext cx="139263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Context Engine + GPT-5.2</a:t>
            </a:r>
            <a:endParaRPr lang="en-US" sz="1000" dirty="0"/>
          </a:p>
        </p:txBody>
      </p:sp>
      <p:pic>
        <p:nvPicPr>
          <p:cNvPr id="71" name="Image 23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8320126" y="2381098"/>
            <a:ext cx="105156" cy="123444"/>
          </a:xfrm>
          <a:prstGeom prst="rect">
            <a:avLst/>
          </a:prstGeom>
        </p:spPr>
      </p:pic>
      <p:sp>
        <p:nvSpPr>
          <p:cNvPr id="72" name="Text 46"/>
          <p:cNvSpPr txBox="1"/>
          <p:nvPr/>
        </p:nvSpPr>
        <p:spPr>
          <a:xfrm>
            <a:off x="8501177" y="2370125"/>
            <a:ext cx="195133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Extreme Context Engine (RAG+)</a:t>
            </a:r>
            <a:endParaRPr lang="en-US" sz="1000" dirty="0"/>
          </a:p>
        </p:txBody>
      </p:sp>
      <p:pic>
        <p:nvPicPr>
          <p:cNvPr id="73" name="Image 24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8320126" y="2664562"/>
            <a:ext cx="105156" cy="123444"/>
          </a:xfrm>
          <a:prstGeom prst="rect">
            <a:avLst/>
          </a:prstGeom>
        </p:spPr>
      </p:pic>
      <p:sp>
        <p:nvSpPr>
          <p:cNvPr id="74" name="Text 47"/>
          <p:cNvSpPr txBox="1"/>
          <p:nvPr/>
        </p:nvSpPr>
        <p:spPr>
          <a:xfrm>
            <a:off x="8501177" y="2653589"/>
            <a:ext cx="147492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208,000 Credits monthly</a:t>
            </a:r>
            <a:endParaRPr lang="en-US" sz="1000" dirty="0"/>
          </a:p>
        </p:txBody>
      </p:sp>
      <p:pic>
        <p:nvPicPr>
          <p:cNvPr id="75" name="Image 25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8320126" y="2948026"/>
            <a:ext cx="105156" cy="123444"/>
          </a:xfrm>
          <a:prstGeom prst="rect">
            <a:avLst/>
          </a:prstGeom>
        </p:spPr>
      </p:pic>
      <p:sp>
        <p:nvSpPr>
          <p:cNvPr id="76" name="Text 48"/>
          <p:cNvSpPr txBox="1"/>
          <p:nvPr/>
        </p:nvSpPr>
        <p:spPr>
          <a:xfrm>
            <a:off x="8501177" y="2937053"/>
            <a:ext cx="166512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Native MCP tool integration</a:t>
            </a:r>
            <a:endParaRPr lang="en-US" sz="1000" dirty="0"/>
          </a:p>
        </p:txBody>
      </p:sp>
      <p:pic>
        <p:nvPicPr>
          <p:cNvPr id="77" name="Image 26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8320126" y="3231490"/>
            <a:ext cx="105156" cy="123444"/>
          </a:xfrm>
          <a:prstGeom prst="rect">
            <a:avLst/>
          </a:prstGeom>
        </p:spPr>
      </p:pic>
      <p:sp>
        <p:nvSpPr>
          <p:cNvPr id="78" name="Text 49"/>
          <p:cNvSpPr txBox="1"/>
          <p:nvPr/>
        </p:nvSpPr>
        <p:spPr>
          <a:xfrm>
            <a:off x="8501177" y="3220517"/>
            <a:ext cx="199887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SOC 2 Type II Enterprise Security</a:t>
            </a:r>
            <a:endParaRPr lang="en-US" sz="1000" dirty="0"/>
          </a:p>
        </p:txBody>
      </p:sp>
      <p:pic>
        <p:nvPicPr>
          <p:cNvPr id="79" name="Image 27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8320126" y="3514954"/>
            <a:ext cx="105156" cy="123444"/>
          </a:xfrm>
          <a:prstGeom prst="rect">
            <a:avLst/>
          </a:prstGeom>
        </p:spPr>
      </p:pic>
      <p:sp>
        <p:nvSpPr>
          <p:cNvPr id="80" name="Text 50"/>
          <p:cNvSpPr txBox="1"/>
          <p:nvPr/>
        </p:nvSpPr>
        <p:spPr>
          <a:xfrm>
            <a:off x="8501177" y="3503981"/>
            <a:ext cx="182697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Best for huge legacy codebases</a:t>
            </a:r>
            <a:endParaRPr lang="en-US" sz="1000" dirty="0"/>
          </a:p>
        </p:txBody>
      </p:sp>
      <p:sp>
        <p:nvSpPr>
          <p:cNvPr id="81" name="Shape 51"/>
          <p:cNvSpPr/>
          <p:nvPr/>
        </p:nvSpPr>
        <p:spPr>
          <a:xfrm>
            <a:off x="8320126" y="5501945"/>
            <a:ext cx="3228746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Shape 52"/>
          <p:cNvSpPr/>
          <p:nvPr/>
        </p:nvSpPr>
        <p:spPr>
          <a:xfrm>
            <a:off x="8320126" y="5663794"/>
            <a:ext cx="1028700" cy="237744"/>
          </a:xfrm>
          <a:prstGeom prst="roundRect">
            <a:avLst>
              <a:gd name="adj" fmla="val 384615"/>
            </a:avLst>
          </a:prstGeom>
          <a:solidFill>
            <a:srgbClr val="D1FAE5"/>
          </a:solidFill>
        </p:spPr>
      </p:sp>
      <p:sp>
        <p:nvSpPr>
          <p:cNvPr id="83" name="Text 53"/>
          <p:cNvSpPr txBox="1"/>
          <p:nvPr/>
        </p:nvSpPr>
        <p:spPr>
          <a:xfrm>
            <a:off x="8411566" y="5713171"/>
            <a:ext cx="9336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4785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CONTEXT KING</a:t>
            </a:r>
            <a:endParaRPr lang="en-US" sz="900" dirty="0"/>
          </a:p>
        </p:txBody>
      </p:sp>
      <p:pic>
        <p:nvPicPr>
          <p:cNvPr id="84" name="Image 28" descr="preencoded.png"/>
          <p:cNvPicPr>
            <a:picLocks noChangeAspect="1"/>
          </p:cNvPicPr>
          <p:nvPr/>
        </p:nvPicPr>
        <p:blipFill>
          <a:blip r:embed="rId3"/>
          <a:srcRect l="-3882" r="-3882"/>
          <a:stretch>
            <a:fillRect/>
          </a:stretch>
        </p:blipFill>
        <p:spPr>
          <a:xfrm>
            <a:off x="10732313" y="5704027"/>
            <a:ext cx="161849" cy="133502"/>
          </a:xfrm>
          <a:prstGeom prst="rect">
            <a:avLst/>
          </a:prstGeom>
        </p:spPr>
      </p:pic>
      <p:pic>
        <p:nvPicPr>
          <p:cNvPr id="85" name="Image 29" descr="preencoded.png"/>
          <p:cNvPicPr>
            <a:picLocks noChangeAspect="1"/>
          </p:cNvPicPr>
          <p:nvPr/>
        </p:nvPicPr>
        <p:blipFill>
          <a:blip r:embed="rId3"/>
          <a:srcRect l="-3882" r="-3882"/>
          <a:stretch>
            <a:fillRect/>
          </a:stretch>
        </p:blipFill>
        <p:spPr>
          <a:xfrm>
            <a:off x="10895076" y="5704027"/>
            <a:ext cx="161849" cy="133502"/>
          </a:xfrm>
          <a:prstGeom prst="rect">
            <a:avLst/>
          </a:prstGeom>
        </p:spPr>
      </p:pic>
      <p:pic>
        <p:nvPicPr>
          <p:cNvPr id="86" name="Image 30" descr="preencoded.png"/>
          <p:cNvPicPr>
            <a:picLocks noChangeAspect="1"/>
          </p:cNvPicPr>
          <p:nvPr/>
        </p:nvPicPr>
        <p:blipFill>
          <a:blip r:embed="rId3"/>
          <a:srcRect l="-3882" r="-3882"/>
          <a:stretch>
            <a:fillRect/>
          </a:stretch>
        </p:blipFill>
        <p:spPr>
          <a:xfrm>
            <a:off x="11056925" y="5704027"/>
            <a:ext cx="161849" cy="133502"/>
          </a:xfrm>
          <a:prstGeom prst="rect">
            <a:avLst/>
          </a:prstGeom>
        </p:spPr>
      </p:pic>
      <p:pic>
        <p:nvPicPr>
          <p:cNvPr id="87" name="Image 31" descr="preencoded.png"/>
          <p:cNvPicPr>
            <a:picLocks noChangeAspect="1"/>
          </p:cNvPicPr>
          <p:nvPr/>
        </p:nvPicPr>
        <p:blipFill>
          <a:blip r:embed="rId3"/>
          <a:srcRect l="-3882" r="-3882"/>
          <a:stretch>
            <a:fillRect/>
          </a:stretch>
        </p:blipFill>
        <p:spPr>
          <a:xfrm>
            <a:off x="11218774" y="5704027"/>
            <a:ext cx="161849" cy="133502"/>
          </a:xfrm>
          <a:prstGeom prst="rect">
            <a:avLst/>
          </a:prstGeom>
        </p:spPr>
      </p:pic>
      <p:pic>
        <p:nvPicPr>
          <p:cNvPr id="88" name="Image 32" descr="preencoded.png"/>
          <p:cNvPicPr>
            <a:picLocks noChangeAspect="1"/>
          </p:cNvPicPr>
          <p:nvPr/>
        </p:nvPicPr>
        <p:blipFill>
          <a:blip r:embed="rId3"/>
          <a:srcRect l="-3882" r="-3882"/>
          <a:stretch>
            <a:fillRect/>
          </a:stretch>
        </p:blipFill>
        <p:spPr>
          <a:xfrm>
            <a:off x="11380622" y="5704027"/>
            <a:ext cx="161849" cy="133502"/>
          </a:xfrm>
          <a:prstGeom prst="rect">
            <a:avLst/>
          </a:prstGeom>
        </p:spPr>
      </p:pic>
      <p:sp>
        <p:nvSpPr>
          <p:cNvPr id="89" name="Shape 54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0" name="Text 55"/>
          <p:cNvSpPr txBox="1"/>
          <p:nvPr/>
        </p:nvSpPr>
        <p:spPr>
          <a:xfrm>
            <a:off x="11582705" y="6429146"/>
            <a:ext cx="2670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3054096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2.2 CLI Tools Deep Dive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756355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070909" y="295351"/>
            <a:ext cx="30486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Claude Code / Codex CLI / Gemini CLI / Droid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5524805" cy="226679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38100">
            <a:solidFill>
              <a:srgbClr val="EA580C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049" y="1476756"/>
            <a:ext cx="5201107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0" name="Shape 8"/>
          <p:cNvSpPr/>
          <p:nvPr/>
        </p:nvSpPr>
        <p:spPr>
          <a:xfrm>
            <a:off x="619049" y="1095451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FF7ED"/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 t="-43" b="-43"/>
          <a:stretch>
            <a:fillRect/>
          </a:stretch>
        </p:blipFill>
        <p:spPr>
          <a:xfrm>
            <a:off x="705002" y="1171346"/>
            <a:ext cx="133502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14984" y="1144829"/>
            <a:ext cx="110368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102352" y="1130198"/>
            <a:ext cx="724205" cy="237744"/>
          </a:xfrm>
          <a:prstGeom prst="roundRect">
            <a:avLst>
              <a:gd name="adj" fmla="val 61538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88306" y="1181405"/>
            <a:ext cx="6382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2410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PRO/MAX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19049" y="1580998"/>
            <a:ext cx="7114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 Model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570171" y="1580998"/>
            <a:ext cx="134874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Claude 4.5 Sonnet / Opus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619049" y="1840687"/>
            <a:ext cx="47274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Pricing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844491" y="1840687"/>
            <a:ext cx="107259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$20 Pro / $200 Max</a:t>
            </a:r>
            <a:endParaRPr lang="en-US" sz="9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rcRect l="-2910" r="-2910"/>
          <a:stretch>
            <a:fillRect/>
          </a:stretch>
        </p:blipFill>
        <p:spPr>
          <a:xfrm>
            <a:off x="619049" y="2141525"/>
            <a:ext cx="114300" cy="12344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94614" y="2128723"/>
            <a:ext cx="89154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Project Memory</a:t>
            </a:r>
            <a:endParaRPr lang="en-US" sz="9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2"/>
          <a:srcRect l="-2910" r="-2910"/>
          <a:stretch>
            <a:fillRect/>
          </a:stretch>
        </p:blipFill>
        <p:spPr>
          <a:xfrm>
            <a:off x="3258007" y="2141525"/>
            <a:ext cx="114300" cy="12344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432658" y="2128723"/>
            <a:ext cx="78729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200K Context</a:t>
            </a:r>
            <a:endParaRPr lang="en-US" sz="9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2"/>
          <a:srcRect l="-2910" r="-2910"/>
          <a:stretch>
            <a:fillRect/>
          </a:stretch>
        </p:blipFill>
        <p:spPr>
          <a:xfrm>
            <a:off x="619049" y="2376526"/>
            <a:ext cx="114300" cy="1234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94614" y="2362810"/>
            <a:ext cx="108265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Multi-step Decomp.</a:t>
            </a:r>
            <a:endParaRPr lang="en-US" sz="9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2"/>
          <a:srcRect l="-2910" r="-2910"/>
          <a:stretch>
            <a:fillRect/>
          </a:stretch>
        </p:blipFill>
        <p:spPr>
          <a:xfrm>
            <a:off x="3258007" y="2376526"/>
            <a:ext cx="114300" cy="1234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432658" y="2362810"/>
            <a:ext cx="109179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Deep Code Analysis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619049" y="2672791"/>
            <a:ext cx="5201107" cy="342900"/>
          </a:xfrm>
          <a:prstGeom prst="roundRect">
            <a:avLst>
              <a:gd name="adj" fmla="val 44444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05002" y="2777033"/>
            <a:ext cx="35625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Best For: Large project refactoring, precise paper algorithm implementation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6210605" y="914400"/>
            <a:ext cx="5524805" cy="226679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72454" y="1476756"/>
            <a:ext cx="5201107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1" name="Shape 24"/>
          <p:cNvSpPr/>
          <p:nvPr/>
        </p:nvSpPr>
        <p:spPr>
          <a:xfrm>
            <a:off x="6372454" y="1095451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ECFDF5"/>
          </a:solidFill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/>
          <a:srcRect t="-180" b="-180"/>
          <a:stretch>
            <a:fillRect/>
          </a:stretch>
        </p:blipFill>
        <p:spPr>
          <a:xfrm>
            <a:off x="6429146" y="1171346"/>
            <a:ext cx="190195" cy="15270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768389" y="1144829"/>
            <a:ext cx="97017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Codex CLI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11109046" y="1130198"/>
            <a:ext cx="466344" cy="237744"/>
          </a:xfrm>
          <a:prstGeom prst="roundRect">
            <a:avLst>
              <a:gd name="adj" fmla="val 6153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11194999" y="1181405"/>
            <a:ext cx="3813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4785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PLUS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6372454" y="1580998"/>
            <a:ext cx="7114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 Model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11111230" y="1581150"/>
            <a:ext cx="987425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  <a:sym typeface="+mn-ea"/>
              </a:rPr>
              <a:t>GPT-5.2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6372454" y="1840687"/>
            <a:ext cx="47274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Pricing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0610698" y="1840687"/>
            <a:ext cx="10543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$20 Plus / $200 Pro</a:t>
            </a:r>
            <a:endParaRPr lang="en-US" sz="90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4"/>
          <a:srcRect l="-2910" r="-2910"/>
          <a:stretch>
            <a:fillRect/>
          </a:stretch>
        </p:blipFill>
        <p:spPr>
          <a:xfrm>
            <a:off x="6372454" y="2141525"/>
            <a:ext cx="114300" cy="123444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6547104" y="2128723"/>
            <a:ext cx="102504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Native Multimodal</a:t>
            </a:r>
            <a:endParaRPr lang="en-US" sz="9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4"/>
          <a:srcRect l="-2910" r="-2910"/>
          <a:stretch>
            <a:fillRect/>
          </a:stretch>
        </p:blipFill>
        <p:spPr>
          <a:xfrm>
            <a:off x="9010498" y="2141525"/>
            <a:ext cx="114300" cy="123444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186062" y="2128723"/>
            <a:ext cx="118689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Real-time Web Search</a:t>
            </a:r>
            <a:endParaRPr lang="en-US" sz="90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4"/>
          <a:srcRect l="-2910" r="-2910"/>
          <a:stretch>
            <a:fillRect/>
          </a:stretch>
        </p:blipFill>
        <p:spPr>
          <a:xfrm>
            <a:off x="6372454" y="2376526"/>
            <a:ext cx="114300" cy="123444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6547104" y="2362810"/>
            <a:ext cx="97749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Plugin Ecosystem</a:t>
            </a:r>
            <a:endParaRPr lang="en-US" sz="900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4"/>
          <a:srcRect l="-2910" r="-2910"/>
          <a:stretch>
            <a:fillRect/>
          </a:stretch>
        </p:blipFill>
        <p:spPr>
          <a:xfrm>
            <a:off x="9010498" y="2376526"/>
            <a:ext cx="114300" cy="123444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9186062" y="2362810"/>
            <a:ext cx="108265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Fast API Integration</a:t>
            </a:r>
            <a:endParaRPr lang="en-US" sz="900" dirty="0"/>
          </a:p>
        </p:txBody>
      </p:sp>
      <p:sp>
        <p:nvSpPr>
          <p:cNvPr id="48" name="Shape 36"/>
          <p:cNvSpPr/>
          <p:nvPr/>
        </p:nvSpPr>
        <p:spPr>
          <a:xfrm>
            <a:off x="6372454" y="2672791"/>
            <a:ext cx="5201107" cy="342900"/>
          </a:xfrm>
          <a:prstGeom prst="roundRect">
            <a:avLst>
              <a:gd name="adj" fmla="val 44444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9" name="Text 37"/>
          <p:cNvSpPr txBox="1"/>
          <p:nvPr/>
        </p:nvSpPr>
        <p:spPr>
          <a:xfrm>
            <a:off x="6458407" y="2777033"/>
            <a:ext cx="29718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Best For: Rapid prototyping, API integration, multimodal tasks</a:t>
            </a:r>
            <a:endParaRPr lang="en-US" sz="900" dirty="0"/>
          </a:p>
        </p:txBody>
      </p:sp>
      <p:sp>
        <p:nvSpPr>
          <p:cNvPr id="50" name="Shape 38"/>
          <p:cNvSpPr/>
          <p:nvPr/>
        </p:nvSpPr>
        <p:spPr>
          <a:xfrm>
            <a:off x="457200" y="3406140"/>
            <a:ext cx="5524805" cy="226679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1" name="Shape 39"/>
          <p:cNvSpPr/>
          <p:nvPr/>
        </p:nvSpPr>
        <p:spPr>
          <a:xfrm>
            <a:off x="619049" y="3968496"/>
            <a:ext cx="5201107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2" name="Shape 40"/>
          <p:cNvSpPr/>
          <p:nvPr/>
        </p:nvSpPr>
        <p:spPr>
          <a:xfrm>
            <a:off x="619049" y="3587191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EFF6FF"/>
          </a:solidFill>
        </p:spPr>
      </p:sp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94944" y="3663086"/>
            <a:ext cx="152705" cy="152705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1014984" y="3636569"/>
            <a:ext cx="104607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Gemini CLI</a:t>
            </a:r>
            <a:endParaRPr lang="en-US" sz="1300" dirty="0"/>
          </a:p>
        </p:txBody>
      </p:sp>
      <p:sp>
        <p:nvSpPr>
          <p:cNvPr id="55" name="Shape 42"/>
          <p:cNvSpPr/>
          <p:nvPr/>
        </p:nvSpPr>
        <p:spPr>
          <a:xfrm>
            <a:off x="5343754" y="3621024"/>
            <a:ext cx="485546" cy="237744"/>
          </a:xfrm>
          <a:prstGeom prst="roundRect">
            <a:avLst>
              <a:gd name="adj" fmla="val 6153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6" name="Text 43"/>
          <p:cNvSpPr txBox="1"/>
          <p:nvPr/>
        </p:nvSpPr>
        <p:spPr>
          <a:xfrm>
            <a:off x="5428793" y="3673145"/>
            <a:ext cx="4005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4ED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FREE</a:t>
            </a:r>
            <a:endParaRPr lang="en-US" sz="900" dirty="0"/>
          </a:p>
        </p:txBody>
      </p:sp>
      <p:sp>
        <p:nvSpPr>
          <p:cNvPr id="57" name="Text 44"/>
          <p:cNvSpPr txBox="1"/>
          <p:nvPr/>
        </p:nvSpPr>
        <p:spPr>
          <a:xfrm>
            <a:off x="619049" y="4072738"/>
            <a:ext cx="7114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 Model</a:t>
            </a:r>
            <a:endParaRPr lang="en-US" sz="900" dirty="0"/>
          </a:p>
        </p:txBody>
      </p:sp>
      <p:sp>
        <p:nvSpPr>
          <p:cNvPr id="58" name="Text 45"/>
          <p:cNvSpPr txBox="1"/>
          <p:nvPr/>
        </p:nvSpPr>
        <p:spPr>
          <a:xfrm>
            <a:off x="5071262" y="4072738"/>
            <a:ext cx="84399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Gemini 3.0 Pro</a:t>
            </a:r>
            <a:endParaRPr lang="en-US" sz="900" dirty="0"/>
          </a:p>
        </p:txBody>
      </p:sp>
      <p:sp>
        <p:nvSpPr>
          <p:cNvPr id="59" name="Text 46"/>
          <p:cNvSpPr txBox="1"/>
          <p:nvPr/>
        </p:nvSpPr>
        <p:spPr>
          <a:xfrm>
            <a:off x="619049" y="4331513"/>
            <a:ext cx="47274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Pricing</a:t>
            </a:r>
            <a:endParaRPr lang="en-US" sz="900" dirty="0"/>
          </a:p>
        </p:txBody>
      </p:sp>
      <p:sp>
        <p:nvSpPr>
          <p:cNvPr id="60" name="Text 47"/>
          <p:cNvSpPr txBox="1"/>
          <p:nvPr/>
        </p:nvSpPr>
        <p:spPr>
          <a:xfrm>
            <a:off x="4959706" y="4331513"/>
            <a:ext cx="95829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Free (60 req/min)</a:t>
            </a:r>
            <a:endParaRPr lang="en-US" sz="900" dirty="0"/>
          </a:p>
        </p:txBody>
      </p:sp>
      <p:pic>
        <p:nvPicPr>
          <p:cNvPr id="61" name="Image 11" descr="preencoded.png"/>
          <p:cNvPicPr>
            <a:picLocks noChangeAspect="1"/>
          </p:cNvPicPr>
          <p:nvPr/>
        </p:nvPicPr>
        <p:blipFill>
          <a:blip r:embed="rId6"/>
          <a:srcRect l="-2910" r="-2910"/>
          <a:stretch>
            <a:fillRect/>
          </a:stretch>
        </p:blipFill>
        <p:spPr>
          <a:xfrm>
            <a:off x="619049" y="4633265"/>
            <a:ext cx="114300" cy="123444"/>
          </a:xfrm>
          <a:prstGeom prst="rect">
            <a:avLst/>
          </a:prstGeom>
        </p:spPr>
      </p:pic>
      <p:sp>
        <p:nvSpPr>
          <p:cNvPr id="62" name="Text 48"/>
          <p:cNvSpPr txBox="1"/>
          <p:nvPr/>
        </p:nvSpPr>
        <p:spPr>
          <a:xfrm>
            <a:off x="794614" y="4620463"/>
            <a:ext cx="113019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1M Context Window</a:t>
            </a:r>
            <a:endParaRPr lang="en-US" sz="900" dirty="0"/>
          </a:p>
        </p:txBody>
      </p:sp>
      <p:pic>
        <p:nvPicPr>
          <p:cNvPr id="63" name="Image 12" descr="preencoded.png"/>
          <p:cNvPicPr>
            <a:picLocks noChangeAspect="1"/>
          </p:cNvPicPr>
          <p:nvPr/>
        </p:nvPicPr>
        <p:blipFill>
          <a:blip r:embed="rId6"/>
          <a:srcRect l="-2910" r="-2910"/>
          <a:stretch>
            <a:fillRect/>
          </a:stretch>
        </p:blipFill>
        <p:spPr>
          <a:xfrm>
            <a:off x="3258007" y="4633265"/>
            <a:ext cx="114300" cy="123444"/>
          </a:xfrm>
          <a:prstGeom prst="rect">
            <a:avLst/>
          </a:prstGeom>
        </p:spPr>
      </p:pic>
      <p:sp>
        <p:nvSpPr>
          <p:cNvPr id="64" name="Text 49"/>
          <p:cNvSpPr txBox="1"/>
          <p:nvPr/>
        </p:nvSpPr>
        <p:spPr>
          <a:xfrm>
            <a:off x="3432658" y="4620463"/>
            <a:ext cx="9400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Gemini 3.0 Flash</a:t>
            </a:r>
            <a:endParaRPr lang="en-US" sz="900" dirty="0"/>
          </a:p>
        </p:txBody>
      </p:sp>
      <p:pic>
        <p:nvPicPr>
          <p:cNvPr id="65" name="Image 13" descr="preencoded.png"/>
          <p:cNvPicPr>
            <a:picLocks noChangeAspect="1"/>
          </p:cNvPicPr>
          <p:nvPr/>
        </p:nvPicPr>
        <p:blipFill>
          <a:blip r:embed="rId6"/>
          <a:srcRect l="-2910" r="-2910"/>
          <a:stretch>
            <a:fillRect/>
          </a:stretch>
        </p:blipFill>
        <p:spPr>
          <a:xfrm>
            <a:off x="619049" y="4868266"/>
            <a:ext cx="114300" cy="123444"/>
          </a:xfrm>
          <a:prstGeom prst="rect">
            <a:avLst/>
          </a:prstGeom>
        </p:spPr>
      </p:pic>
      <p:sp>
        <p:nvSpPr>
          <p:cNvPr id="66" name="Text 50"/>
          <p:cNvSpPr txBox="1"/>
          <p:nvPr/>
        </p:nvSpPr>
        <p:spPr>
          <a:xfrm>
            <a:off x="794614" y="4854550"/>
            <a:ext cx="113934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Zero Cost Processing</a:t>
            </a:r>
            <a:endParaRPr lang="en-US" sz="900" dirty="0"/>
          </a:p>
        </p:txBody>
      </p:sp>
      <p:pic>
        <p:nvPicPr>
          <p:cNvPr id="67" name="Image 14" descr="preencoded.png"/>
          <p:cNvPicPr>
            <a:picLocks noChangeAspect="1"/>
          </p:cNvPicPr>
          <p:nvPr/>
        </p:nvPicPr>
        <p:blipFill>
          <a:blip r:embed="rId6"/>
          <a:srcRect l="-2910" r="-2910"/>
          <a:stretch>
            <a:fillRect/>
          </a:stretch>
        </p:blipFill>
        <p:spPr>
          <a:xfrm>
            <a:off x="3258007" y="4868266"/>
            <a:ext cx="114300" cy="123444"/>
          </a:xfrm>
          <a:prstGeom prst="rect">
            <a:avLst/>
          </a:prstGeom>
        </p:spPr>
      </p:pic>
      <p:sp>
        <p:nvSpPr>
          <p:cNvPr id="68" name="Text 51"/>
          <p:cNvSpPr txBox="1"/>
          <p:nvPr/>
        </p:nvSpPr>
        <p:spPr>
          <a:xfrm>
            <a:off x="3432658" y="4854550"/>
            <a:ext cx="99669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Search Integration</a:t>
            </a:r>
            <a:endParaRPr lang="en-US" sz="900" dirty="0"/>
          </a:p>
        </p:txBody>
      </p:sp>
      <p:sp>
        <p:nvSpPr>
          <p:cNvPr id="69" name="Shape 52"/>
          <p:cNvSpPr/>
          <p:nvPr/>
        </p:nvSpPr>
        <p:spPr>
          <a:xfrm>
            <a:off x="619049" y="5164531"/>
            <a:ext cx="5201107" cy="342900"/>
          </a:xfrm>
          <a:prstGeom prst="roundRect">
            <a:avLst>
              <a:gd name="adj" fmla="val 44444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0" name="Text 53"/>
          <p:cNvSpPr txBox="1"/>
          <p:nvPr/>
        </p:nvSpPr>
        <p:spPr>
          <a:xfrm>
            <a:off x="705002" y="5269687"/>
            <a:ext cx="28008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Best For: Zero budget projects, large text analysis, students</a:t>
            </a:r>
            <a:endParaRPr lang="en-US" sz="900" dirty="0"/>
          </a:p>
        </p:txBody>
      </p:sp>
      <p:sp>
        <p:nvSpPr>
          <p:cNvPr id="71" name="Shape 54"/>
          <p:cNvSpPr/>
          <p:nvPr/>
        </p:nvSpPr>
        <p:spPr>
          <a:xfrm>
            <a:off x="6210605" y="3406140"/>
            <a:ext cx="5524805" cy="226679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38100">
            <a:solidFill>
              <a:srgbClr val="8B5CF6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2" name="Shape 55"/>
          <p:cNvSpPr/>
          <p:nvPr/>
        </p:nvSpPr>
        <p:spPr>
          <a:xfrm>
            <a:off x="6372454" y="3968496"/>
            <a:ext cx="5201107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3" name="Shape 56"/>
          <p:cNvSpPr/>
          <p:nvPr/>
        </p:nvSpPr>
        <p:spPr>
          <a:xfrm>
            <a:off x="6372454" y="3587191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5F3FF"/>
          </a:solidFill>
        </p:spPr>
      </p:sp>
      <p:pic>
        <p:nvPicPr>
          <p:cNvPr id="74" name="Image 15" descr="preencoded.png"/>
          <p:cNvPicPr>
            <a:picLocks noChangeAspect="1"/>
          </p:cNvPicPr>
          <p:nvPr/>
        </p:nvPicPr>
        <p:blipFill>
          <a:blip r:embed="rId7"/>
          <a:srcRect l="-33" r="-33"/>
          <a:stretch>
            <a:fillRect/>
          </a:stretch>
        </p:blipFill>
        <p:spPr>
          <a:xfrm>
            <a:off x="6439205" y="3663086"/>
            <a:ext cx="171907" cy="152705"/>
          </a:xfrm>
          <a:prstGeom prst="rect">
            <a:avLst/>
          </a:prstGeom>
        </p:spPr>
      </p:pic>
      <p:sp>
        <p:nvSpPr>
          <p:cNvPr id="75" name="Text 57"/>
          <p:cNvSpPr txBox="1"/>
          <p:nvPr/>
        </p:nvSpPr>
        <p:spPr>
          <a:xfrm>
            <a:off x="6768389" y="3636569"/>
            <a:ext cx="56967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Droid</a:t>
            </a:r>
            <a:endParaRPr lang="en-US" sz="1300" dirty="0"/>
          </a:p>
        </p:txBody>
      </p:sp>
      <p:sp>
        <p:nvSpPr>
          <p:cNvPr id="76" name="Shape 58"/>
          <p:cNvSpPr/>
          <p:nvPr/>
        </p:nvSpPr>
        <p:spPr>
          <a:xfrm>
            <a:off x="10851185" y="3621024"/>
            <a:ext cx="724205" cy="237744"/>
          </a:xfrm>
          <a:prstGeom prst="roundRect">
            <a:avLst>
              <a:gd name="adj" fmla="val 6153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77" name="Text 59"/>
          <p:cNvSpPr txBox="1"/>
          <p:nvPr/>
        </p:nvSpPr>
        <p:spPr>
          <a:xfrm>
            <a:off x="10936224" y="3673145"/>
            <a:ext cx="6382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D28D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FACTORY</a:t>
            </a:r>
            <a:endParaRPr lang="en-US" sz="900" dirty="0"/>
          </a:p>
        </p:txBody>
      </p:sp>
      <p:sp>
        <p:nvSpPr>
          <p:cNvPr id="78" name="Text 60"/>
          <p:cNvSpPr txBox="1"/>
          <p:nvPr/>
        </p:nvSpPr>
        <p:spPr>
          <a:xfrm>
            <a:off x="6372454" y="4072738"/>
            <a:ext cx="4828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Vendor</a:t>
            </a:r>
            <a:endParaRPr lang="en-US" sz="900" dirty="0"/>
          </a:p>
        </p:txBody>
      </p:sp>
      <p:sp>
        <p:nvSpPr>
          <p:cNvPr id="79" name="Text 61"/>
          <p:cNvSpPr txBox="1"/>
          <p:nvPr/>
        </p:nvSpPr>
        <p:spPr>
          <a:xfrm>
            <a:off x="11047781" y="4072738"/>
            <a:ext cx="62545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Factory AI</a:t>
            </a:r>
            <a:endParaRPr lang="en-US" sz="900" dirty="0"/>
          </a:p>
        </p:txBody>
      </p:sp>
      <p:sp>
        <p:nvSpPr>
          <p:cNvPr id="80" name="Text 62"/>
          <p:cNvSpPr txBox="1"/>
          <p:nvPr/>
        </p:nvSpPr>
        <p:spPr>
          <a:xfrm>
            <a:off x="6372454" y="4331513"/>
            <a:ext cx="47274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Pricing</a:t>
            </a:r>
            <a:endParaRPr lang="en-US" sz="900" dirty="0"/>
          </a:p>
        </p:txBody>
      </p:sp>
      <p:sp>
        <p:nvSpPr>
          <p:cNvPr id="81" name="Text 63"/>
          <p:cNvSpPr txBox="1"/>
          <p:nvPr/>
        </p:nvSpPr>
        <p:spPr>
          <a:xfrm>
            <a:off x="10438790" y="4331513"/>
            <a:ext cx="123444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Subscription / API Key</a:t>
            </a:r>
            <a:endParaRPr lang="en-US" sz="900" dirty="0"/>
          </a:p>
        </p:txBody>
      </p:sp>
      <p:pic>
        <p:nvPicPr>
          <p:cNvPr id="82" name="Image 16" descr="preencoded.png"/>
          <p:cNvPicPr>
            <a:picLocks noChangeAspect="1"/>
          </p:cNvPicPr>
          <p:nvPr/>
        </p:nvPicPr>
        <p:blipFill>
          <a:blip r:embed="rId8"/>
          <a:srcRect l="-2910" r="-2910"/>
          <a:stretch>
            <a:fillRect/>
          </a:stretch>
        </p:blipFill>
        <p:spPr>
          <a:xfrm>
            <a:off x="6372454" y="4633265"/>
            <a:ext cx="114300" cy="123444"/>
          </a:xfrm>
          <a:prstGeom prst="rect">
            <a:avLst/>
          </a:prstGeom>
        </p:spPr>
      </p:pic>
      <p:sp>
        <p:nvSpPr>
          <p:cNvPr id="83" name="Text 64"/>
          <p:cNvSpPr txBox="1"/>
          <p:nvPr/>
        </p:nvSpPr>
        <p:spPr>
          <a:xfrm>
            <a:off x="6547104" y="4620463"/>
            <a:ext cx="127284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Deep CI/CD Integration</a:t>
            </a:r>
            <a:endParaRPr lang="en-US" sz="900" dirty="0"/>
          </a:p>
        </p:txBody>
      </p:sp>
      <p:pic>
        <p:nvPicPr>
          <p:cNvPr id="84" name="Image 17" descr="preencoded.png"/>
          <p:cNvPicPr>
            <a:picLocks noChangeAspect="1"/>
          </p:cNvPicPr>
          <p:nvPr/>
        </p:nvPicPr>
        <p:blipFill>
          <a:blip r:embed="rId8"/>
          <a:srcRect l="-2910" r="-2910"/>
          <a:stretch>
            <a:fillRect/>
          </a:stretch>
        </p:blipFill>
        <p:spPr>
          <a:xfrm>
            <a:off x="9010498" y="4633265"/>
            <a:ext cx="114300" cy="123444"/>
          </a:xfrm>
          <a:prstGeom prst="rect">
            <a:avLst/>
          </a:prstGeom>
        </p:spPr>
      </p:pic>
      <p:sp>
        <p:nvSpPr>
          <p:cNvPr id="85" name="Text 65"/>
          <p:cNvSpPr txBox="1"/>
          <p:nvPr/>
        </p:nvSpPr>
        <p:spPr>
          <a:xfrm>
            <a:off x="9186062" y="4620463"/>
            <a:ext cx="80650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Code Isolation</a:t>
            </a:r>
            <a:endParaRPr lang="en-US" sz="900" dirty="0"/>
          </a:p>
        </p:txBody>
      </p:sp>
      <p:pic>
        <p:nvPicPr>
          <p:cNvPr id="86" name="Image 18" descr="preencoded.png"/>
          <p:cNvPicPr>
            <a:picLocks noChangeAspect="1"/>
          </p:cNvPicPr>
          <p:nvPr/>
        </p:nvPicPr>
        <p:blipFill>
          <a:blip r:embed="rId8"/>
          <a:srcRect l="-2910" r="-2910"/>
          <a:stretch>
            <a:fillRect/>
          </a:stretch>
        </p:blipFill>
        <p:spPr>
          <a:xfrm>
            <a:off x="6372454" y="4868266"/>
            <a:ext cx="114300" cy="123444"/>
          </a:xfrm>
          <a:prstGeom prst="rect">
            <a:avLst/>
          </a:prstGeom>
        </p:spPr>
      </p:pic>
      <p:sp>
        <p:nvSpPr>
          <p:cNvPr id="87" name="Text 66"/>
          <p:cNvSpPr txBox="1"/>
          <p:nvPr/>
        </p:nvSpPr>
        <p:spPr>
          <a:xfrm>
            <a:off x="6547104" y="4854550"/>
            <a:ext cx="111099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Automated Pipelines</a:t>
            </a:r>
            <a:endParaRPr lang="en-US" sz="900" dirty="0"/>
          </a:p>
        </p:txBody>
      </p:sp>
      <p:pic>
        <p:nvPicPr>
          <p:cNvPr id="88" name="Image 19" descr="preencoded.png"/>
          <p:cNvPicPr>
            <a:picLocks noChangeAspect="1"/>
          </p:cNvPicPr>
          <p:nvPr/>
        </p:nvPicPr>
        <p:blipFill>
          <a:blip r:embed="rId8"/>
          <a:srcRect l="-2910" r="-2910"/>
          <a:stretch>
            <a:fillRect/>
          </a:stretch>
        </p:blipFill>
        <p:spPr>
          <a:xfrm>
            <a:off x="9010498" y="4868266"/>
            <a:ext cx="114300" cy="123444"/>
          </a:xfrm>
          <a:prstGeom prst="rect">
            <a:avLst/>
          </a:prstGeom>
        </p:spPr>
      </p:pic>
      <p:sp>
        <p:nvSpPr>
          <p:cNvPr id="89" name="Text 67"/>
          <p:cNvSpPr txBox="1"/>
          <p:nvPr/>
        </p:nvSpPr>
        <p:spPr>
          <a:xfrm>
            <a:off x="9186062" y="4854550"/>
            <a:ext cx="121615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Enterprise Compliance</a:t>
            </a:r>
            <a:endParaRPr lang="en-US" sz="900" dirty="0"/>
          </a:p>
        </p:txBody>
      </p:sp>
      <p:sp>
        <p:nvSpPr>
          <p:cNvPr id="90" name="Shape 68"/>
          <p:cNvSpPr/>
          <p:nvPr/>
        </p:nvSpPr>
        <p:spPr>
          <a:xfrm>
            <a:off x="6372454" y="5164531"/>
            <a:ext cx="5201107" cy="342900"/>
          </a:xfrm>
          <a:prstGeom prst="roundRect">
            <a:avLst>
              <a:gd name="adj" fmla="val 44444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1" name="Text 69"/>
          <p:cNvSpPr txBox="1"/>
          <p:nvPr/>
        </p:nvSpPr>
        <p:spPr>
          <a:xfrm>
            <a:off x="6458407" y="5269687"/>
            <a:ext cx="27916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Best For: Enterprise DevOps automation, batch refactoring</a:t>
            </a:r>
            <a:endParaRPr lang="en-US" sz="900" dirty="0"/>
          </a:p>
        </p:txBody>
      </p:sp>
      <p:sp>
        <p:nvSpPr>
          <p:cNvPr id="92" name="Shape 70"/>
          <p:cNvSpPr/>
          <p:nvPr/>
        </p:nvSpPr>
        <p:spPr>
          <a:xfrm>
            <a:off x="457200" y="5790895"/>
            <a:ext cx="11277295" cy="418795"/>
          </a:xfrm>
          <a:prstGeom prst="roundRect">
            <a:avLst>
              <a:gd name="adj" fmla="val 39698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93" name="Image 20" descr="preencoded.png"/>
          <p:cNvPicPr>
            <a:picLocks noChangeAspect="1"/>
          </p:cNvPicPr>
          <p:nvPr/>
        </p:nvPicPr>
        <p:blipFill>
          <a:blip r:embed="rId9"/>
          <a:srcRect t="-842" b="-842"/>
          <a:stretch>
            <a:fillRect/>
          </a:stretch>
        </p:blipFill>
        <p:spPr>
          <a:xfrm>
            <a:off x="619049" y="5915254"/>
            <a:ext cx="190195" cy="171907"/>
          </a:xfrm>
          <a:prstGeom prst="rect">
            <a:avLst/>
          </a:prstGeom>
        </p:spPr>
      </p:pic>
      <p:sp>
        <p:nvSpPr>
          <p:cNvPr id="94" name="Text 71"/>
          <p:cNvSpPr txBox="1"/>
          <p:nvPr/>
        </p:nvSpPr>
        <p:spPr>
          <a:xfrm>
            <a:off x="886054" y="5922569"/>
            <a:ext cx="10213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803D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CLI Core Value:</a:t>
            </a:r>
            <a:endParaRPr lang="en-US" sz="1000" dirty="0"/>
          </a:p>
        </p:txBody>
      </p:sp>
      <p:sp>
        <p:nvSpPr>
          <p:cNvPr id="95" name="Text 72"/>
          <p:cNvSpPr txBox="1"/>
          <p:nvPr/>
        </p:nvSpPr>
        <p:spPr>
          <a:xfrm>
            <a:off x="1880921" y="5922569"/>
            <a:ext cx="53839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5803D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Pipeline workflows &amp; automation — "Refactor this" for huge codebases without manual intervention.</a:t>
            </a:r>
            <a:endParaRPr lang="en-US" sz="1000" dirty="0"/>
          </a:p>
        </p:txBody>
      </p:sp>
      <p:sp>
        <p:nvSpPr>
          <p:cNvPr id="96" name="Shape 73"/>
          <p:cNvSpPr/>
          <p:nvPr/>
        </p:nvSpPr>
        <p:spPr>
          <a:xfrm>
            <a:off x="8314639" y="5876849"/>
            <a:ext cx="3267151" cy="247802"/>
          </a:xfrm>
          <a:prstGeom prst="roundRect">
            <a:avLst>
              <a:gd name="adj" fmla="val 56770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7" name="Text 74"/>
          <p:cNvSpPr txBox="1"/>
          <p:nvPr/>
        </p:nvSpPr>
        <p:spPr>
          <a:xfrm>
            <a:off x="8400593" y="5934456"/>
            <a:ext cx="31821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478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gemini "refactor this" &lt; main.py &gt; main_v2.py</a:t>
            </a:r>
            <a:endParaRPr lang="en-US" sz="900" dirty="0"/>
          </a:p>
        </p:txBody>
      </p:sp>
      <p:sp>
        <p:nvSpPr>
          <p:cNvPr id="98" name="Shape 7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9" name="Text 76"/>
          <p:cNvSpPr txBox="1"/>
          <p:nvPr/>
        </p:nvSpPr>
        <p:spPr>
          <a:xfrm>
            <a:off x="11582705" y="6429146"/>
            <a:ext cx="2670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17374"/>
            <a:ext cx="5959145" cy="724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2.4 Cloud Platforms: Replit / bolt.new / Lovable / Orchids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432243" y="152705"/>
            <a:ext cx="9144" cy="4572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7746797" y="181051"/>
            <a:ext cx="3543300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Zero-setup online environments for rapid prototyping &amp; teaching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5524805" cy="2210105"/>
          </a:xfrm>
          <a:prstGeom prst="roundRect">
            <a:avLst>
              <a:gd name="adj" fmla="val 1783"/>
            </a:avLst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049" y="1095451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FFBEB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 t="-1310" b="-1310"/>
          <a:stretch>
            <a:fillRect/>
          </a:stretch>
        </p:blipFill>
        <p:spPr>
          <a:xfrm>
            <a:off x="685800" y="1181405"/>
            <a:ext cx="209398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53389" y="1147572"/>
            <a:ext cx="67299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Replit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116982" y="1148486"/>
            <a:ext cx="705002" cy="237744"/>
          </a:xfrm>
          <a:prstGeom prst="roundRect">
            <a:avLst>
              <a:gd name="adj" fmla="val 6153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202936" y="1200607"/>
            <a:ext cx="6199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Free / Paid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9049" y="1529791"/>
            <a:ext cx="5201107" cy="1429207"/>
          </a:xfrm>
          <a:prstGeom prst="roundRect">
            <a:avLst>
              <a:gd name="adj" fmla="val 2559"/>
            </a:avLst>
          </a:prstGeom>
          <a:solidFill>
            <a:srgbClr val="F8FAFC"/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rcRect l="-12112" r="-12112"/>
          <a:stretch>
            <a:fillRect/>
          </a:stretch>
        </p:blipFill>
        <p:spPr>
          <a:xfrm>
            <a:off x="710489" y="1788566"/>
            <a:ext cx="114300" cy="10515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00684" y="1767535"/>
            <a:ext cx="32881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Browser-based IDE with zero environment setup requirement</a:t>
            </a:r>
            <a:endParaRPr lang="en-US" sz="1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2"/>
          <a:srcRect l="-12112" r="-12112"/>
          <a:stretch>
            <a:fillRect/>
          </a:stretch>
        </p:blipFill>
        <p:spPr>
          <a:xfrm>
            <a:off x="710489" y="2002536"/>
            <a:ext cx="114300" cy="1051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0684" y="1981505"/>
            <a:ext cx="27834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Real-time collaborative editing (Google Docs style)</a:t>
            </a:r>
            <a:endParaRPr lang="en-US" sz="10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2"/>
          <a:srcRect l="-12112" r="-12112"/>
          <a:stretch>
            <a:fillRect/>
          </a:stretch>
        </p:blipFill>
        <p:spPr>
          <a:xfrm>
            <a:off x="710489" y="2216506"/>
            <a:ext cx="114300" cy="10515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0684" y="2195474"/>
            <a:ext cx="261244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Instant Node.js runtime &amp; one-click deployment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710489" y="2476195"/>
            <a:ext cx="5020056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16"/>
          <p:cNvSpPr txBox="1"/>
          <p:nvPr/>
        </p:nvSpPr>
        <p:spPr>
          <a:xfrm>
            <a:off x="710489" y="2565806"/>
            <a:ext cx="316839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Best for: Teaching, Demos, Quick Prototyping, Sharing Scripts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6210605" y="914400"/>
            <a:ext cx="5524805" cy="2210105"/>
          </a:xfrm>
          <a:prstGeom prst="roundRect">
            <a:avLst>
              <a:gd name="adj" fmla="val 1783"/>
            </a:avLst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372454" y="1095451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FFBEB"/>
          </a:solidFill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rcRect t="-2725" b="-2725"/>
          <a:stretch>
            <a:fillRect/>
          </a:stretch>
        </p:blipFill>
        <p:spPr>
          <a:xfrm>
            <a:off x="6472123" y="1181405"/>
            <a:ext cx="142646" cy="17190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806794" y="1147572"/>
            <a:ext cx="8732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bolt.new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10870387" y="1148486"/>
            <a:ext cx="705002" cy="237744"/>
          </a:xfrm>
          <a:prstGeom prst="roundRect">
            <a:avLst>
              <a:gd name="adj" fmla="val 6153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10956341" y="1200607"/>
            <a:ext cx="6199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Free / Paid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6372454" y="1529791"/>
            <a:ext cx="5201107" cy="1429207"/>
          </a:xfrm>
          <a:prstGeom prst="roundRect">
            <a:avLst>
              <a:gd name="adj" fmla="val 2559"/>
            </a:avLst>
          </a:prstGeom>
          <a:solidFill>
            <a:srgbClr val="F8FAFC"/>
          </a:solidFill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2"/>
          <a:srcRect l="-12112" r="-12112"/>
          <a:stretch>
            <a:fillRect/>
          </a:stretch>
        </p:blipFill>
        <p:spPr>
          <a:xfrm>
            <a:off x="6463894" y="1788566"/>
            <a:ext cx="114300" cy="10515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654089" y="1767535"/>
            <a:ext cx="30312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Modern full-stack environment based on WebContainers</a:t>
            </a:r>
            <a:endParaRPr lang="en-US" sz="10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2"/>
          <a:srcRect l="-12112" r="-12112"/>
          <a:stretch>
            <a:fillRect/>
          </a:stretch>
        </p:blipFill>
        <p:spPr>
          <a:xfrm>
            <a:off x="6463894" y="2002536"/>
            <a:ext cx="114300" cy="105156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654089" y="1981505"/>
            <a:ext cx="24597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Instant run &amp; live preview with hot-reloading</a:t>
            </a:r>
            <a:endParaRPr lang="en-US" sz="10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2"/>
          <a:srcRect l="-12112" r="-12112"/>
          <a:stretch>
            <a:fillRect/>
          </a:stretch>
        </p:blipFill>
        <p:spPr>
          <a:xfrm>
            <a:off x="6463894" y="2216506"/>
            <a:ext cx="114300" cy="105156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654089" y="2195474"/>
            <a:ext cx="245059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Seamless StackBlitz integration for web apps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6463894" y="2476195"/>
            <a:ext cx="5020056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7" name="Text 27"/>
          <p:cNvSpPr txBox="1"/>
          <p:nvPr/>
        </p:nvSpPr>
        <p:spPr>
          <a:xfrm>
            <a:off x="6463894" y="2565806"/>
            <a:ext cx="352044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Best for: Web App Development, Frontend Demos, Full-stack Projects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457200" y="3348533"/>
            <a:ext cx="5524805" cy="2210105"/>
          </a:xfrm>
          <a:prstGeom prst="roundRect">
            <a:avLst>
              <a:gd name="adj" fmla="val 1783"/>
            </a:avLst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619049" y="352958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FFBEB"/>
          </a:solidFill>
        </p:spPr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05002" y="3615538"/>
            <a:ext cx="171907" cy="171907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1053389" y="3582619"/>
            <a:ext cx="834847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Lovable</a:t>
            </a:r>
            <a:endParaRPr lang="en-US" sz="1500" dirty="0"/>
          </a:p>
        </p:txBody>
      </p:sp>
      <p:sp>
        <p:nvSpPr>
          <p:cNvPr id="42" name="Shape 31"/>
          <p:cNvSpPr/>
          <p:nvPr/>
        </p:nvSpPr>
        <p:spPr>
          <a:xfrm>
            <a:off x="5233111" y="3583534"/>
            <a:ext cx="590702" cy="237744"/>
          </a:xfrm>
          <a:prstGeom prst="roundRect">
            <a:avLst>
              <a:gd name="adj" fmla="val 61538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3" name="Text 32"/>
          <p:cNvSpPr txBox="1"/>
          <p:nvPr/>
        </p:nvSpPr>
        <p:spPr>
          <a:xfrm>
            <a:off x="5319065" y="3634740"/>
            <a:ext cx="5056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2410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~$20/mo</a:t>
            </a:r>
            <a:endParaRPr lang="en-US" sz="900" dirty="0"/>
          </a:p>
        </p:txBody>
      </p:sp>
      <p:sp>
        <p:nvSpPr>
          <p:cNvPr id="44" name="Shape 33"/>
          <p:cNvSpPr/>
          <p:nvPr/>
        </p:nvSpPr>
        <p:spPr>
          <a:xfrm>
            <a:off x="619049" y="3963924"/>
            <a:ext cx="5201107" cy="1438351"/>
          </a:xfrm>
          <a:prstGeom prst="roundRect">
            <a:avLst>
              <a:gd name="adj" fmla="val 2526"/>
            </a:avLst>
          </a:prstGeom>
          <a:solidFill>
            <a:srgbClr val="F8FAFC"/>
          </a:solidFill>
        </p:spPr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2"/>
          <a:srcRect l="-12112" r="-12112"/>
          <a:stretch>
            <a:fillRect/>
          </a:stretch>
        </p:blipFill>
        <p:spPr>
          <a:xfrm>
            <a:off x="710489" y="4222699"/>
            <a:ext cx="114300" cy="105156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900684" y="4202582"/>
            <a:ext cx="29644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Automated full-stack app generation (Product-focused)</a:t>
            </a:r>
            <a:endParaRPr lang="en-US" sz="1000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2"/>
          <a:srcRect l="-12112" r="-12112"/>
          <a:stretch>
            <a:fillRect/>
          </a:stretch>
        </p:blipFill>
        <p:spPr>
          <a:xfrm>
            <a:off x="710489" y="4437583"/>
            <a:ext cx="114300" cy="105156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900684" y="4416552"/>
            <a:ext cx="26691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High-quality UI design generation out-of-the-box</a:t>
            </a:r>
            <a:endParaRPr lang="en-US" sz="1000" dirty="0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2"/>
          <a:srcRect l="-12112" r="-12112"/>
          <a:stretch>
            <a:fillRect/>
          </a:stretch>
        </p:blipFill>
        <p:spPr>
          <a:xfrm>
            <a:off x="710489" y="4651553"/>
            <a:ext cx="114300" cy="105156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900684" y="4630522"/>
            <a:ext cx="22978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Integrated database &amp; backend logic setup</a:t>
            </a:r>
            <a:endParaRPr lang="en-US" sz="1000" dirty="0"/>
          </a:p>
        </p:txBody>
      </p:sp>
      <p:sp>
        <p:nvSpPr>
          <p:cNvPr id="51" name="Shape 37"/>
          <p:cNvSpPr/>
          <p:nvPr/>
        </p:nvSpPr>
        <p:spPr>
          <a:xfrm>
            <a:off x="710489" y="4911242"/>
            <a:ext cx="5020056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38"/>
          <p:cNvSpPr txBox="1"/>
          <p:nvPr/>
        </p:nvSpPr>
        <p:spPr>
          <a:xfrm>
            <a:off x="710489" y="5000854"/>
            <a:ext cx="314005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Best for: Rapid MVPs, Non-technical Founders, Tool Building</a:t>
            </a:r>
            <a:endParaRPr lang="en-US" sz="900" dirty="0"/>
          </a:p>
        </p:txBody>
      </p:sp>
      <p:sp>
        <p:nvSpPr>
          <p:cNvPr id="53" name="Shape 39"/>
          <p:cNvSpPr/>
          <p:nvPr/>
        </p:nvSpPr>
        <p:spPr>
          <a:xfrm>
            <a:off x="6210605" y="3348533"/>
            <a:ext cx="5524805" cy="2210105"/>
          </a:xfrm>
          <a:prstGeom prst="roundRect">
            <a:avLst>
              <a:gd name="adj" fmla="val 1783"/>
            </a:avLst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4" name="Shape 40"/>
          <p:cNvSpPr/>
          <p:nvPr/>
        </p:nvSpPr>
        <p:spPr>
          <a:xfrm>
            <a:off x="6372454" y="352958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FFBEB"/>
          </a:solidFill>
        </p:spPr>
      </p:sp>
      <p:sp>
        <p:nvSpPr>
          <p:cNvPr id="55" name="Text 41"/>
          <p:cNvSpPr txBox="1"/>
          <p:nvPr/>
        </p:nvSpPr>
        <p:spPr>
          <a:xfrm>
            <a:off x="6806794" y="3582619"/>
            <a:ext cx="834847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Orchids</a:t>
            </a:r>
            <a:endParaRPr lang="en-US" sz="1500" dirty="0"/>
          </a:p>
        </p:txBody>
      </p:sp>
      <p:sp>
        <p:nvSpPr>
          <p:cNvPr id="56" name="Shape 42"/>
          <p:cNvSpPr/>
          <p:nvPr/>
        </p:nvSpPr>
        <p:spPr>
          <a:xfrm>
            <a:off x="10916107" y="3583534"/>
            <a:ext cx="657454" cy="237744"/>
          </a:xfrm>
          <a:prstGeom prst="roundRect">
            <a:avLst>
              <a:gd name="adj" fmla="val 6153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7" name="Text 43"/>
          <p:cNvSpPr txBox="1"/>
          <p:nvPr/>
        </p:nvSpPr>
        <p:spPr>
          <a:xfrm>
            <a:off x="11001146" y="3634740"/>
            <a:ext cx="5715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Free Trial</a:t>
            </a:r>
            <a:endParaRPr lang="en-US" sz="900" dirty="0"/>
          </a:p>
        </p:txBody>
      </p:sp>
      <p:sp>
        <p:nvSpPr>
          <p:cNvPr id="58" name="Shape 44"/>
          <p:cNvSpPr/>
          <p:nvPr/>
        </p:nvSpPr>
        <p:spPr>
          <a:xfrm>
            <a:off x="6372454" y="3963924"/>
            <a:ext cx="5201107" cy="1438351"/>
          </a:xfrm>
          <a:prstGeom prst="roundRect">
            <a:avLst>
              <a:gd name="adj" fmla="val 2526"/>
            </a:avLst>
          </a:prstGeom>
          <a:solidFill>
            <a:srgbClr val="F8FAFC"/>
          </a:solidFill>
        </p:spPr>
      </p:sp>
      <p:pic>
        <p:nvPicPr>
          <p:cNvPr id="59" name="Image 12" descr="preencoded.png"/>
          <p:cNvPicPr>
            <a:picLocks noChangeAspect="1"/>
          </p:cNvPicPr>
          <p:nvPr/>
        </p:nvPicPr>
        <p:blipFill>
          <a:blip r:embed="rId2"/>
          <a:srcRect l="-12112" r="-12112"/>
          <a:stretch>
            <a:fillRect/>
          </a:stretch>
        </p:blipFill>
        <p:spPr>
          <a:xfrm>
            <a:off x="6463894" y="4222699"/>
            <a:ext cx="114300" cy="105156"/>
          </a:xfrm>
          <a:prstGeom prst="rect">
            <a:avLst/>
          </a:prstGeom>
        </p:spPr>
      </p:pic>
      <p:sp>
        <p:nvSpPr>
          <p:cNvPr id="60" name="Text 45"/>
          <p:cNvSpPr txBox="1"/>
          <p:nvPr/>
        </p:nvSpPr>
        <p:spPr>
          <a:xfrm>
            <a:off x="6654089" y="4202582"/>
            <a:ext cx="30312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Leader in UI Bench benchmarks for interface generation</a:t>
            </a:r>
            <a:endParaRPr lang="en-US" sz="1000" dirty="0"/>
          </a:p>
        </p:txBody>
      </p:sp>
      <p:pic>
        <p:nvPicPr>
          <p:cNvPr id="61" name="Image 13" descr="preencoded.png"/>
          <p:cNvPicPr>
            <a:picLocks noChangeAspect="1"/>
          </p:cNvPicPr>
          <p:nvPr/>
        </p:nvPicPr>
        <p:blipFill>
          <a:blip r:embed="rId2"/>
          <a:srcRect l="-12112" r="-12112"/>
          <a:stretch>
            <a:fillRect/>
          </a:stretch>
        </p:blipFill>
        <p:spPr>
          <a:xfrm>
            <a:off x="6463894" y="4437583"/>
            <a:ext cx="114300" cy="105156"/>
          </a:xfrm>
          <a:prstGeom prst="rect">
            <a:avLst/>
          </a:prstGeom>
        </p:spPr>
      </p:pic>
      <p:sp>
        <p:nvSpPr>
          <p:cNvPr id="62" name="Text 46"/>
          <p:cNvSpPr txBox="1"/>
          <p:nvPr/>
        </p:nvSpPr>
        <p:spPr>
          <a:xfrm>
            <a:off x="6654089" y="4416552"/>
            <a:ext cx="288859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Specialized in building complex interactive interfaces</a:t>
            </a:r>
            <a:endParaRPr lang="en-US" sz="1000" dirty="0"/>
          </a:p>
        </p:txBody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2"/>
          <a:srcRect l="-12112" r="-12112"/>
          <a:stretch>
            <a:fillRect/>
          </a:stretch>
        </p:blipFill>
        <p:spPr>
          <a:xfrm>
            <a:off x="6463894" y="4651553"/>
            <a:ext cx="114300" cy="105156"/>
          </a:xfrm>
          <a:prstGeom prst="rect">
            <a:avLst/>
          </a:prstGeom>
        </p:spPr>
      </p:pic>
      <p:sp>
        <p:nvSpPr>
          <p:cNvPr id="64" name="Text 47"/>
          <p:cNvSpPr txBox="1"/>
          <p:nvPr/>
        </p:nvSpPr>
        <p:spPr>
          <a:xfrm>
            <a:off x="6654089" y="4630522"/>
            <a:ext cx="27834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Ideal for creating visualized research tool interfaces</a:t>
            </a:r>
            <a:endParaRPr lang="en-US" sz="1000" dirty="0"/>
          </a:p>
        </p:txBody>
      </p:sp>
      <p:sp>
        <p:nvSpPr>
          <p:cNvPr id="65" name="Shape 48"/>
          <p:cNvSpPr/>
          <p:nvPr/>
        </p:nvSpPr>
        <p:spPr>
          <a:xfrm>
            <a:off x="6463894" y="4911242"/>
            <a:ext cx="5020056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49"/>
          <p:cNvSpPr txBox="1"/>
          <p:nvPr/>
        </p:nvSpPr>
        <p:spPr>
          <a:xfrm>
            <a:off x="6463894" y="5000854"/>
            <a:ext cx="371155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Best for: Research Dashboards, Experiment Control Panels, Complex UIs</a:t>
            </a:r>
            <a:endParaRPr lang="en-US" sz="900" dirty="0"/>
          </a:p>
        </p:txBody>
      </p:sp>
      <p:sp>
        <p:nvSpPr>
          <p:cNvPr id="67" name="Shape 50"/>
          <p:cNvSpPr/>
          <p:nvPr/>
        </p:nvSpPr>
        <p:spPr>
          <a:xfrm>
            <a:off x="457200" y="5676595"/>
            <a:ext cx="11277295" cy="533095"/>
          </a:xfrm>
          <a:prstGeom prst="roundRect">
            <a:avLst>
              <a:gd name="adj" fmla="val 24504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68" name="Image 15" descr="preencoded.png"/>
          <p:cNvPicPr>
            <a:picLocks noChangeAspect="1"/>
          </p:cNvPicPr>
          <p:nvPr/>
        </p:nvPicPr>
        <p:blipFill>
          <a:blip r:embed="rId5"/>
          <a:srcRect l="-1773" r="-1773"/>
          <a:stretch>
            <a:fillRect/>
          </a:stretch>
        </p:blipFill>
        <p:spPr>
          <a:xfrm>
            <a:off x="619049" y="5857646"/>
            <a:ext cx="133502" cy="171907"/>
          </a:xfrm>
          <a:prstGeom prst="rect">
            <a:avLst/>
          </a:prstGeom>
        </p:spPr>
      </p:pic>
      <p:sp>
        <p:nvSpPr>
          <p:cNvPr id="69" name="Text 51"/>
          <p:cNvSpPr txBox="1"/>
          <p:nvPr/>
        </p:nvSpPr>
        <p:spPr>
          <a:xfrm>
            <a:off x="866851" y="5781751"/>
            <a:ext cx="24725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2410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Key Insight: Accessibility vs Performance</a:t>
            </a:r>
            <a:endParaRPr lang="en-US" sz="1000" dirty="0"/>
          </a:p>
        </p:txBody>
      </p:sp>
      <p:sp>
        <p:nvSpPr>
          <p:cNvPr id="70" name="Text 52"/>
          <p:cNvSpPr txBox="1"/>
          <p:nvPr/>
        </p:nvSpPr>
        <p:spPr>
          <a:xfrm>
            <a:off x="866851" y="5982005"/>
            <a:ext cx="72969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2410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Excellent for cross-device work and teaching. Note: Be mindful of upload/download bottlenecks when handling large local datasets (e.g., GB-sized imagery).</a:t>
            </a:r>
            <a:endParaRPr lang="en-US" sz="900" dirty="0"/>
          </a:p>
        </p:txBody>
      </p:sp>
      <p:sp>
        <p:nvSpPr>
          <p:cNvPr id="71" name="Shape 53"/>
          <p:cNvSpPr/>
          <p:nvPr/>
        </p:nvSpPr>
        <p:spPr>
          <a:xfrm>
            <a:off x="10722254" y="5820156"/>
            <a:ext cx="857707" cy="247802"/>
          </a:xfrm>
          <a:prstGeom prst="roundRect">
            <a:avLst>
              <a:gd name="adj" fmla="val 567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2" name="Image 16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807294" y="5881421"/>
            <a:ext cx="114300" cy="114300"/>
          </a:xfrm>
          <a:prstGeom prst="rect">
            <a:avLst/>
          </a:prstGeom>
        </p:spPr>
      </p:pic>
      <p:sp>
        <p:nvSpPr>
          <p:cNvPr id="73" name="Text 54"/>
          <p:cNvSpPr txBox="1"/>
          <p:nvPr/>
        </p:nvSpPr>
        <p:spPr>
          <a:xfrm>
            <a:off x="10959998" y="5876849"/>
            <a:ext cx="6199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2410C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Cloud-First</a:t>
            </a:r>
            <a:endParaRPr lang="en-US" sz="900" dirty="0"/>
          </a:p>
        </p:txBody>
      </p:sp>
      <p:sp>
        <p:nvSpPr>
          <p:cNvPr id="74" name="Shape 5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5" name="Text 56"/>
          <p:cNvSpPr txBox="1"/>
          <p:nvPr/>
        </p:nvSpPr>
        <p:spPr>
          <a:xfrm>
            <a:off x="11582705" y="6429146"/>
            <a:ext cx="2670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457200" y="223114"/>
            <a:ext cx="4692701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2.3 Tool Selection Decision Tree (2025)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242255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5555894" y="295351"/>
            <a:ext cx="35341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Strategies for Tool Selection: Budget × Scenario × Skill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86407" y="1433779"/>
            <a:ext cx="9849002" cy="1380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38198" y="1595628"/>
            <a:ext cx="2276856" cy="1057046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38198" y="1595628"/>
            <a:ext cx="47549" cy="1057046"/>
          </a:xfrm>
          <a:prstGeom prst="rect">
            <a:avLst/>
          </a:prstGeom>
          <a:solidFill>
            <a:srgbClr val="10B981"/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238451" y="1741018"/>
            <a:ext cx="133502" cy="1335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447849" y="1698955"/>
            <a:ext cx="88971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Zero Budget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238451" y="1958645"/>
            <a:ext cx="1923898" cy="2286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</p:spPr>
      </p:sp>
      <p:sp>
        <p:nvSpPr>
          <p:cNvPr id="14" name="Text 11"/>
          <p:cNvSpPr txBox="1"/>
          <p:nvPr/>
        </p:nvSpPr>
        <p:spPr>
          <a:xfrm>
            <a:off x="2314346" y="2006194"/>
            <a:ext cx="22860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Antigravity + Trae + Gemini CLI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238451" y="2256739"/>
            <a:ext cx="1835201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Free powerful tools from Google &amp; ByteDance covering full workflow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460443" y="1595628"/>
            <a:ext cx="2276856" cy="1057046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60443" y="1595628"/>
            <a:ext cx="47549" cy="1057046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8" name="Text 15"/>
          <p:cNvSpPr txBox="1"/>
          <p:nvPr/>
        </p:nvSpPr>
        <p:spPr>
          <a:xfrm>
            <a:off x="4659782" y="1698955"/>
            <a:ext cx="1204265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Low Budget &lt;$20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59782" y="1958645"/>
            <a:ext cx="1923898" cy="2286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</p:spPr>
      </p:sp>
      <p:sp>
        <p:nvSpPr>
          <p:cNvPr id="20" name="Text 17"/>
          <p:cNvSpPr txBox="1"/>
          <p:nvPr/>
        </p:nvSpPr>
        <p:spPr>
          <a:xfrm>
            <a:off x="4736592" y="2006194"/>
            <a:ext cx="11146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Windsurf ($15)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659782" y="2256739"/>
            <a:ext cx="1891894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High value with Cascade Flow, ideal for students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881774" y="1595628"/>
            <a:ext cx="2276856" cy="1057046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881774" y="1595628"/>
            <a:ext cx="47549" cy="1057046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24" name="Text 21"/>
          <p:cNvSpPr txBox="1"/>
          <p:nvPr/>
        </p:nvSpPr>
        <p:spPr>
          <a:xfrm>
            <a:off x="7082028" y="1698955"/>
            <a:ext cx="113751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Standard $20-40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082028" y="1958645"/>
            <a:ext cx="1923898" cy="2286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</p:spPr>
      </p:sp>
      <p:sp>
        <p:nvSpPr>
          <p:cNvPr id="26" name="Text 23"/>
          <p:cNvSpPr txBox="1"/>
          <p:nvPr/>
        </p:nvSpPr>
        <p:spPr>
          <a:xfrm>
            <a:off x="7157923" y="2006194"/>
            <a:ext cx="12198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Cursor Pro ($20)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082028" y="2256739"/>
            <a:ext cx="1758391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Mature IDE + Free powerful CLI, industry standard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9303106" y="1595628"/>
            <a:ext cx="2276856" cy="1057046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303106" y="1595628"/>
            <a:ext cx="47549" cy="1057046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0" name="Text 27"/>
          <p:cNvSpPr txBox="1"/>
          <p:nvPr/>
        </p:nvSpPr>
        <p:spPr>
          <a:xfrm>
            <a:off x="9503359" y="1698955"/>
            <a:ext cx="111831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High End $100+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9503359" y="1958645"/>
            <a:ext cx="1923898" cy="2286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</p:spPr>
      </p:sp>
      <p:sp>
        <p:nvSpPr>
          <p:cNvPr id="32" name="Text 29"/>
          <p:cNvSpPr txBox="1"/>
          <p:nvPr/>
        </p:nvSpPr>
        <p:spPr>
          <a:xfrm>
            <a:off x="9580169" y="2006194"/>
            <a:ext cx="11430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Augment / Kiro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9503359" y="2256739"/>
            <a:ext cx="1930298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Extreme context &amp; Spec-Driven Dev, enterprise choice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1886407" y="3043123"/>
            <a:ext cx="9849002" cy="1380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038198" y="3204972"/>
            <a:ext cx="2276856" cy="1057046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2038198" y="3204972"/>
            <a:ext cx="47549" cy="1057046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7" name="Text 34"/>
          <p:cNvSpPr txBox="1"/>
          <p:nvPr/>
        </p:nvSpPr>
        <p:spPr>
          <a:xfrm>
            <a:off x="2238451" y="3308299"/>
            <a:ext cx="12618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Scripts &lt;500 Lines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2238451" y="3567989"/>
            <a:ext cx="1923898" cy="2286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</p:spPr>
      </p:sp>
      <p:sp>
        <p:nvSpPr>
          <p:cNvPr id="39" name="Text 36"/>
          <p:cNvSpPr txBox="1"/>
          <p:nvPr/>
        </p:nvSpPr>
        <p:spPr>
          <a:xfrm>
            <a:off x="2314346" y="3615538"/>
            <a:ext cx="12573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Cursor + Jupyter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2238451" y="3866998"/>
            <a:ext cx="1863547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Best for interactive analysis &amp; rapid hypothesis validation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460443" y="3204972"/>
            <a:ext cx="2276856" cy="1057046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460443" y="3204972"/>
            <a:ext cx="47549" cy="1057046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43" name="Text 40"/>
          <p:cNvSpPr txBox="1"/>
          <p:nvPr/>
        </p:nvSpPr>
        <p:spPr>
          <a:xfrm>
            <a:off x="4659782" y="3308299"/>
            <a:ext cx="1442923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Mid Project 500-2000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659782" y="3567989"/>
            <a:ext cx="1923898" cy="2286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</p:spPr>
      </p:sp>
      <p:sp>
        <p:nvSpPr>
          <p:cNvPr id="45" name="Text 42"/>
          <p:cNvSpPr txBox="1"/>
          <p:nvPr/>
        </p:nvSpPr>
        <p:spPr>
          <a:xfrm>
            <a:off x="4736592" y="3615538"/>
            <a:ext cx="13240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Windsurf / Cursor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4659782" y="3866998"/>
            <a:ext cx="1977847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Balance context understanding &amp; cost, fast iteration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881774" y="3204972"/>
            <a:ext cx="2276856" cy="1057046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6881774" y="3204972"/>
            <a:ext cx="47549" cy="1057046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49" name="Text 46"/>
          <p:cNvSpPr txBox="1"/>
          <p:nvPr/>
        </p:nvSpPr>
        <p:spPr>
          <a:xfrm>
            <a:off x="7082028" y="3308299"/>
            <a:ext cx="174741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Large System &gt;2000 Lines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082028" y="3567989"/>
            <a:ext cx="1923898" cy="2286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</p:spPr>
      </p:sp>
      <p:sp>
        <p:nvSpPr>
          <p:cNvPr id="51" name="Text 48"/>
          <p:cNvSpPr txBox="1"/>
          <p:nvPr/>
        </p:nvSpPr>
        <p:spPr>
          <a:xfrm>
            <a:off x="7157923" y="3615538"/>
            <a:ext cx="11430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Augment / Kiro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7082028" y="3866998"/>
            <a:ext cx="1882750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Huge context engine or Spec-Driven for robust architecture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9303106" y="3204972"/>
            <a:ext cx="2276856" cy="1057046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9303106" y="3204972"/>
            <a:ext cx="47549" cy="1057046"/>
          </a:xfrm>
          <a:prstGeom prst="rect">
            <a:avLst/>
          </a:prstGeom>
          <a:solidFill>
            <a:srgbClr val="F43F5E"/>
          </a:solidFill>
        </p:spPr>
      </p:sp>
      <p:pic>
        <p:nvPicPr>
          <p:cNvPr id="5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03359" y="3350362"/>
            <a:ext cx="133502" cy="133502"/>
          </a:xfrm>
          <a:prstGeom prst="rect">
            <a:avLst/>
          </a:prstGeom>
        </p:spPr>
      </p:pic>
      <p:sp>
        <p:nvSpPr>
          <p:cNvPr id="56" name="Text 52"/>
          <p:cNvSpPr txBox="1"/>
          <p:nvPr/>
        </p:nvSpPr>
        <p:spPr>
          <a:xfrm>
            <a:off x="9712757" y="3308299"/>
            <a:ext cx="135697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Algorithm Research</a:t>
            </a:r>
            <a:endParaRPr lang="en-US" sz="1100" dirty="0"/>
          </a:p>
        </p:txBody>
      </p:sp>
      <p:sp>
        <p:nvSpPr>
          <p:cNvPr id="57" name="Shape 53"/>
          <p:cNvSpPr/>
          <p:nvPr/>
        </p:nvSpPr>
        <p:spPr>
          <a:xfrm>
            <a:off x="9503359" y="3567989"/>
            <a:ext cx="1923898" cy="2286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</p:spPr>
      </p:sp>
      <p:sp>
        <p:nvSpPr>
          <p:cNvPr id="58" name="Text 54"/>
          <p:cNvSpPr txBox="1"/>
          <p:nvPr/>
        </p:nvSpPr>
        <p:spPr>
          <a:xfrm>
            <a:off x="9580169" y="3615538"/>
            <a:ext cx="18672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Claude Code + Antigravity</a:t>
            </a:r>
            <a:endParaRPr lang="en-US" sz="1200" dirty="0"/>
          </a:p>
        </p:txBody>
      </p:sp>
      <p:sp>
        <p:nvSpPr>
          <p:cNvPr id="59" name="Text 55"/>
          <p:cNvSpPr txBox="1"/>
          <p:nvPr/>
        </p:nvSpPr>
        <p:spPr>
          <a:xfrm>
            <a:off x="9503359" y="3866998"/>
            <a:ext cx="1949501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Deep reasoning &amp; multi-model collab for complex algorithms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1886407" y="4653382"/>
            <a:ext cx="9849002" cy="1380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2038198" y="4815230"/>
            <a:ext cx="3076956" cy="1057046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2" name="Shape 58"/>
          <p:cNvSpPr/>
          <p:nvPr/>
        </p:nvSpPr>
        <p:spPr>
          <a:xfrm>
            <a:off x="2038198" y="4815230"/>
            <a:ext cx="47549" cy="1057046"/>
          </a:xfrm>
          <a:prstGeom prst="rect">
            <a:avLst/>
          </a:prstGeom>
          <a:solidFill>
            <a:srgbClr val="84CC16"/>
          </a:solidFill>
        </p:spPr>
      </p:sp>
      <p:pic>
        <p:nvPicPr>
          <p:cNvPr id="63" name="Image 2" descr="preencoded.png"/>
          <p:cNvPicPr>
            <a:picLocks noChangeAspect="1"/>
          </p:cNvPicPr>
          <p:nvPr/>
        </p:nvPicPr>
        <p:blipFill>
          <a:blip r:embed="rId3"/>
          <a:srcRect l="-2838" r="-2838"/>
          <a:stretch>
            <a:fillRect/>
          </a:stretch>
        </p:blipFill>
        <p:spPr>
          <a:xfrm>
            <a:off x="2238451" y="5000854"/>
            <a:ext cx="123444" cy="133502"/>
          </a:xfrm>
          <a:prstGeom prst="rect">
            <a:avLst/>
          </a:prstGeom>
        </p:spPr>
      </p:pic>
      <p:sp>
        <p:nvSpPr>
          <p:cNvPr id="64" name="Text 59"/>
          <p:cNvSpPr txBox="1"/>
          <p:nvPr/>
        </p:nvSpPr>
        <p:spPr>
          <a:xfrm>
            <a:off x="2438705" y="4958791"/>
            <a:ext cx="68031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Beginner</a:t>
            </a:r>
            <a:endParaRPr lang="en-US" sz="1100" dirty="0"/>
          </a:p>
        </p:txBody>
      </p:sp>
      <p:sp>
        <p:nvSpPr>
          <p:cNvPr id="65" name="Shape 60"/>
          <p:cNvSpPr/>
          <p:nvPr/>
        </p:nvSpPr>
        <p:spPr>
          <a:xfrm>
            <a:off x="2238451" y="5236769"/>
            <a:ext cx="2723998" cy="267005"/>
          </a:xfrm>
          <a:prstGeom prst="roundRect">
            <a:avLst>
              <a:gd name="adj" fmla="val 48924"/>
            </a:avLst>
          </a:prstGeom>
          <a:solidFill>
            <a:srgbClr val="F1F5F9"/>
          </a:solidFill>
        </p:spPr>
      </p:sp>
      <p:sp>
        <p:nvSpPr>
          <p:cNvPr id="66" name="Text 61"/>
          <p:cNvSpPr txBox="1"/>
          <p:nvPr/>
        </p:nvSpPr>
        <p:spPr>
          <a:xfrm>
            <a:off x="2314346" y="5284318"/>
            <a:ext cx="9336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Trae / Replit</a:t>
            </a:r>
            <a:endParaRPr lang="en-US" sz="1200" dirty="0"/>
          </a:p>
        </p:txBody>
      </p:sp>
      <p:sp>
        <p:nvSpPr>
          <p:cNvPr id="67" name="Text 62"/>
          <p:cNvSpPr txBox="1"/>
          <p:nvPr/>
        </p:nvSpPr>
        <p:spPr>
          <a:xfrm>
            <a:off x="2238451" y="5566867"/>
            <a:ext cx="268285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User friendly / Zero setup, out-of-the-box experience</a:t>
            </a:r>
            <a:endParaRPr lang="en-US" sz="900" dirty="0"/>
          </a:p>
        </p:txBody>
      </p:sp>
      <p:sp>
        <p:nvSpPr>
          <p:cNvPr id="68" name="Shape 63"/>
          <p:cNvSpPr/>
          <p:nvPr/>
        </p:nvSpPr>
        <p:spPr>
          <a:xfrm>
            <a:off x="5266944" y="4815230"/>
            <a:ext cx="3076956" cy="1057046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9" name="Shape 64"/>
          <p:cNvSpPr/>
          <p:nvPr/>
        </p:nvSpPr>
        <p:spPr>
          <a:xfrm>
            <a:off x="5266944" y="4815230"/>
            <a:ext cx="47549" cy="1057046"/>
          </a:xfrm>
          <a:prstGeom prst="rect">
            <a:avLst/>
          </a:prstGeom>
          <a:solidFill>
            <a:srgbClr val="EAB308"/>
          </a:solidFill>
        </p:spPr>
      </p:sp>
      <p:pic>
        <p:nvPicPr>
          <p:cNvPr id="70" name="Image 3" descr="preencoded.png"/>
          <p:cNvPicPr>
            <a:picLocks noChangeAspect="1"/>
          </p:cNvPicPr>
          <p:nvPr/>
        </p:nvPicPr>
        <p:blipFill>
          <a:blip r:embed="rId4"/>
          <a:srcRect l="-2838" r="-2838"/>
          <a:stretch>
            <a:fillRect/>
          </a:stretch>
        </p:blipFill>
        <p:spPr>
          <a:xfrm>
            <a:off x="5467198" y="4959706"/>
            <a:ext cx="123444" cy="133502"/>
          </a:xfrm>
          <a:prstGeom prst="rect">
            <a:avLst/>
          </a:prstGeom>
        </p:spPr>
      </p:pic>
      <p:sp>
        <p:nvSpPr>
          <p:cNvPr id="71" name="Text 65"/>
          <p:cNvSpPr txBox="1"/>
          <p:nvPr/>
        </p:nvSpPr>
        <p:spPr>
          <a:xfrm>
            <a:off x="5667451" y="4918558"/>
            <a:ext cx="55687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Python</a:t>
            </a:r>
            <a:endParaRPr lang="en-US" sz="1100" dirty="0"/>
          </a:p>
        </p:txBody>
      </p:sp>
      <p:sp>
        <p:nvSpPr>
          <p:cNvPr id="72" name="Shape 66"/>
          <p:cNvSpPr/>
          <p:nvPr/>
        </p:nvSpPr>
        <p:spPr>
          <a:xfrm>
            <a:off x="5467198" y="5178247"/>
            <a:ext cx="2723998" cy="2286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</p:spPr>
      </p:sp>
      <p:sp>
        <p:nvSpPr>
          <p:cNvPr id="73" name="Text 67"/>
          <p:cNvSpPr txBox="1"/>
          <p:nvPr/>
        </p:nvSpPr>
        <p:spPr>
          <a:xfrm>
            <a:off x="5544007" y="5225796"/>
            <a:ext cx="13240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Cursor / Windsurf</a:t>
            </a:r>
            <a:endParaRPr lang="en-US" sz="1200" dirty="0"/>
          </a:p>
        </p:txBody>
      </p:sp>
      <p:sp>
        <p:nvSpPr>
          <p:cNvPr id="74" name="Text 68"/>
          <p:cNvSpPr txBox="1"/>
          <p:nvPr/>
        </p:nvSpPr>
        <p:spPr>
          <a:xfrm>
            <a:off x="5467198" y="5476342"/>
            <a:ext cx="2368296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Maximize efficiency with existing knowledge, seamless migration</a:t>
            </a:r>
            <a:endParaRPr lang="en-US" sz="900" dirty="0"/>
          </a:p>
        </p:txBody>
      </p:sp>
      <p:sp>
        <p:nvSpPr>
          <p:cNvPr id="75" name="Shape 69"/>
          <p:cNvSpPr/>
          <p:nvPr/>
        </p:nvSpPr>
        <p:spPr>
          <a:xfrm>
            <a:off x="8496605" y="4815230"/>
            <a:ext cx="3076956" cy="1057046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6" name="Shape 70"/>
          <p:cNvSpPr/>
          <p:nvPr/>
        </p:nvSpPr>
        <p:spPr>
          <a:xfrm>
            <a:off x="8496605" y="4815230"/>
            <a:ext cx="47549" cy="1057046"/>
          </a:xfrm>
          <a:prstGeom prst="rect">
            <a:avLst/>
          </a:prstGeom>
          <a:solidFill>
            <a:srgbClr val="64748B"/>
          </a:solidFill>
        </p:spPr>
      </p:sp>
      <p:pic>
        <p:nvPicPr>
          <p:cNvPr id="77" name="Image 4" descr="preencoded.png"/>
          <p:cNvPicPr>
            <a:picLocks noChangeAspect="1"/>
          </p:cNvPicPr>
          <p:nvPr/>
        </p:nvPicPr>
        <p:blipFill>
          <a:blip r:embed="rId5"/>
          <a:srcRect l="-837" r="-837"/>
          <a:stretch>
            <a:fillRect/>
          </a:stretch>
        </p:blipFill>
        <p:spPr>
          <a:xfrm>
            <a:off x="8695944" y="4959706"/>
            <a:ext cx="152705" cy="133502"/>
          </a:xfrm>
          <a:prstGeom prst="rect">
            <a:avLst/>
          </a:prstGeom>
        </p:spPr>
      </p:pic>
      <p:sp>
        <p:nvSpPr>
          <p:cNvPr id="78" name="Text 71"/>
          <p:cNvSpPr txBox="1"/>
          <p:nvPr/>
        </p:nvSpPr>
        <p:spPr>
          <a:xfrm>
            <a:off x="8924544" y="4918558"/>
            <a:ext cx="71871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CLI-First</a:t>
            </a:r>
            <a:endParaRPr lang="en-US" sz="1100" dirty="0"/>
          </a:p>
        </p:txBody>
      </p:sp>
      <p:sp>
        <p:nvSpPr>
          <p:cNvPr id="79" name="Shape 72"/>
          <p:cNvSpPr/>
          <p:nvPr/>
        </p:nvSpPr>
        <p:spPr>
          <a:xfrm>
            <a:off x="8695944" y="5178247"/>
            <a:ext cx="2723998" cy="2286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</p:spPr>
      </p:sp>
      <p:sp>
        <p:nvSpPr>
          <p:cNvPr id="80" name="Text 73"/>
          <p:cNvSpPr txBox="1"/>
          <p:nvPr/>
        </p:nvSpPr>
        <p:spPr>
          <a:xfrm>
            <a:off x="8772754" y="5225796"/>
            <a:ext cx="15627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Claude Code / Gemini</a:t>
            </a:r>
            <a:endParaRPr lang="en-US" sz="1200" dirty="0"/>
          </a:p>
        </p:txBody>
      </p:sp>
      <p:sp>
        <p:nvSpPr>
          <p:cNvPr id="81" name="Text 74"/>
          <p:cNvSpPr txBox="1"/>
          <p:nvPr/>
        </p:nvSpPr>
        <p:spPr>
          <a:xfrm>
            <a:off x="8695944" y="5476342"/>
            <a:ext cx="2425903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Pure keyboard speed, hacker-style development experience</a:t>
            </a:r>
            <a:endParaRPr lang="en-US" sz="900" dirty="0"/>
          </a:p>
        </p:txBody>
      </p:sp>
      <p:sp>
        <p:nvSpPr>
          <p:cNvPr id="82" name="Shape 75"/>
          <p:cNvSpPr/>
          <p:nvPr/>
        </p:nvSpPr>
        <p:spPr>
          <a:xfrm>
            <a:off x="457200" y="1433779"/>
            <a:ext cx="1429207" cy="1380744"/>
          </a:xfrm>
          <a:prstGeom prst="roundRect">
            <a:avLst>
              <a:gd name="adj" fmla="val 5481"/>
            </a:avLst>
          </a:prstGeom>
          <a:solidFill>
            <a:srgbClr val="0F172A"/>
          </a:solidFill>
        </p:spPr>
      </p:sp>
      <p:pic>
        <p:nvPicPr>
          <p:cNvPr id="83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19556" y="1705356"/>
            <a:ext cx="304495" cy="304495"/>
          </a:xfrm>
          <a:prstGeom prst="rect">
            <a:avLst/>
          </a:prstGeom>
        </p:spPr>
      </p:pic>
      <p:sp>
        <p:nvSpPr>
          <p:cNvPr id="84" name="Text 76"/>
          <p:cNvSpPr txBox="1"/>
          <p:nvPr/>
        </p:nvSpPr>
        <p:spPr>
          <a:xfrm>
            <a:off x="830275" y="2115007"/>
            <a:ext cx="8001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By Budget</a:t>
            </a:r>
            <a:endParaRPr lang="en-US" sz="1200" dirty="0"/>
          </a:p>
        </p:txBody>
      </p:sp>
      <p:sp>
        <p:nvSpPr>
          <p:cNvPr id="85" name="Text 77"/>
          <p:cNvSpPr txBox="1"/>
          <p:nvPr/>
        </p:nvSpPr>
        <p:spPr>
          <a:xfrm>
            <a:off x="901598" y="2371954"/>
            <a:ext cx="6437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BUDGET</a:t>
            </a:r>
            <a:endParaRPr lang="en-US" sz="1000" dirty="0"/>
          </a:p>
        </p:txBody>
      </p:sp>
      <p:sp>
        <p:nvSpPr>
          <p:cNvPr id="86" name="Shape 78"/>
          <p:cNvSpPr/>
          <p:nvPr/>
        </p:nvSpPr>
        <p:spPr>
          <a:xfrm>
            <a:off x="457200" y="3043123"/>
            <a:ext cx="1429207" cy="1380744"/>
          </a:xfrm>
          <a:prstGeom prst="roundRect">
            <a:avLst>
              <a:gd name="adj" fmla="val 5481"/>
            </a:avLst>
          </a:prstGeom>
          <a:solidFill>
            <a:srgbClr val="1E293B"/>
          </a:solidFill>
        </p:spPr>
      </p:sp>
      <p:pic>
        <p:nvPicPr>
          <p:cNvPr id="87" name="Image 6" descr="preencoded.png"/>
          <p:cNvPicPr>
            <a:picLocks noChangeAspect="1"/>
          </p:cNvPicPr>
          <p:nvPr/>
        </p:nvPicPr>
        <p:blipFill>
          <a:blip r:embed="rId7"/>
          <a:srcRect l="-50" r="-50"/>
          <a:stretch>
            <a:fillRect/>
          </a:stretch>
        </p:blipFill>
        <p:spPr>
          <a:xfrm>
            <a:off x="1000354" y="3314700"/>
            <a:ext cx="342900" cy="304495"/>
          </a:xfrm>
          <a:prstGeom prst="rect">
            <a:avLst/>
          </a:prstGeom>
        </p:spPr>
      </p:pic>
      <p:sp>
        <p:nvSpPr>
          <p:cNvPr id="88" name="Text 79"/>
          <p:cNvSpPr txBox="1"/>
          <p:nvPr/>
        </p:nvSpPr>
        <p:spPr>
          <a:xfrm>
            <a:off x="779983" y="3724351"/>
            <a:ext cx="9052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By Scenario</a:t>
            </a:r>
            <a:endParaRPr lang="en-US" sz="1200" dirty="0"/>
          </a:p>
        </p:txBody>
      </p:sp>
      <p:sp>
        <p:nvSpPr>
          <p:cNvPr id="89" name="Text 80"/>
          <p:cNvSpPr txBox="1"/>
          <p:nvPr/>
        </p:nvSpPr>
        <p:spPr>
          <a:xfrm>
            <a:off x="838505" y="3981298"/>
            <a:ext cx="77632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SCENARIO</a:t>
            </a:r>
            <a:endParaRPr lang="en-US" sz="1000" dirty="0"/>
          </a:p>
        </p:txBody>
      </p:sp>
      <p:sp>
        <p:nvSpPr>
          <p:cNvPr id="90" name="Shape 81"/>
          <p:cNvSpPr/>
          <p:nvPr/>
        </p:nvSpPr>
        <p:spPr>
          <a:xfrm>
            <a:off x="457200" y="4653382"/>
            <a:ext cx="1429207" cy="1380744"/>
          </a:xfrm>
          <a:prstGeom prst="roundRect">
            <a:avLst>
              <a:gd name="adj" fmla="val 5481"/>
            </a:avLst>
          </a:prstGeom>
          <a:solidFill>
            <a:srgbClr val="334155"/>
          </a:solidFill>
        </p:spPr>
      </p:sp>
      <p:pic>
        <p:nvPicPr>
          <p:cNvPr id="91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>
            <a:fillRect/>
          </a:stretch>
        </p:blipFill>
        <p:spPr>
          <a:xfrm>
            <a:off x="981151" y="4924044"/>
            <a:ext cx="381305" cy="304495"/>
          </a:xfrm>
          <a:prstGeom prst="rect">
            <a:avLst/>
          </a:prstGeom>
        </p:spPr>
      </p:pic>
      <p:sp>
        <p:nvSpPr>
          <p:cNvPr id="92" name="Text 82"/>
          <p:cNvSpPr txBox="1"/>
          <p:nvPr/>
        </p:nvSpPr>
        <p:spPr>
          <a:xfrm>
            <a:off x="915314" y="5333695"/>
            <a:ext cx="62910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By Skill</a:t>
            </a:r>
            <a:endParaRPr lang="en-US" sz="1200" dirty="0"/>
          </a:p>
        </p:txBody>
      </p:sp>
      <p:sp>
        <p:nvSpPr>
          <p:cNvPr id="93" name="Text 83"/>
          <p:cNvSpPr txBox="1"/>
          <p:nvPr/>
        </p:nvSpPr>
        <p:spPr>
          <a:xfrm>
            <a:off x="757123" y="5591556"/>
            <a:ext cx="92903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SKILL LEVEL</a:t>
            </a:r>
            <a:endParaRPr lang="en-US" sz="1000" dirty="0"/>
          </a:p>
        </p:txBody>
      </p:sp>
      <p:sp>
        <p:nvSpPr>
          <p:cNvPr id="94" name="Text 84"/>
          <p:cNvSpPr txBox="1"/>
          <p:nvPr/>
        </p:nvSpPr>
        <p:spPr>
          <a:xfrm>
            <a:off x="11561674" y="6383426"/>
            <a:ext cx="31821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457200" y="209398"/>
            <a:ext cx="442021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Vibe Coding Meta-Methodology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949647" y="255118"/>
            <a:ext cx="9144" cy="256946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5264201" y="283464"/>
            <a:ext cx="30504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Philosophy • Methodology • Tactics • Tools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990295"/>
            <a:ext cx="5544007" cy="2648102"/>
          </a:xfrm>
          <a:prstGeom prst="roundRect">
            <a:avLst>
              <a:gd name="adj" fmla="val 1491"/>
            </a:avLst>
          </a:prstGeom>
          <a:solidFill>
            <a:srgbClr val="F8FAFC"/>
          </a:solidFill>
          <a:ln w="50800">
            <a:solidFill>
              <a:srgbClr val="0F172A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4944" y="1781251"/>
            <a:ext cx="5067605" cy="9144"/>
          </a:xfrm>
          <a:prstGeom prst="rect">
            <a:avLst/>
          </a:prstGeom>
          <a:solidFill>
            <a:srgbClr val="000000">
              <a:alpha val="1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694944" y="1278331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0F172A"/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00100" y="1383487"/>
            <a:ext cx="190195" cy="19019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09751" y="1266444"/>
            <a:ext cx="1552651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Philosophy (Dao)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209751" y="1524305"/>
            <a:ext cx="178308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 Mindset &amp; First Principles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4944" y="1952244"/>
            <a:ext cx="75895" cy="758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63194" y="1918411"/>
            <a:ext cx="257586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First: If AI can do it, humans shouldn't.</a:t>
            </a:r>
            <a:endParaRPr lang="en-US" sz="11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4944" y="2246681"/>
            <a:ext cx="75895" cy="758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63194" y="2212848"/>
            <a:ext cx="252831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Context is King: Garbage in, garbage out.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4944" y="2541118"/>
            <a:ext cx="75895" cy="7589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63194" y="2506370"/>
            <a:ext cx="266181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Structure First: Plan before implementation.</a:t>
            </a:r>
            <a:endParaRPr lang="en-US" sz="11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4944" y="2834640"/>
            <a:ext cx="75895" cy="7589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63194" y="2800807"/>
            <a:ext cx="304312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Occam's Razor: Do not add code unless necessary.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6191402" y="990295"/>
            <a:ext cx="5544007" cy="2648102"/>
          </a:xfrm>
          <a:prstGeom prst="roundRect">
            <a:avLst>
              <a:gd name="adj" fmla="val 1491"/>
            </a:avLst>
          </a:prstGeom>
          <a:solidFill>
            <a:srgbClr val="EFF6FF"/>
          </a:solidFill>
          <a:ln w="50800">
            <a:solidFill>
              <a:srgbClr val="3B82F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429146" y="1781251"/>
            <a:ext cx="5067605" cy="9144"/>
          </a:xfrm>
          <a:prstGeom prst="rect">
            <a:avLst/>
          </a:prstGeom>
          <a:solidFill>
            <a:srgbClr val="000000">
              <a:alpha val="10000"/>
            </a:srgbClr>
          </a:solidFill>
        </p:spPr>
      </p:sp>
      <p:sp>
        <p:nvSpPr>
          <p:cNvPr id="24" name="Shape 17"/>
          <p:cNvSpPr/>
          <p:nvPr/>
        </p:nvSpPr>
        <p:spPr>
          <a:xfrm>
            <a:off x="6429146" y="1278331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3B82F6"/>
          </a:solidFill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rcRect l="-1282" r="-1282"/>
          <a:stretch>
            <a:fillRect/>
          </a:stretch>
        </p:blipFill>
        <p:spPr>
          <a:xfrm>
            <a:off x="6519672" y="1383487"/>
            <a:ext cx="219456" cy="19019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943954" y="1266444"/>
            <a:ext cx="16002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Methodology (Fa)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6943954" y="1524305"/>
            <a:ext cx="20692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Systematic Implementation Principles</a:t>
            </a:r>
            <a:endParaRPr lang="en-US" sz="10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29146" y="1952244"/>
            <a:ext cx="75895" cy="7589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597396" y="1918411"/>
            <a:ext cx="320497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Explicit Boundaries: One-sentence goal &amp; non-goals.</a:t>
            </a:r>
            <a:endParaRPr lang="en-US" sz="11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29146" y="2246681"/>
            <a:ext cx="75895" cy="7589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597396" y="2212848"/>
            <a:ext cx="291876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Orthogonality: Non-repetitive functional design.</a:t>
            </a:r>
            <a:endParaRPr lang="en-US" sz="11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29146" y="2541118"/>
            <a:ext cx="75895" cy="75895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6597396" y="2506370"/>
            <a:ext cx="309067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Docs as Context: Copy over writing; interface first.</a:t>
            </a:r>
            <a:endParaRPr lang="en-US" sz="110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29146" y="2834640"/>
            <a:ext cx="75895" cy="75895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597396" y="2800807"/>
            <a:ext cx="330007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Interfaces First: Decompose modules by responsibility.</a:t>
            </a:r>
            <a:endParaRPr lang="en-US" sz="1100" dirty="0"/>
          </a:p>
        </p:txBody>
      </p:sp>
      <p:sp>
        <p:nvSpPr>
          <p:cNvPr id="36" name="Shape 24"/>
          <p:cNvSpPr/>
          <p:nvPr/>
        </p:nvSpPr>
        <p:spPr>
          <a:xfrm>
            <a:off x="457200" y="3829507"/>
            <a:ext cx="5544007" cy="2648102"/>
          </a:xfrm>
          <a:prstGeom prst="roundRect">
            <a:avLst>
              <a:gd name="adj" fmla="val 1491"/>
            </a:avLst>
          </a:prstGeom>
          <a:solidFill>
            <a:srgbClr val="ECFDF5"/>
          </a:solidFill>
          <a:ln w="50800">
            <a:solidFill>
              <a:srgbClr val="10B981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7" name="Shape 25"/>
          <p:cNvSpPr/>
          <p:nvPr/>
        </p:nvSpPr>
        <p:spPr>
          <a:xfrm>
            <a:off x="694944" y="4619549"/>
            <a:ext cx="5067605" cy="9144"/>
          </a:xfrm>
          <a:prstGeom prst="rect">
            <a:avLst/>
          </a:prstGeom>
          <a:solidFill>
            <a:srgbClr val="000000">
              <a:alpha val="10000"/>
            </a:srgbClr>
          </a:solidFill>
        </p:spPr>
      </p:sp>
      <p:sp>
        <p:nvSpPr>
          <p:cNvPr id="38" name="Shape 26"/>
          <p:cNvSpPr/>
          <p:nvPr/>
        </p:nvSpPr>
        <p:spPr>
          <a:xfrm>
            <a:off x="694944" y="4116629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10B981"/>
          </a:solidFill>
        </p:spPr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00100" y="4221785"/>
            <a:ext cx="190195" cy="190195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1209751" y="4105656"/>
            <a:ext cx="120060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Tactics (Shu)</a:t>
            </a:r>
            <a:endParaRPr lang="en-US" sz="1500" dirty="0"/>
          </a:p>
        </p:txBody>
      </p:sp>
      <p:sp>
        <p:nvSpPr>
          <p:cNvPr id="41" name="Text 28"/>
          <p:cNvSpPr txBox="1"/>
          <p:nvPr/>
        </p:nvSpPr>
        <p:spPr>
          <a:xfrm>
            <a:off x="1209751" y="4362602"/>
            <a:ext cx="14502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Practical Execution Skills</a:t>
            </a:r>
            <a:endParaRPr lang="en-US" sz="1000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94944" y="4791456"/>
            <a:ext cx="75895" cy="7589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863194" y="4756709"/>
            <a:ext cx="290962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Constraints: State clearly what can/can't change.</a:t>
            </a:r>
            <a:endParaRPr lang="en-US" sz="1100" dirty="0"/>
          </a:p>
        </p:txBody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94944" y="5084978"/>
            <a:ext cx="75895" cy="75895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863194" y="5051146"/>
            <a:ext cx="322326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Debug Strategy: Expected vs Actual + minimal repro.</a:t>
            </a:r>
            <a:endParaRPr lang="en-US" sz="1100" dirty="0"/>
          </a:p>
        </p:txBody>
      </p:sp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94944" y="5379415"/>
            <a:ext cx="75895" cy="75895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863194" y="5344668"/>
            <a:ext cx="302392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Testing: AI generates tests, humans assert validity.</a:t>
            </a:r>
            <a:endParaRPr lang="en-US" sz="1100" dirty="0"/>
          </a:p>
        </p:txBody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94944" y="5672938"/>
            <a:ext cx="75895" cy="75895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863194" y="5639105"/>
            <a:ext cx="321411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Reset Session: Start fresh when code grows too large.</a:t>
            </a:r>
            <a:endParaRPr lang="en-US" sz="1100" dirty="0"/>
          </a:p>
        </p:txBody>
      </p:sp>
      <p:sp>
        <p:nvSpPr>
          <p:cNvPr id="50" name="Shape 33"/>
          <p:cNvSpPr/>
          <p:nvPr/>
        </p:nvSpPr>
        <p:spPr>
          <a:xfrm>
            <a:off x="6191402" y="3829507"/>
            <a:ext cx="5544007" cy="2648102"/>
          </a:xfrm>
          <a:prstGeom prst="roundRect">
            <a:avLst>
              <a:gd name="adj" fmla="val 1491"/>
            </a:avLst>
          </a:prstGeom>
          <a:solidFill>
            <a:srgbClr val="F5F3FF"/>
          </a:solidFill>
          <a:ln w="50800">
            <a:solidFill>
              <a:srgbClr val="8B5CF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1" name="Shape 34"/>
          <p:cNvSpPr/>
          <p:nvPr/>
        </p:nvSpPr>
        <p:spPr>
          <a:xfrm>
            <a:off x="6429146" y="4619549"/>
            <a:ext cx="5067605" cy="9144"/>
          </a:xfrm>
          <a:prstGeom prst="rect">
            <a:avLst/>
          </a:prstGeom>
          <a:solidFill>
            <a:srgbClr val="000000">
              <a:alpha val="10000"/>
            </a:srgbClr>
          </a:solidFill>
        </p:spPr>
      </p:sp>
      <p:sp>
        <p:nvSpPr>
          <p:cNvPr id="52" name="Shape 35"/>
          <p:cNvSpPr/>
          <p:nvPr/>
        </p:nvSpPr>
        <p:spPr>
          <a:xfrm>
            <a:off x="6429146" y="4116629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8B5CF6"/>
          </a:solidFill>
        </p:spPr>
      </p:sp>
      <p:pic>
        <p:nvPicPr>
          <p:cNvPr id="53" name="Image 15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510528" y="4221785"/>
            <a:ext cx="237744" cy="190195"/>
          </a:xfrm>
          <a:prstGeom prst="rect">
            <a:avLst/>
          </a:prstGeom>
        </p:spPr>
      </p:pic>
      <p:sp>
        <p:nvSpPr>
          <p:cNvPr id="54" name="Text 36"/>
          <p:cNvSpPr txBox="1"/>
          <p:nvPr/>
        </p:nvSpPr>
        <p:spPr>
          <a:xfrm>
            <a:off x="6943954" y="4105656"/>
            <a:ext cx="952805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Tools (Qi)</a:t>
            </a:r>
            <a:endParaRPr lang="en-US" sz="1500" dirty="0"/>
          </a:p>
        </p:txBody>
      </p:sp>
      <p:sp>
        <p:nvSpPr>
          <p:cNvPr id="55" name="Text 37"/>
          <p:cNvSpPr txBox="1"/>
          <p:nvPr/>
        </p:nvSpPr>
        <p:spPr>
          <a:xfrm>
            <a:off x="6943954" y="4362602"/>
            <a:ext cx="16788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Tool Selection &amp; Combination</a:t>
            </a:r>
            <a:endParaRPr lang="en-US" sz="1000" dirty="0"/>
          </a:p>
        </p:txBody>
      </p:sp>
      <p:pic>
        <p:nvPicPr>
          <p:cNvPr id="56" name="Image 16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429146" y="4791456"/>
            <a:ext cx="75895" cy="75895"/>
          </a:xfrm>
          <a:prstGeom prst="rect">
            <a:avLst/>
          </a:prstGeom>
        </p:spPr>
      </p:pic>
      <p:sp>
        <p:nvSpPr>
          <p:cNvPr id="57" name="Text 38"/>
          <p:cNvSpPr txBox="1"/>
          <p:nvPr/>
        </p:nvSpPr>
        <p:spPr>
          <a:xfrm>
            <a:off x="6597396" y="4756709"/>
            <a:ext cx="190926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IDEs: Cursor / Windsurf / Kiro</a:t>
            </a:r>
            <a:endParaRPr lang="en-US" sz="1100" dirty="0"/>
          </a:p>
        </p:txBody>
      </p:sp>
      <p:pic>
        <p:nvPicPr>
          <p:cNvPr id="58" name="Image 17" descr="preencoded.png"/>
          <p:cNvPicPr>
            <a:picLocks noChangeAspect="1"/>
          </p:cNvPicPr>
          <p:nvPr/>
        </p:nvPicPr>
        <p:blipFill>
          <a:blip r:embed="rId9"/>
          <a:srcRect l="-335" r="-335"/>
          <a:stretch>
            <a:fillRect/>
          </a:stretch>
        </p:blipFill>
        <p:spPr>
          <a:xfrm>
            <a:off x="6429146" y="5084978"/>
            <a:ext cx="85954" cy="75895"/>
          </a:xfrm>
          <a:prstGeom prst="rect">
            <a:avLst/>
          </a:prstGeom>
        </p:spPr>
      </p:pic>
      <p:sp>
        <p:nvSpPr>
          <p:cNvPr id="59" name="Text 39"/>
          <p:cNvSpPr txBox="1"/>
          <p:nvPr/>
        </p:nvSpPr>
        <p:spPr>
          <a:xfrm>
            <a:off x="6606540" y="5051146"/>
            <a:ext cx="198516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CLI: Claude Code / Gemini CLI</a:t>
            </a:r>
            <a:endParaRPr lang="en-US" sz="1100" dirty="0"/>
          </a:p>
        </p:txBody>
      </p:sp>
      <p:pic>
        <p:nvPicPr>
          <p:cNvPr id="60" name="Image 18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429146" y="5379415"/>
            <a:ext cx="75895" cy="75895"/>
          </a:xfrm>
          <a:prstGeom prst="rect">
            <a:avLst/>
          </a:prstGeom>
        </p:spPr>
      </p:pic>
      <p:sp>
        <p:nvSpPr>
          <p:cNvPr id="61" name="Text 40"/>
          <p:cNvSpPr txBox="1"/>
          <p:nvPr/>
        </p:nvSpPr>
        <p:spPr>
          <a:xfrm>
            <a:off x="6597396" y="5344668"/>
            <a:ext cx="257586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Models: Claude 3.5 / GPT-4o / Gemini 2.5</a:t>
            </a:r>
            <a:endParaRPr lang="en-US" sz="1100" dirty="0"/>
          </a:p>
        </p:txBody>
      </p:sp>
      <p:pic>
        <p:nvPicPr>
          <p:cNvPr id="62" name="Image 19" descr="preencoded.png"/>
          <p:cNvPicPr>
            <a:picLocks noChangeAspect="1"/>
          </p:cNvPicPr>
          <p:nvPr/>
        </p:nvPicPr>
        <p:blipFill>
          <a:blip r:embed="rId11"/>
          <a:srcRect l="-258" r="-258"/>
          <a:stretch>
            <a:fillRect/>
          </a:stretch>
        </p:blipFill>
        <p:spPr>
          <a:xfrm>
            <a:off x="6429146" y="5672938"/>
            <a:ext cx="66751" cy="75895"/>
          </a:xfrm>
          <a:prstGeom prst="rect">
            <a:avLst/>
          </a:prstGeom>
        </p:spPr>
      </p:pic>
      <p:sp>
        <p:nvSpPr>
          <p:cNvPr id="63" name="Text 41"/>
          <p:cNvSpPr txBox="1"/>
          <p:nvPr/>
        </p:nvSpPr>
        <p:spPr>
          <a:xfrm>
            <a:off x="6587338" y="5639105"/>
            <a:ext cx="257677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See "Tool Panorama" for detailed comparison</a:t>
            </a:r>
            <a:endParaRPr lang="en-US" sz="1000" dirty="0"/>
          </a:p>
        </p:txBody>
      </p:sp>
      <p:sp>
        <p:nvSpPr>
          <p:cNvPr id="64" name="Shape 42"/>
          <p:cNvSpPr/>
          <p:nvPr/>
        </p:nvSpPr>
        <p:spPr>
          <a:xfrm>
            <a:off x="5031029" y="3573475"/>
            <a:ext cx="2133295" cy="476402"/>
          </a:xfrm>
          <a:prstGeom prst="roundRect">
            <a:avLst>
              <a:gd name="adj" fmla="val 19193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139700" dist="1016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5" name="Image 20" descr="preencoded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278831" y="3715207"/>
            <a:ext cx="190195" cy="190195"/>
          </a:xfrm>
          <a:prstGeom prst="rect">
            <a:avLst/>
          </a:prstGeom>
        </p:spPr>
      </p:pic>
      <p:sp>
        <p:nvSpPr>
          <p:cNvPr id="66" name="Text 43"/>
          <p:cNvSpPr txBox="1"/>
          <p:nvPr/>
        </p:nvSpPr>
        <p:spPr>
          <a:xfrm>
            <a:off x="5544922" y="3712464"/>
            <a:ext cx="149778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Meta-Methodology</a:t>
            </a:r>
            <a:endParaRPr lang="en-US" sz="1300" dirty="0"/>
          </a:p>
        </p:txBody>
      </p:sp>
      <p:sp>
        <p:nvSpPr>
          <p:cNvPr id="67" name="Text 44"/>
          <p:cNvSpPr txBox="1"/>
          <p:nvPr/>
        </p:nvSpPr>
        <p:spPr>
          <a:xfrm>
            <a:off x="11505895" y="6334049"/>
            <a:ext cx="400507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6978701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3.1 Prompt Engineering: Art of Precision Communication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677302" y="190195"/>
            <a:ext cx="9144" cy="381305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7991856" y="295351"/>
            <a:ext cx="32388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5W1H Framework &amp; Scientific Research Template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rcRect l="-1507" r="-1507"/>
          <a:stretch>
            <a:fillRect/>
          </a:stretch>
        </p:blipFill>
        <p:spPr>
          <a:xfrm>
            <a:off x="533095" y="2145182"/>
            <a:ext cx="171907" cy="1335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80898" y="2085746"/>
            <a:ext cx="4355287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Comparative Experiment: Why AI "Doesn't Understand"?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33095" y="2497226"/>
            <a:ext cx="5181905" cy="1228954"/>
          </a:xfrm>
          <a:prstGeom prst="roundRect">
            <a:avLst>
              <a:gd name="adj" fmla="val 4614"/>
            </a:avLst>
          </a:prstGeom>
          <a:solidFill>
            <a:srgbClr val="1E293B"/>
          </a:solidFill>
          <a:ln w="12700">
            <a:solidFill>
              <a:srgbClr val="FCA5A5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3154" y="2507285"/>
            <a:ext cx="5162702" cy="323698"/>
          </a:xfrm>
          <a:prstGeom prst="rect">
            <a:avLst/>
          </a:prstGeom>
          <a:solidFill>
            <a:srgbClr val="FEE2E2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64769" y="2584094"/>
            <a:ext cx="133502" cy="1335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74166" y="2586838"/>
            <a:ext cx="192664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91B1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Vague Description (Vibe Coding)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701845" y="2598725"/>
            <a:ext cx="9720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91B1B">
                    <a:alpha val="75000"/>
                  </a:srgbClr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Result: Confusion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664769" y="2964485"/>
            <a:ext cx="34564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User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908914" y="2964485"/>
            <a:ext cx="15453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"Analyze this data for me"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664769" y="3219602"/>
            <a:ext cx="4812487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Thinking: - Which dimension? (Stats? Regression?) - Which tool? (Pandas? Numpy?) - Output format? (Print? CSV? Plot?)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33095" y="4116629"/>
            <a:ext cx="5181905" cy="1419149"/>
          </a:xfrm>
          <a:prstGeom prst="roundRect">
            <a:avLst>
              <a:gd name="adj" fmla="val 3459"/>
            </a:avLst>
          </a:prstGeom>
          <a:solidFill>
            <a:srgbClr val="1E293B"/>
          </a:solidFill>
          <a:ln w="12700">
            <a:solidFill>
              <a:srgbClr val="86EFAC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3154" y="4126687"/>
            <a:ext cx="5162702" cy="323698"/>
          </a:xfrm>
          <a:prstGeom prst="rect">
            <a:avLst/>
          </a:prstGeom>
          <a:solidFill>
            <a:srgbClr val="DCFCE7"/>
          </a:solidFill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4769" y="4203497"/>
            <a:ext cx="133502" cy="13350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74166" y="4206240"/>
            <a:ext cx="242133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6534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Precise Description (Prompt Engineering)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4835347" y="4217213"/>
            <a:ext cx="8385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6534">
                    <a:alpha val="75000"/>
                  </a:srgbClr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Result: Success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664769" y="4582973"/>
            <a:ext cx="73609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User: "Read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296619" y="4582973"/>
            <a:ext cx="5166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data.csv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1709014" y="4582973"/>
            <a:ext cx="6309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, calculate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2233879" y="4582973"/>
            <a:ext cx="109728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6EFA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Mean/Median/Std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3233318" y="4582973"/>
            <a:ext cx="117409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of 'pop' column. Use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4301338" y="4582973"/>
            <a:ext cx="6501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DBA74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664769" y="4582973"/>
            <a:ext cx="4935931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to plot a bar chart. Save as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1380744" y="4777740"/>
            <a:ext cx="6592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output.png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1937614" y="4777740"/>
            <a:ext cx="3355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with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2168042" y="4777740"/>
            <a:ext cx="47823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6EFA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300dpi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542032" y="4777740"/>
            <a:ext cx="18288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."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664769" y="5032858"/>
            <a:ext cx="4774082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Understanding: ✅ Input: data.csv | Task: Stats + Plot ✅ Stack: Matplotlib | Output: 300dpi PNG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094476" y="990295"/>
            <a:ext cx="5572354" cy="5639105"/>
          </a:xfrm>
          <a:prstGeom prst="roundRect">
            <a:avLst>
              <a:gd name="adj" fmla="val 3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rcRect t="-842" b="-842"/>
          <a:stretch>
            <a:fillRect/>
          </a:stretch>
        </p:blipFill>
        <p:spPr>
          <a:xfrm>
            <a:off x="6286500" y="1222553"/>
            <a:ext cx="190195" cy="171907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6553505" y="1183234"/>
            <a:ext cx="2269541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5W1H Structural Framework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6286500" y="1472184"/>
            <a:ext cx="2533802" cy="733349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6286500" y="1472184"/>
            <a:ext cx="38405" cy="733349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0" name="Text 34"/>
          <p:cNvSpPr txBox="1"/>
          <p:nvPr/>
        </p:nvSpPr>
        <p:spPr>
          <a:xfrm>
            <a:off x="6446520" y="1582826"/>
            <a:ext cx="55687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WHAT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6446520" y="1811426"/>
            <a:ext cx="1886407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What is the specific task?Core function definition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8937346" y="1472184"/>
            <a:ext cx="2533802" cy="733349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8937346" y="1472184"/>
            <a:ext cx="38405" cy="733349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4" name="Text 38"/>
          <p:cNvSpPr txBox="1"/>
          <p:nvPr/>
        </p:nvSpPr>
        <p:spPr>
          <a:xfrm>
            <a:off x="9097366" y="1582826"/>
            <a:ext cx="47091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WHY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9097366" y="1811426"/>
            <a:ext cx="22576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What is the business context?Context for intent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6286500" y="2321662"/>
            <a:ext cx="2533802" cy="733349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7" name="Shape 41"/>
          <p:cNvSpPr/>
          <p:nvPr/>
        </p:nvSpPr>
        <p:spPr>
          <a:xfrm>
            <a:off x="6286500" y="2321662"/>
            <a:ext cx="38405" cy="733349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8" name="Text 42"/>
          <p:cNvSpPr txBox="1"/>
          <p:nvPr/>
        </p:nvSpPr>
        <p:spPr>
          <a:xfrm>
            <a:off x="6446520" y="2432304"/>
            <a:ext cx="48006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WHO</a:t>
            </a:r>
            <a:endParaRPr lang="en-US" sz="1100" dirty="0"/>
          </a:p>
        </p:txBody>
      </p:sp>
      <p:sp>
        <p:nvSpPr>
          <p:cNvPr id="49" name="Text 43"/>
          <p:cNvSpPr txBox="1"/>
          <p:nvPr/>
        </p:nvSpPr>
        <p:spPr>
          <a:xfrm>
            <a:off x="6446520" y="2660904"/>
            <a:ext cx="22677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Who is the target audience?Style &amp; Depth level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8937346" y="2321662"/>
            <a:ext cx="2533802" cy="733349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1" name="Shape 45"/>
          <p:cNvSpPr/>
          <p:nvPr/>
        </p:nvSpPr>
        <p:spPr>
          <a:xfrm>
            <a:off x="8937346" y="2321662"/>
            <a:ext cx="38405" cy="733349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2" name="Text 46"/>
          <p:cNvSpPr txBox="1"/>
          <p:nvPr/>
        </p:nvSpPr>
        <p:spPr>
          <a:xfrm>
            <a:off x="9097366" y="2432304"/>
            <a:ext cx="57607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WHEN</a:t>
            </a:r>
            <a:endParaRPr lang="en-US" sz="1100" dirty="0"/>
          </a:p>
        </p:txBody>
      </p:sp>
      <p:sp>
        <p:nvSpPr>
          <p:cNvPr id="53" name="Text 47"/>
          <p:cNvSpPr txBox="1"/>
          <p:nvPr/>
        </p:nvSpPr>
        <p:spPr>
          <a:xfrm>
            <a:off x="9097366" y="2660904"/>
            <a:ext cx="2190902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Batch processing or real-time?Performance &amp; Arch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6286500" y="3171139"/>
            <a:ext cx="2533802" cy="733349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5" name="Shape 49"/>
          <p:cNvSpPr/>
          <p:nvPr/>
        </p:nvSpPr>
        <p:spPr>
          <a:xfrm>
            <a:off x="6286500" y="3171139"/>
            <a:ext cx="38405" cy="733349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6" name="Text 50"/>
          <p:cNvSpPr txBox="1"/>
          <p:nvPr/>
        </p:nvSpPr>
        <p:spPr>
          <a:xfrm>
            <a:off x="6446520" y="3281782"/>
            <a:ext cx="67117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WHERE</a:t>
            </a:r>
            <a:endParaRPr lang="en-US" sz="1100" dirty="0"/>
          </a:p>
        </p:txBody>
      </p:sp>
      <p:sp>
        <p:nvSpPr>
          <p:cNvPr id="57" name="Text 51"/>
          <p:cNvSpPr txBox="1"/>
          <p:nvPr/>
        </p:nvSpPr>
        <p:spPr>
          <a:xfrm>
            <a:off x="6446520" y="3509467"/>
            <a:ext cx="1981505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Data source and output location?I/O Path definition</a:t>
            </a:r>
            <a:endParaRPr lang="en-US" sz="900" dirty="0"/>
          </a:p>
        </p:txBody>
      </p:sp>
      <p:sp>
        <p:nvSpPr>
          <p:cNvPr id="58" name="Shape 52"/>
          <p:cNvSpPr/>
          <p:nvPr/>
        </p:nvSpPr>
        <p:spPr>
          <a:xfrm>
            <a:off x="8937346" y="3171139"/>
            <a:ext cx="2533802" cy="733349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9" name="Shape 53"/>
          <p:cNvSpPr/>
          <p:nvPr/>
        </p:nvSpPr>
        <p:spPr>
          <a:xfrm>
            <a:off x="8937346" y="3171139"/>
            <a:ext cx="38405" cy="733349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60" name="Text 54"/>
          <p:cNvSpPr txBox="1"/>
          <p:nvPr/>
        </p:nvSpPr>
        <p:spPr>
          <a:xfrm>
            <a:off x="9097366" y="3281782"/>
            <a:ext cx="48006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6534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HOW</a:t>
            </a:r>
            <a:endParaRPr lang="en-US" sz="1100" dirty="0"/>
          </a:p>
        </p:txBody>
      </p:sp>
      <p:sp>
        <p:nvSpPr>
          <p:cNvPr id="61" name="Text 55"/>
          <p:cNvSpPr txBox="1"/>
          <p:nvPr/>
        </p:nvSpPr>
        <p:spPr>
          <a:xfrm>
            <a:off x="9097366" y="3509467"/>
            <a:ext cx="1571854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Technical constraints &amp; quality?Libs/Specs/Precision</a:t>
            </a:r>
            <a:endParaRPr lang="en-US" sz="900" dirty="0"/>
          </a:p>
        </p:txBody>
      </p:sp>
      <p:pic>
        <p:nvPicPr>
          <p:cNvPr id="62" name="Image 4" descr="preencoded.png"/>
          <p:cNvPicPr>
            <a:picLocks noChangeAspect="1"/>
          </p:cNvPicPr>
          <p:nvPr/>
        </p:nvPicPr>
        <p:blipFill>
          <a:blip r:embed="rId5"/>
          <a:srcRect t="-2725" b="-2725"/>
          <a:stretch>
            <a:fillRect/>
          </a:stretch>
        </p:blipFill>
        <p:spPr>
          <a:xfrm>
            <a:off x="6286500" y="4197096"/>
            <a:ext cx="142646" cy="171907"/>
          </a:xfrm>
          <a:prstGeom prst="rect">
            <a:avLst/>
          </a:prstGeom>
        </p:spPr>
      </p:pic>
      <p:sp>
        <p:nvSpPr>
          <p:cNvPr id="63" name="Text 56"/>
          <p:cNvSpPr txBox="1"/>
          <p:nvPr/>
        </p:nvSpPr>
        <p:spPr>
          <a:xfrm>
            <a:off x="6505956" y="4156862"/>
            <a:ext cx="2192731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Scientific Research Template</a:t>
            </a:r>
            <a:endParaRPr lang="en-US" sz="1300" dirty="0"/>
          </a:p>
        </p:txBody>
      </p:sp>
      <p:sp>
        <p:nvSpPr>
          <p:cNvPr id="64" name="Shape 57"/>
          <p:cNvSpPr/>
          <p:nvPr/>
        </p:nvSpPr>
        <p:spPr>
          <a:xfrm>
            <a:off x="6286500" y="4446727"/>
            <a:ext cx="5181905" cy="1990649"/>
          </a:xfrm>
          <a:prstGeom prst="roundRect">
            <a:avLst>
              <a:gd name="adj" fmla="val 1758"/>
            </a:avLst>
          </a:prstGeom>
          <a:solidFill>
            <a:srgbClr val="EFF6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5" name="Text 58"/>
          <p:cNvSpPr txBox="1"/>
          <p:nvPr/>
        </p:nvSpPr>
        <p:spPr>
          <a:xfrm>
            <a:off x="6676949" y="4726534"/>
            <a:ext cx="25932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Task Description: [Verb] + [Object] + [Purpose]</a:t>
            </a:r>
            <a:endParaRPr lang="en-US" sz="1000" dirty="0"/>
          </a:p>
        </p:txBody>
      </p:sp>
      <p:sp>
        <p:nvSpPr>
          <p:cNvPr id="66" name="Text 59"/>
          <p:cNvSpPr txBox="1"/>
          <p:nvPr/>
        </p:nvSpPr>
        <p:spPr>
          <a:xfrm>
            <a:off x="6676949" y="4983480"/>
            <a:ext cx="20692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Data Context: Source / Scale / Format</a:t>
            </a:r>
            <a:endParaRPr lang="en-US" sz="1000" dirty="0"/>
          </a:p>
        </p:txBody>
      </p:sp>
      <p:sp>
        <p:nvSpPr>
          <p:cNvPr id="67" name="Text 60"/>
          <p:cNvSpPr txBox="1"/>
          <p:nvPr/>
        </p:nvSpPr>
        <p:spPr>
          <a:xfrm>
            <a:off x="6676949" y="5241341"/>
            <a:ext cx="26883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Processing Steps: Step 1... Step 2... (Logic Chain)</a:t>
            </a:r>
            <a:endParaRPr lang="en-US" sz="1000" dirty="0"/>
          </a:p>
        </p:txBody>
      </p:sp>
      <p:sp>
        <p:nvSpPr>
          <p:cNvPr id="68" name="Text 61"/>
          <p:cNvSpPr txBox="1"/>
          <p:nvPr/>
        </p:nvSpPr>
        <p:spPr>
          <a:xfrm>
            <a:off x="6676949" y="5499202"/>
            <a:ext cx="27358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Output Requirements: Format / Precision / Metrics</a:t>
            </a:r>
            <a:endParaRPr lang="en-US" sz="1000" dirty="0"/>
          </a:p>
        </p:txBody>
      </p:sp>
      <p:sp>
        <p:nvSpPr>
          <p:cNvPr id="69" name="Text 62"/>
          <p:cNvSpPr txBox="1"/>
          <p:nvPr/>
        </p:nvSpPr>
        <p:spPr>
          <a:xfrm>
            <a:off x="6676949" y="5757062"/>
            <a:ext cx="281178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Technical Constraints: Required Libs / Coding Style</a:t>
            </a:r>
            <a:endParaRPr lang="en-US" sz="1000" dirty="0"/>
          </a:p>
        </p:txBody>
      </p:sp>
      <p:sp>
        <p:nvSpPr>
          <p:cNvPr id="70" name="Text 63"/>
          <p:cNvSpPr txBox="1"/>
          <p:nvPr/>
        </p:nvSpPr>
        <p:spPr>
          <a:xfrm>
            <a:off x="6676949" y="6014009"/>
            <a:ext cx="224028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Test Verification: Provide Mini Test Case</a:t>
            </a:r>
            <a:endParaRPr lang="en-US" sz="1000" dirty="0"/>
          </a:p>
        </p:txBody>
      </p:sp>
      <p:pic>
        <p:nvPicPr>
          <p:cNvPr id="71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033065" y="3813962"/>
            <a:ext cx="181051" cy="181051"/>
          </a:xfrm>
          <a:prstGeom prst="rect">
            <a:avLst/>
          </a:prstGeom>
        </p:spPr>
      </p:pic>
      <p:sp>
        <p:nvSpPr>
          <p:cNvPr id="72" name="Text 64"/>
          <p:cNvSpPr txBox="1"/>
          <p:nvPr/>
        </p:nvSpPr>
        <p:spPr>
          <a:xfrm>
            <a:off x="11505895" y="6334049"/>
            <a:ext cx="400507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-19202"/>
            <a:ext cx="5582412" cy="800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Specification-Driven Development (SDD) 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519111" y="152705"/>
            <a:ext cx="9144" cy="4572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7833665" y="181051"/>
            <a:ext cx="3600907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 Principles, Basic Workflow &amp; Three-Level Practice Path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90295"/>
            <a:ext cx="11277295" cy="752551"/>
          </a:xfrm>
          <a:prstGeom prst="roundRect">
            <a:avLst>
              <a:gd name="adj" fmla="val 18457"/>
            </a:avLst>
          </a:prstGeom>
          <a:solidFill>
            <a:srgbClr val="F1F5F9"/>
          </a:solidFill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90295"/>
            <a:ext cx="57607" cy="752551"/>
          </a:xfrm>
          <a:prstGeom prst="rect">
            <a:avLst/>
          </a:prstGeom>
          <a:solidFill>
            <a:srgbClr val="0F172A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 t="-1310" b="-1310"/>
          <a:stretch>
            <a:fillRect/>
          </a:stretch>
        </p:blipFill>
        <p:spPr>
          <a:xfrm>
            <a:off x="743407" y="1152144"/>
            <a:ext cx="209398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28700" y="1141171"/>
            <a:ext cx="117409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 Principle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43407" y="1420978"/>
            <a:ext cx="53437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 is the project's "Source of Truth", Code is merely the "Implementation Artifact".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547458" y="1154887"/>
            <a:ext cx="3962095" cy="418795"/>
          </a:xfrm>
          <a:prstGeom prst="roundRect">
            <a:avLst>
              <a:gd name="adj" fmla="val 396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709306" y="1287475"/>
            <a:ext cx="10341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Change Request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rcRect l="-2571" r="-2571"/>
          <a:stretch>
            <a:fillRect/>
          </a:stretch>
        </p:blipFill>
        <p:spPr>
          <a:xfrm>
            <a:off x="8753551" y="1306678"/>
            <a:ext cx="105156" cy="1143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972093" y="1239926"/>
            <a:ext cx="1133856" cy="247802"/>
          </a:xfrm>
          <a:prstGeom prst="roundRect">
            <a:avLst>
              <a:gd name="adj" fmla="val 5677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058046" y="1287475"/>
            <a:ext cx="51937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Update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9473184" y="1287475"/>
            <a:ext cx="36758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9739274" y="1287475"/>
            <a:ext cx="37673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First</a:t>
            </a:r>
            <a:endParaRPr lang="en-US" sz="10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2"/>
          <a:srcRect l="-2571" r="-2571"/>
          <a:stretch>
            <a:fillRect/>
          </a:stretch>
        </p:blipFill>
        <p:spPr>
          <a:xfrm>
            <a:off x="10213848" y="1306678"/>
            <a:ext cx="105156" cy="1143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432390" y="1287475"/>
            <a:ext cx="25328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0580522" y="1287475"/>
            <a:ext cx="5769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Updates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1047781" y="1287475"/>
            <a:ext cx="40507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Code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57200" y="1890065"/>
            <a:ext cx="3657600" cy="4143146"/>
          </a:xfrm>
          <a:prstGeom prst="roundRect">
            <a:avLst>
              <a:gd name="adj" fmla="val 78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19049" y="205191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rcRect t="-2725" b="-2725"/>
          <a:stretch>
            <a:fillRect/>
          </a:stretch>
        </p:blipFill>
        <p:spPr>
          <a:xfrm>
            <a:off x="718718" y="2137867"/>
            <a:ext cx="142646" cy="171907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3394253" y="2051914"/>
            <a:ext cx="562356" cy="228600"/>
          </a:xfrm>
          <a:prstGeom prst="roundRect">
            <a:avLst>
              <a:gd name="adj" fmla="val 400000"/>
            </a:avLst>
          </a:prstGeom>
          <a:solidFill>
            <a:srgbClr val="059669"/>
          </a:solidFill>
        </p:spPr>
      </p:sp>
      <p:sp>
        <p:nvSpPr>
          <p:cNvPr id="28" name="Text 22"/>
          <p:cNvSpPr txBox="1"/>
          <p:nvPr/>
        </p:nvSpPr>
        <p:spPr>
          <a:xfrm>
            <a:off x="3485693" y="2093976"/>
            <a:ext cx="47274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Level 1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619049" y="2480767"/>
            <a:ext cx="2467051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5F4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Spec-FirstSpecification First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619049" y="2794406"/>
            <a:ext cx="3351276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Ideal starting point for one-off tasks. Clearly define requirements first, then let AI generate code. Archive specs after generation.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19049" y="5288890"/>
            <a:ext cx="3333902" cy="9144"/>
          </a:xfrm>
          <a:prstGeom prst="rect">
            <a:avLst/>
          </a:prstGeom>
          <a:solidFill>
            <a:srgbClr val="000000">
              <a:alpha val="5000"/>
            </a:srgbClr>
          </a:solidFill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4"/>
          <a:srcRect l="-2571" r="-2571"/>
          <a:stretch>
            <a:fillRect/>
          </a:stretch>
        </p:blipFill>
        <p:spPr>
          <a:xfrm>
            <a:off x="619049" y="5412334"/>
            <a:ext cx="105156" cy="1143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24205" y="5422392"/>
            <a:ext cx="160294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Applicable: &lt;200 line scripts</a:t>
            </a:r>
            <a:endParaRPr lang="en-US" sz="10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4"/>
          <a:srcRect l="-2571" r="-2571"/>
          <a:stretch>
            <a:fillRect/>
          </a:stretch>
        </p:blipFill>
        <p:spPr>
          <a:xfrm>
            <a:off x="619049" y="5641848"/>
            <a:ext cx="105156" cy="1143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24205" y="5650992"/>
            <a:ext cx="17931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Higher quality than Vibe Coding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267505" y="1890065"/>
            <a:ext cx="3657600" cy="4143146"/>
          </a:xfrm>
          <a:prstGeom prst="roundRect">
            <a:avLst>
              <a:gd name="adj" fmla="val 78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429354" y="205191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5"/>
          <a:srcRect t="-842" b="-842"/>
          <a:stretch>
            <a:fillRect/>
          </a:stretch>
        </p:blipFill>
        <p:spPr>
          <a:xfrm>
            <a:off x="4505249" y="2137867"/>
            <a:ext cx="190195" cy="171907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7204558" y="2051914"/>
            <a:ext cx="562356" cy="228600"/>
          </a:xfrm>
          <a:prstGeom prst="roundRect">
            <a:avLst>
              <a:gd name="adj" fmla="val 400000"/>
            </a:avLst>
          </a:prstGeom>
          <a:solidFill>
            <a:srgbClr val="2563EB"/>
          </a:solidFill>
        </p:spPr>
      </p:sp>
      <p:sp>
        <p:nvSpPr>
          <p:cNvPr id="40" name="Text 31"/>
          <p:cNvSpPr txBox="1"/>
          <p:nvPr/>
        </p:nvSpPr>
        <p:spPr>
          <a:xfrm>
            <a:off x="7295998" y="2093976"/>
            <a:ext cx="47274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Level 2</a:t>
            </a:r>
            <a:endParaRPr lang="en-US" sz="900" dirty="0"/>
          </a:p>
        </p:txBody>
      </p:sp>
      <p:sp>
        <p:nvSpPr>
          <p:cNvPr id="41" name="Text 32"/>
          <p:cNvSpPr txBox="1"/>
          <p:nvPr/>
        </p:nvSpPr>
        <p:spPr>
          <a:xfrm>
            <a:off x="4429354" y="2480767"/>
            <a:ext cx="327721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40A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Spec-AnchoredSpecification Anchored</a:t>
            </a:r>
            <a:endParaRPr lang="en-US" sz="1500" dirty="0"/>
          </a:p>
        </p:txBody>
      </p:sp>
      <p:sp>
        <p:nvSpPr>
          <p:cNvPr id="42" name="Text 33"/>
          <p:cNvSpPr txBox="1"/>
          <p:nvPr/>
        </p:nvSpPr>
        <p:spPr>
          <a:xfrm>
            <a:off x="4429354" y="2794406"/>
            <a:ext cx="3351276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Engineering standard. Specs and code are updated synchronously, serving as a long-term maintenance anchor. Requires Git management.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4429354" y="5288890"/>
            <a:ext cx="3333902" cy="9144"/>
          </a:xfrm>
          <a:prstGeom prst="rect">
            <a:avLst/>
          </a:prstGeom>
          <a:solidFill>
            <a:srgbClr val="000000">
              <a:alpha val="5000"/>
            </a:srgbClr>
          </a:solidFill>
        </p:spPr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6"/>
          <a:srcRect l="-2571" r="-2571"/>
          <a:stretch>
            <a:fillRect/>
          </a:stretch>
        </p:blipFill>
        <p:spPr>
          <a:xfrm>
            <a:off x="4429354" y="5412334"/>
            <a:ext cx="105156" cy="11430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4533595" y="5422392"/>
            <a:ext cx="19074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Applicable: 500-2000 line projects</a:t>
            </a:r>
            <a:endParaRPr lang="en-US" sz="100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6"/>
          <a:srcRect l="-2571" r="-2571"/>
          <a:stretch>
            <a:fillRect/>
          </a:stretch>
        </p:blipFill>
        <p:spPr>
          <a:xfrm>
            <a:off x="4429354" y="5641848"/>
            <a:ext cx="105156" cy="11430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4533595" y="5650992"/>
            <a:ext cx="17547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Essential for team collaboration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8076895" y="1890065"/>
            <a:ext cx="3657600" cy="4143146"/>
          </a:xfrm>
          <a:prstGeom prst="roundRect">
            <a:avLst>
              <a:gd name="adj" fmla="val 781"/>
            </a:avLst>
          </a:prstGeom>
          <a:solidFill>
            <a:srgbClr val="FDF2F8"/>
          </a:solidFill>
          <a:ln w="12700">
            <a:solidFill>
              <a:srgbClr val="FBCFE8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9" name="Shape 38"/>
          <p:cNvSpPr/>
          <p:nvPr/>
        </p:nvSpPr>
        <p:spPr>
          <a:xfrm>
            <a:off x="8238744" y="205191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CE7F3"/>
          </a:solidFill>
        </p:spPr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7"/>
          <a:srcRect t="-2725" b="-2725"/>
          <a:stretch>
            <a:fillRect/>
          </a:stretch>
        </p:blipFill>
        <p:spPr>
          <a:xfrm>
            <a:off x="8339328" y="2137867"/>
            <a:ext cx="142646" cy="171907"/>
          </a:xfrm>
          <a:prstGeom prst="rect">
            <a:avLst/>
          </a:prstGeom>
        </p:spPr>
      </p:pic>
      <p:sp>
        <p:nvSpPr>
          <p:cNvPr id="51" name="Shape 39"/>
          <p:cNvSpPr/>
          <p:nvPr/>
        </p:nvSpPr>
        <p:spPr>
          <a:xfrm>
            <a:off x="11013948" y="2051914"/>
            <a:ext cx="562356" cy="228600"/>
          </a:xfrm>
          <a:prstGeom prst="roundRect">
            <a:avLst>
              <a:gd name="adj" fmla="val 400000"/>
            </a:avLst>
          </a:prstGeom>
          <a:solidFill>
            <a:srgbClr val="DB2777"/>
          </a:solidFill>
        </p:spPr>
      </p:sp>
      <p:sp>
        <p:nvSpPr>
          <p:cNvPr id="52" name="Text 40"/>
          <p:cNvSpPr txBox="1"/>
          <p:nvPr/>
        </p:nvSpPr>
        <p:spPr>
          <a:xfrm>
            <a:off x="11105388" y="2093976"/>
            <a:ext cx="47274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Level 3</a:t>
            </a:r>
            <a:endParaRPr lang="en-US" sz="900" dirty="0"/>
          </a:p>
        </p:txBody>
      </p:sp>
      <p:sp>
        <p:nvSpPr>
          <p:cNvPr id="53" name="Text 41"/>
          <p:cNvSpPr txBox="1"/>
          <p:nvPr/>
        </p:nvSpPr>
        <p:spPr>
          <a:xfrm>
            <a:off x="8238744" y="2480767"/>
            <a:ext cx="3248863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D174D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Spec-as-SourceSpecification as Source</a:t>
            </a:r>
            <a:endParaRPr lang="en-US" sz="1500" dirty="0"/>
          </a:p>
        </p:txBody>
      </p:sp>
      <p:sp>
        <p:nvSpPr>
          <p:cNvPr id="54" name="Text 42"/>
          <p:cNvSpPr txBox="1"/>
          <p:nvPr/>
        </p:nvSpPr>
        <p:spPr>
          <a:xfrm>
            <a:off x="8238744" y="2794406"/>
            <a:ext cx="3198571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Extreme automation. Edit only specs; code is fully auto-generated and strictly read-only, ensuring absolute consistency.</a:t>
            </a:r>
            <a:endParaRPr lang="en-US" sz="1000" dirty="0"/>
          </a:p>
        </p:txBody>
      </p:sp>
      <p:sp>
        <p:nvSpPr>
          <p:cNvPr id="55" name="Shape 43"/>
          <p:cNvSpPr/>
          <p:nvPr/>
        </p:nvSpPr>
        <p:spPr>
          <a:xfrm>
            <a:off x="8238744" y="5288890"/>
            <a:ext cx="3333902" cy="9144"/>
          </a:xfrm>
          <a:prstGeom prst="rect">
            <a:avLst/>
          </a:prstGeom>
          <a:solidFill>
            <a:srgbClr val="000000">
              <a:alpha val="5000"/>
            </a:srgbClr>
          </a:solidFill>
        </p:spPr>
      </p:sp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8"/>
          <a:srcRect l="-2571" r="-2571"/>
          <a:stretch>
            <a:fillRect/>
          </a:stretch>
        </p:blipFill>
        <p:spPr>
          <a:xfrm>
            <a:off x="8238744" y="5412334"/>
            <a:ext cx="105156" cy="114300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8343900" y="5422392"/>
            <a:ext cx="20976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Applicable: Structured/repetitive logic</a:t>
            </a:r>
            <a:endParaRPr lang="en-US" sz="1000" dirty="0"/>
          </a:p>
        </p:txBody>
      </p:sp>
      <p:pic>
        <p:nvPicPr>
          <p:cNvPr id="58" name="Image 11" descr="preencoded.png"/>
          <p:cNvPicPr>
            <a:picLocks noChangeAspect="1"/>
          </p:cNvPicPr>
          <p:nvPr/>
        </p:nvPicPr>
        <p:blipFill>
          <a:blip r:embed="rId8"/>
          <a:srcRect l="-2571" r="-2571"/>
          <a:stretch>
            <a:fillRect/>
          </a:stretch>
        </p:blipFill>
        <p:spPr>
          <a:xfrm>
            <a:off x="8238744" y="5641848"/>
            <a:ext cx="105156" cy="114300"/>
          </a:xfrm>
          <a:prstGeom prst="rect">
            <a:avLst/>
          </a:prstGeom>
        </p:spPr>
      </p:pic>
      <p:sp>
        <p:nvSpPr>
          <p:cNvPr id="59" name="Text 45"/>
          <p:cNvSpPr txBox="1"/>
          <p:nvPr/>
        </p:nvSpPr>
        <p:spPr>
          <a:xfrm>
            <a:off x="8343900" y="5650992"/>
            <a:ext cx="15736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100% consistency guarantee</a:t>
            </a:r>
            <a:endParaRPr lang="en-US" sz="1000" dirty="0"/>
          </a:p>
        </p:txBody>
      </p:sp>
      <p:sp>
        <p:nvSpPr>
          <p:cNvPr id="60" name="Shape 46"/>
          <p:cNvSpPr/>
          <p:nvPr/>
        </p:nvSpPr>
        <p:spPr>
          <a:xfrm>
            <a:off x="457200" y="6185002"/>
            <a:ext cx="11277295" cy="448056"/>
          </a:xfrm>
          <a:prstGeom prst="roundRect">
            <a:avLst>
              <a:gd name="adj" fmla="val 34737"/>
            </a:avLst>
          </a:prstGeom>
          <a:solidFill>
            <a:srgbClr val="F8FAFC"/>
          </a:solidFill>
        </p:spPr>
      </p:sp>
      <p:sp>
        <p:nvSpPr>
          <p:cNvPr id="61" name="Shape 47"/>
          <p:cNvSpPr/>
          <p:nvPr/>
        </p:nvSpPr>
        <p:spPr>
          <a:xfrm>
            <a:off x="457200" y="6185002"/>
            <a:ext cx="112772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48"/>
          <p:cNvSpPr txBox="1"/>
          <p:nvPr/>
        </p:nvSpPr>
        <p:spPr>
          <a:xfrm>
            <a:off x="685800" y="6334049"/>
            <a:ext cx="12307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 BENEFITS</a:t>
            </a:r>
            <a:endParaRPr lang="en-US" sz="1000" dirty="0"/>
          </a:p>
        </p:txBody>
      </p:sp>
      <p:pic>
        <p:nvPicPr>
          <p:cNvPr id="63" name="Image 12" descr="preencoded.png"/>
          <p:cNvPicPr>
            <a:picLocks noChangeAspect="1"/>
          </p:cNvPicPr>
          <p:nvPr/>
        </p:nvPicPr>
        <p:blipFill>
          <a:blip r:embed="rId9"/>
          <a:srcRect l="-837" r="-837"/>
          <a:stretch>
            <a:fillRect/>
          </a:stretch>
        </p:blipFill>
        <p:spPr>
          <a:xfrm>
            <a:off x="2198218" y="6345022"/>
            <a:ext cx="152705" cy="133502"/>
          </a:xfrm>
          <a:prstGeom prst="rect">
            <a:avLst/>
          </a:prstGeom>
        </p:spPr>
      </p:pic>
      <p:sp>
        <p:nvSpPr>
          <p:cNvPr id="64" name="Text 49"/>
          <p:cNvSpPr txBox="1"/>
          <p:nvPr/>
        </p:nvSpPr>
        <p:spPr>
          <a:xfrm>
            <a:off x="2350008" y="6328562"/>
            <a:ext cx="92263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Fewer Detours</a:t>
            </a:r>
            <a:endParaRPr lang="en-US" sz="1000" dirty="0"/>
          </a:p>
        </p:txBody>
      </p:sp>
      <p:pic>
        <p:nvPicPr>
          <p:cNvPr id="65" name="Image 13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466490" y="6345022"/>
            <a:ext cx="133502" cy="133502"/>
          </a:xfrm>
          <a:prstGeom prst="rect">
            <a:avLst/>
          </a:prstGeom>
        </p:spPr>
      </p:pic>
      <p:sp>
        <p:nvSpPr>
          <p:cNvPr id="66" name="Text 50"/>
          <p:cNvSpPr txBox="1"/>
          <p:nvPr/>
        </p:nvSpPr>
        <p:spPr>
          <a:xfrm>
            <a:off x="3599078" y="6328562"/>
            <a:ext cx="97017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Reproducibility</a:t>
            </a:r>
            <a:endParaRPr lang="en-US" sz="1000" dirty="0"/>
          </a:p>
        </p:txBody>
      </p:sp>
      <p:pic>
        <p:nvPicPr>
          <p:cNvPr id="67" name="Image 14" descr="preencoded.png"/>
          <p:cNvPicPr>
            <a:picLocks noChangeAspect="1"/>
          </p:cNvPicPr>
          <p:nvPr/>
        </p:nvPicPr>
        <p:blipFill>
          <a:blip r:embed="rId11"/>
          <a:srcRect l="-1507" r="-1507"/>
          <a:stretch>
            <a:fillRect/>
          </a:stretch>
        </p:blipFill>
        <p:spPr>
          <a:xfrm>
            <a:off x="4764938" y="6345022"/>
            <a:ext cx="171907" cy="133502"/>
          </a:xfrm>
          <a:prstGeom prst="rect">
            <a:avLst/>
          </a:prstGeom>
        </p:spPr>
      </p:pic>
      <p:sp>
        <p:nvSpPr>
          <p:cNvPr id="68" name="Text 51"/>
          <p:cNvSpPr txBox="1"/>
          <p:nvPr/>
        </p:nvSpPr>
        <p:spPr>
          <a:xfrm>
            <a:off x="4935931" y="6328562"/>
            <a:ext cx="101772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Seamless Collab</a:t>
            </a:r>
            <a:endParaRPr lang="en-US" sz="1000" dirty="0"/>
          </a:p>
        </p:txBody>
      </p:sp>
      <p:pic>
        <p:nvPicPr>
          <p:cNvPr id="69" name="Image 15" descr="preencoded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6151169" y="6345022"/>
            <a:ext cx="133502" cy="133502"/>
          </a:xfrm>
          <a:prstGeom prst="rect">
            <a:avLst/>
          </a:prstGeom>
        </p:spPr>
      </p:pic>
      <p:sp>
        <p:nvSpPr>
          <p:cNvPr id="70" name="Text 52"/>
          <p:cNvSpPr txBox="1"/>
          <p:nvPr/>
        </p:nvSpPr>
        <p:spPr>
          <a:xfrm>
            <a:off x="6283757" y="6328562"/>
            <a:ext cx="95097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Maintainability</a:t>
            </a:r>
            <a:endParaRPr lang="en-US" sz="1000" dirty="0"/>
          </a:p>
        </p:txBody>
      </p:sp>
      <p:sp>
        <p:nvSpPr>
          <p:cNvPr id="71" name="Text 53"/>
          <p:cNvSpPr txBox="1"/>
          <p:nvPr/>
        </p:nvSpPr>
        <p:spPr>
          <a:xfrm>
            <a:off x="11505895" y="6334049"/>
            <a:ext cx="400507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09398"/>
            <a:ext cx="2686507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Level 1: Spec-First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368650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3683203" y="295351"/>
            <a:ext cx="29434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Entry-level Practice: Fast, Efficient, Traceable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90295"/>
            <a:ext cx="4390949" cy="5639105"/>
          </a:xfrm>
          <a:prstGeom prst="roundRect">
            <a:avLst>
              <a:gd name="adj" fmla="val 54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1591056"/>
            <a:ext cx="3914546" cy="19202"/>
          </a:xfrm>
          <a:prstGeom prst="rect">
            <a:avLst/>
          </a:prstGeom>
          <a:solidFill>
            <a:srgbClr val="E2E8F0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94944" y="1276502"/>
            <a:ext cx="190195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00354" y="1266444"/>
            <a:ext cx="177210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Standard Workflow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33856" y="1849831"/>
            <a:ext cx="20674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Define Requirements &amp; Goals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133856" y="2287829"/>
            <a:ext cx="24195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Write Spec Document (Markdown)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33856" y="2725826"/>
            <a:ext cx="23344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Generates Code Based on Spec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33856" y="3163824"/>
            <a:ext cx="22960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Manual Review &amp; Simple Testing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133856" y="3601822"/>
            <a:ext cx="20199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Task Complete, Archive Spec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4944" y="4810658"/>
            <a:ext cx="3914546" cy="1580998"/>
          </a:xfrm>
          <a:prstGeom prst="roundRect">
            <a:avLst>
              <a:gd name="adj" fmla="val 278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7707" y="4990795"/>
            <a:ext cx="182697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APPLICABLE SCENARIOS</a:t>
            </a:r>
            <a:endParaRPr lang="en-US" sz="10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7707" y="5295290"/>
            <a:ext cx="123444" cy="12344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81151" y="5254142"/>
            <a:ext cx="154167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64E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Small Scripts (&lt;200 lines)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7707" y="5538521"/>
            <a:ext cx="123444" cy="12344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81151" y="5498287"/>
            <a:ext cx="1465783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64E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One-off Data Processing</a:t>
            </a:r>
            <a:endParaRPr lang="en-US" sz="10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7707" y="5782666"/>
            <a:ext cx="123444" cy="1234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81151" y="5741518"/>
            <a:ext cx="160843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64E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Quick Prototype Validation</a:t>
            </a:r>
            <a:endParaRPr lang="en-US" sz="10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7707" y="6026810"/>
            <a:ext cx="123444" cy="1234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81151" y="5985662"/>
            <a:ext cx="1580083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64E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Learning New Tech Stacks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150815" y="990295"/>
            <a:ext cx="6590995" cy="4600346"/>
          </a:xfrm>
          <a:prstGeom prst="roundRect">
            <a:avLst>
              <a:gd name="adj" fmla="val 494"/>
            </a:avLst>
          </a:prstGeom>
          <a:solidFill>
            <a:srgbClr val="1E293B"/>
          </a:solidFill>
          <a:effectLst>
            <a:outerShdw blurRad="139700" dist="1016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5150815" y="990295"/>
            <a:ext cx="6590995" cy="476402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9" name="Shape 22"/>
          <p:cNvSpPr/>
          <p:nvPr/>
        </p:nvSpPr>
        <p:spPr>
          <a:xfrm>
            <a:off x="5150815" y="1457554"/>
            <a:ext cx="6590995" cy="9144"/>
          </a:xfrm>
          <a:prstGeom prst="rect">
            <a:avLst/>
          </a:prstGeom>
          <a:solidFill>
            <a:srgbClr val="334155"/>
          </a:solidFill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3"/>
          <a:srcRect l="-1507" r="-1507"/>
          <a:stretch>
            <a:fillRect/>
          </a:stretch>
        </p:blipFill>
        <p:spPr>
          <a:xfrm>
            <a:off x="5379415" y="1153973"/>
            <a:ext cx="171907" cy="1335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627218" y="1118311"/>
            <a:ext cx="1675181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spec_poi_density.md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10634472" y="1104595"/>
            <a:ext cx="875995" cy="237744"/>
          </a:xfrm>
          <a:prstGeom prst="roundRect">
            <a:avLst>
              <a:gd name="adj" fmla="val 61538"/>
            </a:avLst>
          </a:prstGeom>
          <a:solidFill>
            <a:srgbClr val="059669"/>
          </a:solidFill>
        </p:spPr>
      </p:sp>
      <p:sp>
        <p:nvSpPr>
          <p:cNvPr id="33" name="Text 25"/>
          <p:cNvSpPr txBox="1"/>
          <p:nvPr/>
        </p:nvSpPr>
        <p:spPr>
          <a:xfrm>
            <a:off x="10725912" y="1153973"/>
            <a:ext cx="7818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Example Spec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5491886" y="1708099"/>
            <a:ext cx="1828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5722315" y="1708099"/>
            <a:ext cx="305958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8B4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Feature: POI Kernel Density Analysis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5491886" y="1915668"/>
            <a:ext cx="1828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5491886" y="2123237"/>
            <a:ext cx="1828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5722315" y="2123237"/>
            <a:ext cx="220279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1. Requirements Overview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5491886" y="2330806"/>
            <a:ext cx="1828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5722315" y="2330806"/>
            <a:ext cx="469818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 kernel density of urban POIs, generate heatmap...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5491886" y="2537460"/>
            <a:ext cx="1828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Text 34"/>
          <p:cNvSpPr txBox="1"/>
          <p:nvPr/>
        </p:nvSpPr>
        <p:spPr>
          <a:xfrm>
            <a:off x="5491886" y="2745029"/>
            <a:ext cx="1828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5722315" y="2745029"/>
            <a:ext cx="134508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2. Input Data</a:t>
            </a:r>
            <a:endParaRPr lang="en-US" sz="1000" dirty="0"/>
          </a:p>
        </p:txBody>
      </p:sp>
      <p:sp>
        <p:nvSpPr>
          <p:cNvPr id="44" name="Text 36"/>
          <p:cNvSpPr txBox="1"/>
          <p:nvPr/>
        </p:nvSpPr>
        <p:spPr>
          <a:xfrm>
            <a:off x="5491886" y="2952598"/>
            <a:ext cx="1828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5722315" y="2952598"/>
            <a:ext cx="1828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000" dirty="0"/>
          </a:p>
        </p:txBody>
      </p:sp>
      <p:sp>
        <p:nvSpPr>
          <p:cNvPr id="46" name="Text 38"/>
          <p:cNvSpPr txBox="1"/>
          <p:nvPr/>
        </p:nvSpPr>
        <p:spPr>
          <a:xfrm>
            <a:off x="5800954" y="2952598"/>
            <a:ext cx="104058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pois.geojson</a:t>
            </a:r>
            <a:endParaRPr lang="en-US" sz="1000" dirty="0"/>
          </a:p>
        </p:txBody>
      </p:sp>
      <p:sp>
        <p:nvSpPr>
          <p:cNvPr id="47" name="Text 39"/>
          <p:cNvSpPr txBox="1"/>
          <p:nvPr/>
        </p:nvSpPr>
        <p:spPr>
          <a:xfrm>
            <a:off x="6736385" y="2952598"/>
            <a:ext cx="329824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GeoDataFrame, Point Geometry, EPSG:4326</a:t>
            </a:r>
            <a:endParaRPr lang="en-US" sz="1000" dirty="0"/>
          </a:p>
        </p:txBody>
      </p:sp>
      <p:sp>
        <p:nvSpPr>
          <p:cNvPr id="48" name="Text 40"/>
          <p:cNvSpPr txBox="1"/>
          <p:nvPr/>
        </p:nvSpPr>
        <p:spPr>
          <a:xfrm>
            <a:off x="5491886" y="3160166"/>
            <a:ext cx="1828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49" name="Text 41"/>
          <p:cNvSpPr txBox="1"/>
          <p:nvPr/>
        </p:nvSpPr>
        <p:spPr>
          <a:xfrm>
            <a:off x="5722315" y="3160166"/>
            <a:ext cx="1828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000" dirty="0"/>
          </a:p>
        </p:txBody>
      </p:sp>
      <p:sp>
        <p:nvSpPr>
          <p:cNvPr id="50" name="Text 42"/>
          <p:cNvSpPr txBox="1"/>
          <p:nvPr/>
        </p:nvSpPr>
        <p:spPr>
          <a:xfrm>
            <a:off x="5800954" y="3160166"/>
            <a:ext cx="104058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boundary.shp</a:t>
            </a:r>
            <a:endParaRPr lang="en-US" sz="1000" dirty="0"/>
          </a:p>
        </p:txBody>
      </p:sp>
      <p:sp>
        <p:nvSpPr>
          <p:cNvPr id="51" name="Text 43"/>
          <p:cNvSpPr txBox="1"/>
          <p:nvPr/>
        </p:nvSpPr>
        <p:spPr>
          <a:xfrm>
            <a:off x="6736385" y="3160166"/>
            <a:ext cx="236463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Study Area Boundary Polygon</a:t>
            </a:r>
            <a:endParaRPr lang="en-US" sz="1000" dirty="0"/>
          </a:p>
        </p:txBody>
      </p:sp>
      <p:sp>
        <p:nvSpPr>
          <p:cNvPr id="52" name="Text 44"/>
          <p:cNvSpPr txBox="1"/>
          <p:nvPr/>
        </p:nvSpPr>
        <p:spPr>
          <a:xfrm>
            <a:off x="5491886" y="3366821"/>
            <a:ext cx="1828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53" name="Text 45"/>
          <p:cNvSpPr txBox="1"/>
          <p:nvPr/>
        </p:nvSpPr>
        <p:spPr>
          <a:xfrm>
            <a:off x="5414162" y="3574390"/>
            <a:ext cx="25969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54" name="Text 46"/>
          <p:cNvSpPr txBox="1"/>
          <p:nvPr/>
        </p:nvSpPr>
        <p:spPr>
          <a:xfrm>
            <a:off x="5722315" y="3574390"/>
            <a:ext cx="205008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3. Output Deliverables</a:t>
            </a:r>
            <a:endParaRPr lang="en-US" sz="1000" dirty="0"/>
          </a:p>
        </p:txBody>
      </p:sp>
      <p:sp>
        <p:nvSpPr>
          <p:cNvPr id="55" name="Text 47"/>
          <p:cNvSpPr txBox="1"/>
          <p:nvPr/>
        </p:nvSpPr>
        <p:spPr>
          <a:xfrm>
            <a:off x="5414162" y="3781958"/>
            <a:ext cx="25969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56" name="Text 48"/>
          <p:cNvSpPr txBox="1"/>
          <p:nvPr/>
        </p:nvSpPr>
        <p:spPr>
          <a:xfrm>
            <a:off x="5722315" y="3781958"/>
            <a:ext cx="1828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000" dirty="0"/>
          </a:p>
        </p:txBody>
      </p:sp>
      <p:sp>
        <p:nvSpPr>
          <p:cNvPr id="57" name="Text 49"/>
          <p:cNvSpPr txBox="1"/>
          <p:nvPr/>
        </p:nvSpPr>
        <p:spPr>
          <a:xfrm>
            <a:off x="5800954" y="3781958"/>
            <a:ext cx="96469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density.tif</a:t>
            </a:r>
            <a:endParaRPr lang="en-US" sz="1000" dirty="0"/>
          </a:p>
        </p:txBody>
      </p:sp>
      <p:sp>
        <p:nvSpPr>
          <p:cNvPr id="58" name="Text 50"/>
          <p:cNvSpPr txBox="1"/>
          <p:nvPr/>
        </p:nvSpPr>
        <p:spPr>
          <a:xfrm>
            <a:off x="6657746" y="3781958"/>
            <a:ext cx="275508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GeoTIFF Density Raster (Float32)</a:t>
            </a:r>
            <a:endParaRPr lang="en-US" sz="1000" dirty="0"/>
          </a:p>
        </p:txBody>
      </p:sp>
      <p:sp>
        <p:nvSpPr>
          <p:cNvPr id="59" name="Text 51"/>
          <p:cNvSpPr txBox="1"/>
          <p:nvPr/>
        </p:nvSpPr>
        <p:spPr>
          <a:xfrm>
            <a:off x="5414162" y="3988613"/>
            <a:ext cx="25969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60" name="Text 52"/>
          <p:cNvSpPr txBox="1"/>
          <p:nvPr/>
        </p:nvSpPr>
        <p:spPr>
          <a:xfrm>
            <a:off x="5722315" y="3988613"/>
            <a:ext cx="1828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000" dirty="0"/>
          </a:p>
        </p:txBody>
      </p:sp>
      <p:sp>
        <p:nvSpPr>
          <p:cNvPr id="61" name="Text 53"/>
          <p:cNvSpPr txBox="1"/>
          <p:nvPr/>
        </p:nvSpPr>
        <p:spPr>
          <a:xfrm>
            <a:off x="5800954" y="3988613"/>
            <a:ext cx="96469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heatmap.png</a:t>
            </a:r>
            <a:endParaRPr lang="en-US" sz="1000" dirty="0"/>
          </a:p>
        </p:txBody>
      </p:sp>
      <p:sp>
        <p:nvSpPr>
          <p:cNvPr id="62" name="Text 54"/>
          <p:cNvSpPr txBox="1"/>
          <p:nvPr/>
        </p:nvSpPr>
        <p:spPr>
          <a:xfrm>
            <a:off x="6657746" y="3988613"/>
            <a:ext cx="305958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Visual Heatmap (300dpi, with legend)</a:t>
            </a:r>
            <a:endParaRPr lang="en-US" sz="1000" dirty="0"/>
          </a:p>
        </p:txBody>
      </p:sp>
      <p:sp>
        <p:nvSpPr>
          <p:cNvPr id="63" name="Text 55"/>
          <p:cNvSpPr txBox="1"/>
          <p:nvPr/>
        </p:nvSpPr>
        <p:spPr>
          <a:xfrm>
            <a:off x="5414162" y="4196182"/>
            <a:ext cx="25969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64" name="Text 56"/>
          <p:cNvSpPr txBox="1"/>
          <p:nvPr/>
        </p:nvSpPr>
        <p:spPr>
          <a:xfrm>
            <a:off x="5414162" y="4403750"/>
            <a:ext cx="25969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65" name="Text 57"/>
          <p:cNvSpPr txBox="1"/>
          <p:nvPr/>
        </p:nvSpPr>
        <p:spPr>
          <a:xfrm>
            <a:off x="5722315" y="4403750"/>
            <a:ext cx="236463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4. Algorithms &amp; Parameters</a:t>
            </a:r>
            <a:endParaRPr lang="en-US" sz="1000" dirty="0"/>
          </a:p>
        </p:txBody>
      </p:sp>
      <p:sp>
        <p:nvSpPr>
          <p:cNvPr id="66" name="Text 58"/>
          <p:cNvSpPr txBox="1"/>
          <p:nvPr/>
        </p:nvSpPr>
        <p:spPr>
          <a:xfrm>
            <a:off x="5414162" y="4611319"/>
            <a:ext cx="25969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67" name="Text 59"/>
          <p:cNvSpPr txBox="1"/>
          <p:nvPr/>
        </p:nvSpPr>
        <p:spPr>
          <a:xfrm>
            <a:off x="5722315" y="4611319"/>
            <a:ext cx="353598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Method: Gaussian Kernel Density Estimation</a:t>
            </a:r>
            <a:endParaRPr lang="en-US" sz="1000" dirty="0"/>
          </a:p>
        </p:txBody>
      </p:sp>
      <p:sp>
        <p:nvSpPr>
          <p:cNvPr id="68" name="Text 60"/>
          <p:cNvSpPr txBox="1"/>
          <p:nvPr/>
        </p:nvSpPr>
        <p:spPr>
          <a:xfrm>
            <a:off x="5414162" y="4817974"/>
            <a:ext cx="25969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69" name="Text 61"/>
          <p:cNvSpPr txBox="1"/>
          <p:nvPr/>
        </p:nvSpPr>
        <p:spPr>
          <a:xfrm>
            <a:off x="5722315" y="4817974"/>
            <a:ext cx="400324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Bandwidth: Use Scott's rule adaptive calculation</a:t>
            </a:r>
            <a:endParaRPr lang="en-US" sz="1000" dirty="0"/>
          </a:p>
        </p:txBody>
      </p:sp>
      <p:sp>
        <p:nvSpPr>
          <p:cNvPr id="70" name="Text 62"/>
          <p:cNvSpPr txBox="1"/>
          <p:nvPr/>
        </p:nvSpPr>
        <p:spPr>
          <a:xfrm>
            <a:off x="5414162" y="5025542"/>
            <a:ext cx="25969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  <p:sp>
        <p:nvSpPr>
          <p:cNvPr id="71" name="Text 63"/>
          <p:cNvSpPr txBox="1"/>
          <p:nvPr/>
        </p:nvSpPr>
        <p:spPr>
          <a:xfrm>
            <a:off x="5414162" y="5233111"/>
            <a:ext cx="25969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 dirty="0"/>
          </a:p>
        </p:txBody>
      </p:sp>
      <p:sp>
        <p:nvSpPr>
          <p:cNvPr id="72" name="Text 64"/>
          <p:cNvSpPr txBox="1"/>
          <p:nvPr/>
        </p:nvSpPr>
        <p:spPr>
          <a:xfrm>
            <a:off x="5722315" y="5233111"/>
            <a:ext cx="18973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5. Code Requirements</a:t>
            </a:r>
            <a:endParaRPr lang="en-US" sz="1000" dirty="0"/>
          </a:p>
        </p:txBody>
      </p:sp>
      <p:sp>
        <p:nvSpPr>
          <p:cNvPr id="73" name="Text 65"/>
          <p:cNvSpPr txBox="1"/>
          <p:nvPr/>
        </p:nvSpPr>
        <p:spPr>
          <a:xfrm>
            <a:off x="5414162" y="5440680"/>
            <a:ext cx="25969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  <p:sp>
        <p:nvSpPr>
          <p:cNvPr id="74" name="Text 66"/>
          <p:cNvSpPr txBox="1"/>
          <p:nvPr/>
        </p:nvSpPr>
        <p:spPr>
          <a:xfrm>
            <a:off x="5722315" y="5440680"/>
            <a:ext cx="96469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Function:</a:t>
            </a:r>
            <a:endParaRPr lang="en-US" sz="1000" dirty="0"/>
          </a:p>
        </p:txBody>
      </p:sp>
      <p:sp>
        <p:nvSpPr>
          <p:cNvPr id="75" name="Text 67"/>
          <p:cNvSpPr txBox="1"/>
          <p:nvPr/>
        </p:nvSpPr>
        <p:spPr>
          <a:xfrm>
            <a:off x="6580022" y="5440680"/>
            <a:ext cx="353598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calculate_kde(gdf, bandwidth=None) -&gt; raster</a:t>
            </a:r>
            <a:endParaRPr lang="en-US" sz="1000" dirty="0"/>
          </a:p>
        </p:txBody>
      </p:sp>
      <p:sp>
        <p:nvSpPr>
          <p:cNvPr id="76" name="Text 68"/>
          <p:cNvSpPr txBox="1"/>
          <p:nvPr/>
        </p:nvSpPr>
        <p:spPr>
          <a:xfrm>
            <a:off x="5414162" y="5647334"/>
            <a:ext cx="25969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</p:txBody>
      </p:sp>
      <p:sp>
        <p:nvSpPr>
          <p:cNvPr id="77" name="Text 69"/>
          <p:cNvSpPr txBox="1"/>
          <p:nvPr/>
        </p:nvSpPr>
        <p:spPr>
          <a:xfrm>
            <a:off x="5722315" y="5647334"/>
            <a:ext cx="305958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Must include Google-style docstrings</a:t>
            </a:r>
            <a:endParaRPr lang="en-US" sz="1000" dirty="0"/>
          </a:p>
        </p:txBody>
      </p:sp>
      <p:sp>
        <p:nvSpPr>
          <p:cNvPr id="78" name="Text 70"/>
          <p:cNvSpPr txBox="1"/>
          <p:nvPr/>
        </p:nvSpPr>
        <p:spPr>
          <a:xfrm>
            <a:off x="5414162" y="5854903"/>
            <a:ext cx="25969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000" dirty="0"/>
          </a:p>
        </p:txBody>
      </p:sp>
      <p:sp>
        <p:nvSpPr>
          <p:cNvPr id="79" name="Text 71"/>
          <p:cNvSpPr txBox="1"/>
          <p:nvPr/>
        </p:nvSpPr>
        <p:spPr>
          <a:xfrm>
            <a:off x="5722315" y="5854903"/>
            <a:ext cx="21259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Unit test coverage &gt; 80%</a:t>
            </a:r>
            <a:endParaRPr lang="en-US" sz="1000" dirty="0"/>
          </a:p>
        </p:txBody>
      </p:sp>
      <p:sp>
        <p:nvSpPr>
          <p:cNvPr id="80" name="Shape 72"/>
          <p:cNvSpPr/>
          <p:nvPr/>
        </p:nvSpPr>
        <p:spPr>
          <a:xfrm>
            <a:off x="5150815" y="5741518"/>
            <a:ext cx="3219602" cy="895198"/>
          </a:xfrm>
          <a:prstGeom prst="roundRect">
            <a:avLst>
              <a:gd name="adj" fmla="val 869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81" name="Image 6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282489" y="5899709"/>
            <a:ext cx="133502" cy="133502"/>
          </a:xfrm>
          <a:prstGeom prst="rect">
            <a:avLst/>
          </a:prstGeom>
        </p:spPr>
      </p:pic>
      <p:sp>
        <p:nvSpPr>
          <p:cNvPr id="82" name="Text 73"/>
          <p:cNvSpPr txBox="1"/>
          <p:nvPr/>
        </p:nvSpPr>
        <p:spPr>
          <a:xfrm>
            <a:off x="5454396" y="5892394"/>
            <a:ext cx="37033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6534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Pros</a:t>
            </a:r>
            <a:endParaRPr lang="en-US" sz="1000" dirty="0"/>
          </a:p>
        </p:txBody>
      </p:sp>
      <p:sp>
        <p:nvSpPr>
          <p:cNvPr id="83" name="Text 74"/>
          <p:cNvSpPr txBox="1"/>
          <p:nvPr/>
        </p:nvSpPr>
        <p:spPr>
          <a:xfrm>
            <a:off x="5282489" y="6135624"/>
            <a:ext cx="2643530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66534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Higher quality than pure chat; Documented and traceable</a:t>
            </a:r>
            <a:endParaRPr lang="en-US" sz="1000" dirty="0"/>
          </a:p>
        </p:txBody>
      </p:sp>
      <p:sp>
        <p:nvSpPr>
          <p:cNvPr id="84" name="Shape 75"/>
          <p:cNvSpPr/>
          <p:nvPr/>
        </p:nvSpPr>
        <p:spPr>
          <a:xfrm>
            <a:off x="8519465" y="5741518"/>
            <a:ext cx="3219602" cy="895198"/>
          </a:xfrm>
          <a:prstGeom prst="roundRect">
            <a:avLst>
              <a:gd name="adj" fmla="val 869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85" name="Image 7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650224" y="5899709"/>
            <a:ext cx="133502" cy="133502"/>
          </a:xfrm>
          <a:prstGeom prst="rect">
            <a:avLst/>
          </a:prstGeom>
        </p:spPr>
      </p:pic>
      <p:sp>
        <p:nvSpPr>
          <p:cNvPr id="86" name="Text 76"/>
          <p:cNvSpPr txBox="1"/>
          <p:nvPr/>
        </p:nvSpPr>
        <p:spPr>
          <a:xfrm>
            <a:off x="8822131" y="5892394"/>
            <a:ext cx="40782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91B1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Cons</a:t>
            </a:r>
            <a:endParaRPr lang="en-US" sz="1000" dirty="0"/>
          </a:p>
        </p:txBody>
      </p:sp>
      <p:sp>
        <p:nvSpPr>
          <p:cNvPr id="87" name="Text 77"/>
          <p:cNvSpPr txBox="1"/>
          <p:nvPr/>
        </p:nvSpPr>
        <p:spPr>
          <a:xfrm>
            <a:off x="8650224" y="6135624"/>
            <a:ext cx="300563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1B1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 can become outdated; Not for complex iterations</a:t>
            </a:r>
            <a:endParaRPr lang="en-US" sz="1000" dirty="0"/>
          </a:p>
        </p:txBody>
      </p:sp>
      <p:sp>
        <p:nvSpPr>
          <p:cNvPr id="88" name="Text 78"/>
          <p:cNvSpPr txBox="1"/>
          <p:nvPr/>
        </p:nvSpPr>
        <p:spPr>
          <a:xfrm>
            <a:off x="11505895" y="6334049"/>
            <a:ext cx="400507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15</a:t>
            </a:r>
            <a:endParaRPr lang="en-US" sz="1800" dirty="0"/>
          </a:p>
        </p:txBody>
      </p:sp>
      <p:sp>
        <p:nvSpPr>
          <p:cNvPr id="89" name="Shape 79"/>
          <p:cNvSpPr/>
          <p:nvPr/>
        </p:nvSpPr>
        <p:spPr>
          <a:xfrm>
            <a:off x="694944" y="1792224"/>
            <a:ext cx="286207" cy="286207"/>
          </a:xfrm>
          <a:prstGeom prst="ellipse">
            <a:avLst/>
          </a:prstGeom>
          <a:solidFill>
            <a:srgbClr val="0F172A"/>
          </a:solidFill>
        </p:spPr>
      </p:sp>
      <p:sp>
        <p:nvSpPr>
          <p:cNvPr id="90" name="Text 80"/>
          <p:cNvSpPr txBox="1"/>
          <p:nvPr/>
        </p:nvSpPr>
        <p:spPr>
          <a:xfrm>
            <a:off x="803758" y="1832458"/>
            <a:ext cx="17922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</a:t>
            </a:r>
            <a:endParaRPr lang="en-US" sz="1000" dirty="0"/>
          </a:p>
        </p:txBody>
      </p:sp>
      <p:sp>
        <p:nvSpPr>
          <p:cNvPr id="91" name="Shape 81"/>
          <p:cNvSpPr/>
          <p:nvPr/>
        </p:nvSpPr>
        <p:spPr>
          <a:xfrm>
            <a:off x="694944" y="2230222"/>
            <a:ext cx="286207" cy="286207"/>
          </a:xfrm>
          <a:prstGeom prst="ellipse">
            <a:avLst/>
          </a:prstGeom>
          <a:solidFill>
            <a:srgbClr val="0F172A"/>
          </a:solidFill>
        </p:spPr>
      </p:sp>
      <p:sp>
        <p:nvSpPr>
          <p:cNvPr id="92" name="Text 82"/>
          <p:cNvSpPr txBox="1"/>
          <p:nvPr/>
        </p:nvSpPr>
        <p:spPr>
          <a:xfrm>
            <a:off x="803758" y="2270455"/>
            <a:ext cx="17922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</a:t>
            </a:r>
            <a:endParaRPr lang="en-US" sz="1000" dirty="0"/>
          </a:p>
        </p:txBody>
      </p:sp>
      <p:sp>
        <p:nvSpPr>
          <p:cNvPr id="93" name="Shape 83"/>
          <p:cNvSpPr/>
          <p:nvPr/>
        </p:nvSpPr>
        <p:spPr>
          <a:xfrm>
            <a:off x="694944" y="2669134"/>
            <a:ext cx="286207" cy="286207"/>
          </a:xfrm>
          <a:prstGeom prst="ellipse">
            <a:avLst/>
          </a:prstGeom>
          <a:solidFill>
            <a:srgbClr val="0F172A"/>
          </a:solidFill>
        </p:spPr>
      </p:sp>
      <p:sp>
        <p:nvSpPr>
          <p:cNvPr id="94" name="Text 84"/>
          <p:cNvSpPr txBox="1"/>
          <p:nvPr/>
        </p:nvSpPr>
        <p:spPr>
          <a:xfrm>
            <a:off x="803758" y="2708453"/>
            <a:ext cx="17922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</a:t>
            </a:r>
            <a:endParaRPr lang="en-US" sz="1000" dirty="0"/>
          </a:p>
        </p:txBody>
      </p:sp>
      <p:sp>
        <p:nvSpPr>
          <p:cNvPr id="95" name="Shape 85"/>
          <p:cNvSpPr/>
          <p:nvPr/>
        </p:nvSpPr>
        <p:spPr>
          <a:xfrm>
            <a:off x="694944" y="3107131"/>
            <a:ext cx="286207" cy="286207"/>
          </a:xfrm>
          <a:prstGeom prst="ellipse">
            <a:avLst/>
          </a:prstGeom>
          <a:solidFill>
            <a:srgbClr val="0F172A"/>
          </a:solidFill>
        </p:spPr>
      </p:sp>
      <p:sp>
        <p:nvSpPr>
          <p:cNvPr id="96" name="Text 86"/>
          <p:cNvSpPr txBox="1"/>
          <p:nvPr/>
        </p:nvSpPr>
        <p:spPr>
          <a:xfrm>
            <a:off x="803758" y="3147365"/>
            <a:ext cx="17922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4</a:t>
            </a:r>
            <a:endParaRPr lang="en-US" sz="1000" dirty="0"/>
          </a:p>
        </p:txBody>
      </p:sp>
      <p:sp>
        <p:nvSpPr>
          <p:cNvPr id="97" name="Shape 87"/>
          <p:cNvSpPr/>
          <p:nvPr/>
        </p:nvSpPr>
        <p:spPr>
          <a:xfrm>
            <a:off x="694944" y="3545129"/>
            <a:ext cx="286207" cy="286207"/>
          </a:xfrm>
          <a:prstGeom prst="ellipse">
            <a:avLst/>
          </a:prstGeom>
          <a:solidFill>
            <a:srgbClr val="0F172A"/>
          </a:solidFill>
        </p:spPr>
      </p:sp>
      <p:sp>
        <p:nvSpPr>
          <p:cNvPr id="98" name="Text 88"/>
          <p:cNvSpPr txBox="1"/>
          <p:nvPr/>
        </p:nvSpPr>
        <p:spPr>
          <a:xfrm>
            <a:off x="803758" y="3585362"/>
            <a:ext cx="17922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09398"/>
            <a:ext cx="3343961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Level 2: Spec-Anchored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024274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338828" y="295351"/>
            <a:ext cx="36393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Memory Bank Architecture &amp; Synchronization Workflow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905" y="1067105"/>
            <a:ext cx="5333695" cy="1505102"/>
          </a:xfrm>
          <a:prstGeom prst="roundRect">
            <a:avLst>
              <a:gd name="adj" fmla="val 3076"/>
            </a:avLst>
          </a:prstGeom>
          <a:solidFill>
            <a:srgbClr val="EFF6FF"/>
          </a:solidFill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9905" y="1067105"/>
            <a:ext cx="47549" cy="1505102"/>
          </a:xfrm>
          <a:prstGeom prst="rect">
            <a:avLst/>
          </a:prstGeom>
          <a:solidFill>
            <a:srgbClr val="2563EB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 l="-1282" r="-1282"/>
          <a:stretch>
            <a:fillRect/>
          </a:stretch>
        </p:blipFill>
        <p:spPr>
          <a:xfrm>
            <a:off x="886054" y="1343254"/>
            <a:ext cx="219456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1405" y="1333195"/>
            <a:ext cx="237195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40A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 as Long-Term Anchor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86054" y="1686154"/>
            <a:ext cx="4686300" cy="6199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For medium projects (500-2000 lines), code exceeds mental context limits. The Specification serves as the external memory and "source of truth" that must be kept in sync with code.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9905" y="2800807"/>
            <a:ext cx="5333695" cy="3247949"/>
          </a:xfrm>
          <a:prstGeom prst="roundRect">
            <a:avLst>
              <a:gd name="adj" fmla="val 9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47649" y="3419856"/>
            <a:ext cx="4858207" cy="9144"/>
          </a:xfrm>
          <a:prstGeom prst="rect">
            <a:avLst/>
          </a:prstGeom>
          <a:solidFill>
            <a:srgbClr val="F1F5F9"/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47649" y="3078785"/>
            <a:ext cx="171907" cy="17190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95451" y="3066898"/>
            <a:ext cx="206014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Synchronization Workflow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47649" y="3604565"/>
            <a:ext cx="4858207" cy="552298"/>
          </a:xfrm>
          <a:prstGeom prst="roundRect">
            <a:avLst>
              <a:gd name="adj" fmla="val 22836"/>
            </a:avLst>
          </a:prstGeom>
          <a:solidFill>
            <a:srgbClr val="F8FAFC"/>
          </a:solidFill>
        </p:spPr>
      </p:sp>
      <p:sp>
        <p:nvSpPr>
          <p:cNvPr id="18" name="Shape 14"/>
          <p:cNvSpPr/>
          <p:nvPr/>
        </p:nvSpPr>
        <p:spPr>
          <a:xfrm>
            <a:off x="847649" y="3604565"/>
            <a:ext cx="38405" cy="552298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19" name="Shape 15"/>
          <p:cNvSpPr/>
          <p:nvPr/>
        </p:nvSpPr>
        <p:spPr>
          <a:xfrm>
            <a:off x="1037844" y="3726180"/>
            <a:ext cx="304495" cy="30449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rcRect l="-2512" r="-2512"/>
          <a:stretch>
            <a:fillRect/>
          </a:stretch>
        </p:blipFill>
        <p:spPr>
          <a:xfrm>
            <a:off x="1138428" y="3812134"/>
            <a:ext cx="105156" cy="13350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495044" y="3789274"/>
            <a:ext cx="203271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New Requirement / Bug Found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47649" y="4429354"/>
            <a:ext cx="4858207" cy="552298"/>
          </a:xfrm>
          <a:prstGeom prst="roundRect">
            <a:avLst>
              <a:gd name="adj" fmla="val 22836"/>
            </a:avLst>
          </a:prstGeom>
          <a:solidFill>
            <a:srgbClr val="F0FDF4"/>
          </a:solidFill>
        </p:spPr>
      </p:sp>
      <p:sp>
        <p:nvSpPr>
          <p:cNvPr id="23" name="Shape 18"/>
          <p:cNvSpPr/>
          <p:nvPr/>
        </p:nvSpPr>
        <p:spPr>
          <a:xfrm>
            <a:off x="847649" y="4429354"/>
            <a:ext cx="38405" cy="552298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24" name="Shape 19"/>
          <p:cNvSpPr/>
          <p:nvPr/>
        </p:nvSpPr>
        <p:spPr>
          <a:xfrm>
            <a:off x="1037844" y="4550969"/>
            <a:ext cx="304495" cy="304495"/>
          </a:xfrm>
          <a:prstGeom prst="ellipse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rcRect l="-2512" r="-2512"/>
          <a:stretch>
            <a:fillRect/>
          </a:stretch>
        </p:blipFill>
        <p:spPr>
          <a:xfrm>
            <a:off x="1138428" y="4636922"/>
            <a:ext cx="105156" cy="13350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495044" y="4614062"/>
            <a:ext cx="220461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Update Spec Documentation First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847649" y="5254142"/>
            <a:ext cx="4858207" cy="552298"/>
          </a:xfrm>
          <a:prstGeom prst="roundRect">
            <a:avLst>
              <a:gd name="adj" fmla="val 22836"/>
            </a:avLst>
          </a:prstGeom>
          <a:solidFill>
            <a:srgbClr val="F8FAFC"/>
          </a:solidFill>
        </p:spPr>
      </p:sp>
      <p:sp>
        <p:nvSpPr>
          <p:cNvPr id="28" name="Shape 22"/>
          <p:cNvSpPr/>
          <p:nvPr/>
        </p:nvSpPr>
        <p:spPr>
          <a:xfrm>
            <a:off x="847649" y="5254142"/>
            <a:ext cx="38405" cy="552298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29" name="Shape 23"/>
          <p:cNvSpPr/>
          <p:nvPr/>
        </p:nvSpPr>
        <p:spPr>
          <a:xfrm>
            <a:off x="1037844" y="5375758"/>
            <a:ext cx="304495" cy="30449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rcRect l="-1507" r="-1507"/>
          <a:stretch>
            <a:fillRect/>
          </a:stretch>
        </p:blipFill>
        <p:spPr>
          <a:xfrm>
            <a:off x="1104595" y="5461711"/>
            <a:ext cx="171907" cy="13350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495044" y="5438851"/>
            <a:ext cx="240487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Updates Code Based on New Spec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609905" y="6421831"/>
            <a:ext cx="2590495" cy="4572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rcRect l="-1507" r="-1507"/>
          <a:stretch>
            <a:fillRect/>
          </a:stretch>
        </p:blipFill>
        <p:spPr>
          <a:xfrm>
            <a:off x="731520" y="6579108"/>
            <a:ext cx="171907" cy="13350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2513" y="6562649"/>
            <a:ext cx="181782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Team Collaboration Consensus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3353105" y="6421831"/>
            <a:ext cx="2590495" cy="4572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474720" y="6579108"/>
            <a:ext cx="133502" cy="13350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3608222" y="6562649"/>
            <a:ext cx="143652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Long-term Maintenance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6248095" y="1067105"/>
            <a:ext cx="5333695" cy="5486400"/>
          </a:xfrm>
          <a:prstGeom prst="roundRect">
            <a:avLst>
              <a:gd name="adj" fmla="val 367"/>
            </a:avLst>
          </a:prstGeom>
          <a:solidFill>
            <a:srgbClr val="1E293B"/>
          </a:solidFill>
          <a:effectLst>
            <a:outerShdw blurRad="139700" dist="1016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6248095" y="1067105"/>
            <a:ext cx="5333695" cy="543154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0" name="Shape 31"/>
          <p:cNvSpPr/>
          <p:nvPr/>
        </p:nvSpPr>
        <p:spPr>
          <a:xfrm>
            <a:off x="6248095" y="1601114"/>
            <a:ext cx="5333695" cy="9144"/>
          </a:xfrm>
          <a:prstGeom prst="rect">
            <a:avLst/>
          </a:prstGeom>
          <a:solidFill>
            <a:srgbClr val="334155"/>
          </a:solidFill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476695" y="1257300"/>
            <a:ext cx="152705" cy="152705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705295" y="1218895"/>
            <a:ext cx="231526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8BDF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MEMORY BANK ARCHITECTURE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10582351" y="1266444"/>
            <a:ext cx="8577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Project Structure</a:t>
            </a:r>
            <a:endParaRPr lang="en-US" sz="900" dirty="0"/>
          </a:p>
        </p:txBody>
      </p:sp>
      <p:sp>
        <p:nvSpPr>
          <p:cNvPr id="44" name="Text 34"/>
          <p:cNvSpPr txBox="1"/>
          <p:nvPr/>
        </p:nvSpPr>
        <p:spPr>
          <a:xfrm>
            <a:off x="6476695" y="2698394"/>
            <a:ext cx="1179576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project_root/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6400800" y="2955341"/>
            <a:ext cx="4876495" cy="267005"/>
          </a:xfrm>
          <a:prstGeom prst="roundRect">
            <a:avLst>
              <a:gd name="adj" fmla="val 48924"/>
            </a:avLst>
          </a:prstGeom>
          <a:solidFill>
            <a:srgbClr val="38BDF8">
              <a:alpha val="10000"/>
            </a:srgbClr>
          </a:solidFill>
        </p:spPr>
      </p:sp>
      <p:sp>
        <p:nvSpPr>
          <p:cNvPr id="46" name="Text 36"/>
          <p:cNvSpPr txBox="1"/>
          <p:nvPr/>
        </p:nvSpPr>
        <p:spPr>
          <a:xfrm>
            <a:off x="6476695" y="3003804"/>
            <a:ext cx="39867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├──</a:t>
            </a:r>
            <a:endParaRPr lang="en-US" sz="1000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844284" y="3017520"/>
            <a:ext cx="133502" cy="133502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7054596" y="2993746"/>
            <a:ext cx="1093622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.ai-context/</a:t>
            </a:r>
            <a:endParaRPr lang="en-US" sz="1000" dirty="0"/>
          </a:p>
        </p:txBody>
      </p:sp>
      <p:sp>
        <p:nvSpPr>
          <p:cNvPr id="49" name="Text 38"/>
          <p:cNvSpPr txBox="1"/>
          <p:nvPr/>
        </p:nvSpPr>
        <p:spPr>
          <a:xfrm>
            <a:off x="8162849" y="3015691"/>
            <a:ext cx="12829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AI Long-term Memory</a:t>
            </a:r>
            <a:endParaRPr lang="en-US" sz="900" dirty="0"/>
          </a:p>
        </p:txBody>
      </p:sp>
      <p:sp>
        <p:nvSpPr>
          <p:cNvPr id="50" name="Text 39"/>
          <p:cNvSpPr txBox="1"/>
          <p:nvPr/>
        </p:nvSpPr>
        <p:spPr>
          <a:xfrm>
            <a:off x="6476695" y="3223260"/>
            <a:ext cx="53218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│ ├──</a:t>
            </a:r>
            <a:endParaRPr lang="en-US" sz="1000" dirty="0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10"/>
          <a:srcRect l="-2512" r="-2512"/>
          <a:stretch>
            <a:fillRect/>
          </a:stretch>
        </p:blipFill>
        <p:spPr>
          <a:xfrm>
            <a:off x="6975958" y="3236976"/>
            <a:ext cx="105156" cy="133502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7157009" y="3213202"/>
            <a:ext cx="1341425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constitution.md</a:t>
            </a:r>
            <a:endParaRPr lang="en-US" sz="1000" dirty="0"/>
          </a:p>
        </p:txBody>
      </p:sp>
      <p:sp>
        <p:nvSpPr>
          <p:cNvPr id="53" name="Text 41"/>
          <p:cNvSpPr txBox="1"/>
          <p:nvPr/>
        </p:nvSpPr>
        <p:spPr>
          <a:xfrm>
            <a:off x="8513064" y="3235147"/>
            <a:ext cx="122529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Non-negotiable rules</a:t>
            </a:r>
            <a:endParaRPr lang="en-US" sz="900" dirty="0"/>
          </a:p>
        </p:txBody>
      </p:sp>
      <p:sp>
        <p:nvSpPr>
          <p:cNvPr id="54" name="Text 42"/>
          <p:cNvSpPr txBox="1"/>
          <p:nvPr/>
        </p:nvSpPr>
        <p:spPr>
          <a:xfrm>
            <a:off x="6476695" y="3518611"/>
            <a:ext cx="53218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│ ├──</a:t>
            </a:r>
            <a:endParaRPr lang="en-US" sz="1000" dirty="0"/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11"/>
          <a:srcRect l="-2512" r="-2512"/>
          <a:stretch>
            <a:fillRect/>
          </a:stretch>
        </p:blipFill>
        <p:spPr>
          <a:xfrm>
            <a:off x="6975958" y="3533242"/>
            <a:ext cx="105156" cy="133502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7157009" y="3509467"/>
            <a:ext cx="1341425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architecture.md</a:t>
            </a:r>
            <a:endParaRPr lang="en-US" sz="1000" dirty="0"/>
          </a:p>
        </p:txBody>
      </p:sp>
      <p:sp>
        <p:nvSpPr>
          <p:cNvPr id="57" name="Text 44"/>
          <p:cNvSpPr txBox="1"/>
          <p:nvPr/>
        </p:nvSpPr>
        <p:spPr>
          <a:xfrm>
            <a:off x="8513064" y="3530498"/>
            <a:ext cx="87325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System design</a:t>
            </a:r>
            <a:endParaRPr lang="en-US" sz="900" dirty="0"/>
          </a:p>
        </p:txBody>
      </p:sp>
      <p:sp>
        <p:nvSpPr>
          <p:cNvPr id="58" name="Text 45"/>
          <p:cNvSpPr txBox="1"/>
          <p:nvPr/>
        </p:nvSpPr>
        <p:spPr>
          <a:xfrm>
            <a:off x="6476695" y="3813962"/>
            <a:ext cx="53218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│ └──</a:t>
            </a:r>
            <a:endParaRPr lang="en-US" sz="1000" dirty="0"/>
          </a:p>
        </p:txBody>
      </p:sp>
      <p:pic>
        <p:nvPicPr>
          <p:cNvPr id="59" name="Image 11" descr="preencoded.png"/>
          <p:cNvPicPr>
            <a:picLocks noChangeAspect="1"/>
          </p:cNvPicPr>
          <p:nvPr/>
        </p:nvPicPr>
        <p:blipFill>
          <a:blip r:embed="rId12"/>
          <a:srcRect l="-2838" r="-2838"/>
          <a:stretch>
            <a:fillRect/>
          </a:stretch>
        </p:blipFill>
        <p:spPr>
          <a:xfrm>
            <a:off x="6975958" y="3828593"/>
            <a:ext cx="123444" cy="133502"/>
          </a:xfrm>
          <a:prstGeom prst="rect">
            <a:avLst/>
          </a:prstGeom>
        </p:spPr>
      </p:pic>
      <p:sp>
        <p:nvSpPr>
          <p:cNvPr id="60" name="Text 46"/>
          <p:cNvSpPr txBox="1"/>
          <p:nvPr/>
        </p:nvSpPr>
        <p:spPr>
          <a:xfrm>
            <a:off x="7176211" y="3804818"/>
            <a:ext cx="1008583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glossary.md</a:t>
            </a:r>
            <a:endParaRPr lang="en-US" sz="1000" dirty="0"/>
          </a:p>
        </p:txBody>
      </p:sp>
      <p:sp>
        <p:nvSpPr>
          <p:cNvPr id="61" name="Text 47"/>
          <p:cNvSpPr txBox="1"/>
          <p:nvPr/>
        </p:nvSpPr>
        <p:spPr>
          <a:xfrm>
            <a:off x="8203082" y="3826764"/>
            <a:ext cx="88239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Domain terms</a:t>
            </a:r>
            <a:endParaRPr lang="en-US" sz="900" dirty="0"/>
          </a:p>
        </p:txBody>
      </p:sp>
      <p:sp>
        <p:nvSpPr>
          <p:cNvPr id="62" name="Shape 48"/>
          <p:cNvSpPr/>
          <p:nvPr/>
        </p:nvSpPr>
        <p:spPr>
          <a:xfrm>
            <a:off x="6400800" y="4062679"/>
            <a:ext cx="4876495" cy="267005"/>
          </a:xfrm>
          <a:prstGeom prst="roundRect">
            <a:avLst>
              <a:gd name="adj" fmla="val 48924"/>
            </a:avLst>
          </a:prstGeom>
          <a:solidFill>
            <a:srgbClr val="38BDF8">
              <a:alpha val="10000"/>
            </a:srgbClr>
          </a:solidFill>
        </p:spPr>
      </p:sp>
      <p:sp>
        <p:nvSpPr>
          <p:cNvPr id="63" name="Text 49"/>
          <p:cNvSpPr txBox="1"/>
          <p:nvPr/>
        </p:nvSpPr>
        <p:spPr>
          <a:xfrm>
            <a:off x="6476695" y="4110228"/>
            <a:ext cx="39867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├──</a:t>
            </a:r>
            <a:endParaRPr lang="en-US" sz="1000" dirty="0"/>
          </a:p>
        </p:txBody>
      </p:sp>
      <p:pic>
        <p:nvPicPr>
          <p:cNvPr id="64" name="Image 12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844284" y="4124858"/>
            <a:ext cx="133502" cy="133502"/>
          </a:xfrm>
          <a:prstGeom prst="rect">
            <a:avLst/>
          </a:prstGeom>
        </p:spPr>
      </p:pic>
      <p:sp>
        <p:nvSpPr>
          <p:cNvPr id="65" name="Text 50"/>
          <p:cNvSpPr txBox="1"/>
          <p:nvPr/>
        </p:nvSpPr>
        <p:spPr>
          <a:xfrm>
            <a:off x="7054596" y="4100170"/>
            <a:ext cx="598932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specs/</a:t>
            </a:r>
            <a:endParaRPr lang="en-US" sz="1000" dirty="0"/>
          </a:p>
        </p:txBody>
      </p:sp>
      <p:sp>
        <p:nvSpPr>
          <p:cNvPr id="66" name="Text 51"/>
          <p:cNvSpPr txBox="1"/>
          <p:nvPr/>
        </p:nvSpPr>
        <p:spPr>
          <a:xfrm>
            <a:off x="7669987" y="4122115"/>
            <a:ext cx="12829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Feature Specifications</a:t>
            </a:r>
            <a:endParaRPr lang="en-US" sz="900" dirty="0"/>
          </a:p>
        </p:txBody>
      </p:sp>
      <p:sp>
        <p:nvSpPr>
          <p:cNvPr id="67" name="Text 52"/>
          <p:cNvSpPr txBox="1"/>
          <p:nvPr/>
        </p:nvSpPr>
        <p:spPr>
          <a:xfrm>
            <a:off x="6476695" y="4329684"/>
            <a:ext cx="53218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│ ├──</a:t>
            </a:r>
            <a:endParaRPr lang="en-US" sz="1000" dirty="0"/>
          </a:p>
        </p:txBody>
      </p:sp>
      <p:pic>
        <p:nvPicPr>
          <p:cNvPr id="68" name="Image 13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975958" y="4344314"/>
            <a:ext cx="133502" cy="133502"/>
          </a:xfrm>
          <a:prstGeom prst="rect">
            <a:avLst/>
          </a:prstGeom>
        </p:spPr>
      </p:pic>
      <p:sp>
        <p:nvSpPr>
          <p:cNvPr id="69" name="Text 53"/>
          <p:cNvSpPr txBox="1"/>
          <p:nvPr/>
        </p:nvSpPr>
        <p:spPr>
          <a:xfrm>
            <a:off x="7185355" y="4319626"/>
            <a:ext cx="1093622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feature-001/</a:t>
            </a:r>
            <a:endParaRPr lang="en-US" sz="1000" dirty="0"/>
          </a:p>
        </p:txBody>
      </p:sp>
      <p:sp>
        <p:nvSpPr>
          <p:cNvPr id="70" name="Text 54"/>
          <p:cNvSpPr txBox="1"/>
          <p:nvPr/>
        </p:nvSpPr>
        <p:spPr>
          <a:xfrm>
            <a:off x="6476695" y="4625035"/>
            <a:ext cx="66568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│ │ ├──</a:t>
            </a:r>
            <a:endParaRPr lang="en-US" sz="1000" dirty="0"/>
          </a:p>
        </p:txBody>
      </p:sp>
      <p:pic>
        <p:nvPicPr>
          <p:cNvPr id="71" name="Image 14" descr="preencoded.png"/>
          <p:cNvPicPr>
            <a:picLocks noChangeAspect="1"/>
          </p:cNvPicPr>
          <p:nvPr/>
        </p:nvPicPr>
        <p:blipFill>
          <a:blip r:embed="rId10"/>
          <a:srcRect l="-2512" r="-2512"/>
          <a:stretch>
            <a:fillRect/>
          </a:stretch>
        </p:blipFill>
        <p:spPr>
          <a:xfrm>
            <a:off x="7107631" y="4639666"/>
            <a:ext cx="105156" cy="133502"/>
          </a:xfrm>
          <a:prstGeom prst="rect">
            <a:avLst/>
          </a:prstGeom>
        </p:spPr>
      </p:pic>
      <p:sp>
        <p:nvSpPr>
          <p:cNvPr id="72" name="Text 55"/>
          <p:cNvSpPr txBox="1"/>
          <p:nvPr/>
        </p:nvSpPr>
        <p:spPr>
          <a:xfrm>
            <a:off x="7288682" y="4615891"/>
            <a:ext cx="1341425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requirements.md</a:t>
            </a:r>
            <a:endParaRPr lang="en-US" sz="1000" dirty="0"/>
          </a:p>
        </p:txBody>
      </p:sp>
      <p:sp>
        <p:nvSpPr>
          <p:cNvPr id="73" name="Text 56"/>
          <p:cNvSpPr txBox="1"/>
          <p:nvPr/>
        </p:nvSpPr>
        <p:spPr>
          <a:xfrm>
            <a:off x="6476695" y="4921301"/>
            <a:ext cx="66568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│ │ └──</a:t>
            </a:r>
            <a:endParaRPr lang="en-US" sz="1000" dirty="0"/>
          </a:p>
        </p:txBody>
      </p:sp>
      <p:pic>
        <p:nvPicPr>
          <p:cNvPr id="74" name="Image 15" descr="preencoded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7107631" y="4935017"/>
            <a:ext cx="133502" cy="133502"/>
          </a:xfrm>
          <a:prstGeom prst="rect">
            <a:avLst/>
          </a:prstGeom>
        </p:spPr>
      </p:pic>
      <p:sp>
        <p:nvSpPr>
          <p:cNvPr id="75" name="Text 57"/>
          <p:cNvSpPr txBox="1"/>
          <p:nvPr/>
        </p:nvSpPr>
        <p:spPr>
          <a:xfrm>
            <a:off x="7317029" y="4911242"/>
            <a:ext cx="769925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tests.md</a:t>
            </a:r>
            <a:endParaRPr lang="en-US" sz="1000" dirty="0"/>
          </a:p>
        </p:txBody>
      </p:sp>
      <p:sp>
        <p:nvSpPr>
          <p:cNvPr id="76" name="Text 58"/>
          <p:cNvSpPr txBox="1"/>
          <p:nvPr/>
        </p:nvSpPr>
        <p:spPr>
          <a:xfrm>
            <a:off x="6476695" y="5216652"/>
            <a:ext cx="39867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└──</a:t>
            </a:r>
            <a:endParaRPr lang="en-US" sz="1000" dirty="0"/>
          </a:p>
        </p:txBody>
      </p:sp>
      <p:pic>
        <p:nvPicPr>
          <p:cNvPr id="77" name="Image 16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844284" y="5231282"/>
            <a:ext cx="133502" cy="133502"/>
          </a:xfrm>
          <a:prstGeom prst="rect">
            <a:avLst/>
          </a:prstGeom>
        </p:spPr>
      </p:pic>
      <p:sp>
        <p:nvSpPr>
          <p:cNvPr id="78" name="Text 59"/>
          <p:cNvSpPr txBox="1"/>
          <p:nvPr/>
        </p:nvSpPr>
        <p:spPr>
          <a:xfrm>
            <a:off x="7054596" y="5207508"/>
            <a:ext cx="437083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src/</a:t>
            </a:r>
            <a:endParaRPr lang="en-US" sz="1000" dirty="0"/>
          </a:p>
        </p:txBody>
      </p:sp>
      <p:sp>
        <p:nvSpPr>
          <p:cNvPr id="79" name="Text 60"/>
          <p:cNvSpPr txBox="1"/>
          <p:nvPr/>
        </p:nvSpPr>
        <p:spPr>
          <a:xfrm>
            <a:off x="7505395" y="5228539"/>
            <a:ext cx="124449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Implementation Code</a:t>
            </a:r>
            <a:endParaRPr lang="en-US" sz="900" dirty="0"/>
          </a:p>
        </p:txBody>
      </p:sp>
      <p:sp>
        <p:nvSpPr>
          <p:cNvPr id="80" name="Text 61"/>
          <p:cNvSpPr txBox="1"/>
          <p:nvPr/>
        </p:nvSpPr>
        <p:spPr>
          <a:xfrm>
            <a:off x="11505895" y="6334049"/>
            <a:ext cx="400507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16</a:t>
            </a:r>
            <a:endParaRPr lang="en-US" sz="1800" dirty="0"/>
          </a:p>
        </p:txBody>
      </p:sp>
      <p:pic>
        <p:nvPicPr>
          <p:cNvPr id="81" name="Image 17" descr="preencoded.png"/>
          <p:cNvPicPr>
            <a:picLocks noChangeAspect="1"/>
          </p:cNvPicPr>
          <p:nvPr/>
        </p:nvPicPr>
        <p:blipFill>
          <a:blip r:embed="rId14"/>
          <a:srcRect l="-1358" r="-1358"/>
          <a:stretch>
            <a:fillRect/>
          </a:stretch>
        </p:blipFill>
        <p:spPr>
          <a:xfrm>
            <a:off x="3228746" y="4229100"/>
            <a:ext cx="95098" cy="123444"/>
          </a:xfrm>
          <a:prstGeom prst="rect">
            <a:avLst/>
          </a:prstGeom>
        </p:spPr>
      </p:pic>
      <p:pic>
        <p:nvPicPr>
          <p:cNvPr id="82" name="Image 18" descr="preencoded.png"/>
          <p:cNvPicPr>
            <a:picLocks noChangeAspect="1"/>
          </p:cNvPicPr>
          <p:nvPr/>
        </p:nvPicPr>
        <p:blipFill>
          <a:blip r:embed="rId14"/>
          <a:srcRect l="-1358" r="-1358"/>
          <a:stretch>
            <a:fillRect/>
          </a:stretch>
        </p:blipFill>
        <p:spPr>
          <a:xfrm>
            <a:off x="3228746" y="5053889"/>
            <a:ext cx="95098" cy="1234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09398"/>
            <a:ext cx="3324758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Level 3: Spec-as-Source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006901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321454" y="295351"/>
            <a:ext cx="28099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Extreme Automation via "Read-Only" Code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905" y="1067105"/>
            <a:ext cx="10972800" cy="1333195"/>
          </a:xfrm>
          <a:prstGeom prst="roundRect">
            <a:avLst>
              <a:gd name="adj" fmla="val 5879"/>
            </a:avLst>
          </a:prstGeom>
          <a:solidFill>
            <a:srgbClr val="FDF2F8"/>
          </a:solidFill>
        </p:spPr>
      </p:sp>
      <p:sp>
        <p:nvSpPr>
          <p:cNvPr id="9" name="Shape 7"/>
          <p:cNvSpPr/>
          <p:nvPr/>
        </p:nvSpPr>
        <p:spPr>
          <a:xfrm>
            <a:off x="609905" y="1067105"/>
            <a:ext cx="57607" cy="1333195"/>
          </a:xfrm>
          <a:prstGeom prst="rect">
            <a:avLst/>
          </a:prstGeom>
          <a:solidFill>
            <a:srgbClr val="DB2777"/>
          </a:solidFill>
        </p:spPr>
      </p:sp>
      <p:sp>
        <p:nvSpPr>
          <p:cNvPr id="10" name="Shape 8"/>
          <p:cNvSpPr/>
          <p:nvPr/>
        </p:nvSpPr>
        <p:spPr>
          <a:xfrm>
            <a:off x="849478" y="1287475"/>
            <a:ext cx="1476756" cy="267005"/>
          </a:xfrm>
          <a:prstGeom prst="roundRect">
            <a:avLst>
              <a:gd name="adj" fmla="val 342465"/>
            </a:avLst>
          </a:prstGeom>
          <a:solidFill>
            <a:srgbClr val="DB2777"/>
          </a:solidFill>
        </p:spPr>
      </p:sp>
      <p:sp>
        <p:nvSpPr>
          <p:cNvPr id="11" name="Text 9"/>
          <p:cNvSpPr txBox="1"/>
          <p:nvPr/>
        </p:nvSpPr>
        <p:spPr>
          <a:xfrm>
            <a:off x="971093" y="1336853"/>
            <a:ext cx="133228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Extreme Automation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472538" y="1297534"/>
            <a:ext cx="2352751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D174D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Code as Build Artifact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49478" y="1742846"/>
            <a:ext cx="976579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3184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Treat the Spec as the source code. Generated code is a "build artifact" that is never manually edited. This guarantees 100% consistency between documentation and implementation.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9905" y="2628900"/>
            <a:ext cx="4800600" cy="3057754"/>
          </a:xfrm>
          <a:prstGeom prst="roundRect">
            <a:avLst>
              <a:gd name="adj" fmla="val 1118"/>
            </a:avLst>
          </a:prstGeom>
          <a:solidFill>
            <a:srgbClr val="1E293B"/>
          </a:solidFill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9905" y="2628900"/>
            <a:ext cx="4800600" cy="400507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16" name="Shape 14"/>
          <p:cNvSpPr/>
          <p:nvPr/>
        </p:nvSpPr>
        <p:spPr>
          <a:xfrm>
            <a:off x="609905" y="3020263"/>
            <a:ext cx="4800600" cy="9144"/>
          </a:xfrm>
          <a:prstGeom prst="rect">
            <a:avLst/>
          </a:prstGeom>
          <a:solidFill>
            <a:srgbClr val="334155"/>
          </a:solidFill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rcRect l="-2512" r="-2512"/>
          <a:stretch>
            <a:fillRect/>
          </a:stretch>
        </p:blipFill>
        <p:spPr>
          <a:xfrm>
            <a:off x="761695" y="2756002"/>
            <a:ext cx="105156" cy="13350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42746" y="2720340"/>
            <a:ext cx="142737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data_models.yaml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017874" y="2722169"/>
            <a:ext cx="1248156" cy="209398"/>
          </a:xfrm>
          <a:prstGeom prst="roundRect">
            <a:avLst>
              <a:gd name="adj" fmla="val 79396"/>
            </a:avLst>
          </a:prstGeom>
          <a:solidFill>
            <a:srgbClr val="059669"/>
          </a:solidFill>
        </p:spPr>
      </p:sp>
      <p:sp>
        <p:nvSpPr>
          <p:cNvPr id="20" name="Text 17"/>
          <p:cNvSpPr txBox="1"/>
          <p:nvPr/>
        </p:nvSpPr>
        <p:spPr>
          <a:xfrm>
            <a:off x="4094683" y="2756002"/>
            <a:ext cx="11814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1FAE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EDITABLE SOURCE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761695" y="3198571"/>
            <a:ext cx="48829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3392424"/>
            <a:ext cx="65013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fields: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67105" y="3587191"/>
            <a:ext cx="18973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id: UUID, primary_key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067105" y="3781044"/>
            <a:ext cx="267919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email: String, unique, required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3975811"/>
            <a:ext cx="72603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methods: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67105" y="4169664"/>
            <a:ext cx="1828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144829" y="4169664"/>
            <a:ext cx="134508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validate_email()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2392070" y="4169664"/>
            <a:ext cx="57424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bool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7105" y="4364431"/>
            <a:ext cx="1828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144829" y="4364431"/>
            <a:ext cx="134508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send_notify(msg)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2392070" y="4364431"/>
            <a:ext cx="57424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void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5760720" y="3708806"/>
            <a:ext cx="768096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B277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COMPILER</a:t>
            </a:r>
            <a:endParaRPr lang="en-US" sz="90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2"/>
          <a:srcRect l="-107" r="-107"/>
          <a:stretch>
            <a:fillRect/>
          </a:stretch>
        </p:blipFill>
        <p:spPr>
          <a:xfrm>
            <a:off x="5962802" y="4077310"/>
            <a:ext cx="267005" cy="304495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5773522" y="4458614"/>
            <a:ext cx="73975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B277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AUTO GEN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6782105" y="2628900"/>
            <a:ext cx="4800600" cy="3057754"/>
          </a:xfrm>
          <a:prstGeom prst="roundRect">
            <a:avLst>
              <a:gd name="adj" fmla="val 1118"/>
            </a:avLst>
          </a:prstGeom>
          <a:solidFill>
            <a:srgbClr val="1E293B"/>
          </a:solidFill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782105" y="2628900"/>
            <a:ext cx="4800600" cy="400507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7" name="Shape 33"/>
          <p:cNvSpPr/>
          <p:nvPr/>
        </p:nvSpPr>
        <p:spPr>
          <a:xfrm>
            <a:off x="6782105" y="3020263"/>
            <a:ext cx="4800600" cy="9144"/>
          </a:xfrm>
          <a:prstGeom prst="rect">
            <a:avLst/>
          </a:prstGeom>
          <a:solidFill>
            <a:srgbClr val="334155"/>
          </a:solidFill>
        </p:spPr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3"/>
          <a:srcRect l="-2838" r="-2838"/>
          <a:stretch>
            <a:fillRect/>
          </a:stretch>
        </p:blipFill>
        <p:spPr>
          <a:xfrm>
            <a:off x="6933895" y="2756002"/>
            <a:ext cx="123444" cy="133502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7134149" y="2720340"/>
            <a:ext cx="8458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10523830" y="2722169"/>
            <a:ext cx="914400" cy="209398"/>
          </a:xfrm>
          <a:prstGeom prst="roundRect">
            <a:avLst>
              <a:gd name="adj" fmla="val 79396"/>
            </a:avLst>
          </a:prstGeom>
          <a:solidFill>
            <a:srgbClr val="DC2626"/>
          </a:solidFill>
        </p:spPr>
      </p:sp>
      <p:sp>
        <p:nvSpPr>
          <p:cNvPr id="41" name="Text 36"/>
          <p:cNvSpPr txBox="1"/>
          <p:nvPr/>
        </p:nvSpPr>
        <p:spPr>
          <a:xfrm>
            <a:off x="10599725" y="2756002"/>
            <a:ext cx="8485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EE2E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DO NOT EDIT</a:t>
            </a:r>
            <a:endParaRPr lang="en-US" sz="900" dirty="0"/>
          </a:p>
        </p:txBody>
      </p:sp>
      <p:sp>
        <p:nvSpPr>
          <p:cNvPr id="42" name="Text 37"/>
          <p:cNvSpPr txBox="1"/>
          <p:nvPr/>
        </p:nvSpPr>
        <p:spPr>
          <a:xfrm>
            <a:off x="6933895" y="3198571"/>
            <a:ext cx="244053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AUTO-GENERATED - DO NOT EDIT</a:t>
            </a:r>
            <a:endParaRPr lang="en-US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6933895" y="3392424"/>
            <a:ext cx="4114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000" dirty="0"/>
          </a:p>
        </p:txBody>
      </p:sp>
      <p:sp>
        <p:nvSpPr>
          <p:cNvPr id="44" name="Text 39"/>
          <p:cNvSpPr txBox="1"/>
          <p:nvPr/>
        </p:nvSpPr>
        <p:spPr>
          <a:xfrm>
            <a:off x="7245706" y="3392424"/>
            <a:ext cx="96469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dataclasses</a:t>
            </a:r>
            <a:endParaRPr lang="en-US" sz="1000" dirty="0"/>
          </a:p>
        </p:txBody>
      </p:sp>
      <p:sp>
        <p:nvSpPr>
          <p:cNvPr id="45" name="Text 40"/>
          <p:cNvSpPr txBox="1"/>
          <p:nvPr/>
        </p:nvSpPr>
        <p:spPr>
          <a:xfrm>
            <a:off x="8103413" y="3392424"/>
            <a:ext cx="57424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8571586" y="3392424"/>
            <a:ext cx="80284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dataclass</a:t>
            </a:r>
            <a:endParaRPr lang="en-US" sz="1000" dirty="0"/>
          </a:p>
        </p:txBody>
      </p:sp>
      <p:sp>
        <p:nvSpPr>
          <p:cNvPr id="47" name="Text 42"/>
          <p:cNvSpPr txBox="1"/>
          <p:nvPr/>
        </p:nvSpPr>
        <p:spPr>
          <a:xfrm>
            <a:off x="6933895" y="3587191"/>
            <a:ext cx="4114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000" dirty="0"/>
          </a:p>
        </p:txBody>
      </p:sp>
      <p:sp>
        <p:nvSpPr>
          <p:cNvPr id="48" name="Text 43"/>
          <p:cNvSpPr txBox="1"/>
          <p:nvPr/>
        </p:nvSpPr>
        <p:spPr>
          <a:xfrm>
            <a:off x="7245706" y="3587191"/>
            <a:ext cx="4114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1000" dirty="0"/>
          </a:p>
        </p:txBody>
      </p:sp>
      <p:sp>
        <p:nvSpPr>
          <p:cNvPr id="49" name="Text 44"/>
          <p:cNvSpPr txBox="1"/>
          <p:nvPr/>
        </p:nvSpPr>
        <p:spPr>
          <a:xfrm>
            <a:off x="7558430" y="3587191"/>
            <a:ext cx="57424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1000" dirty="0"/>
          </a:p>
        </p:txBody>
      </p:sp>
      <p:sp>
        <p:nvSpPr>
          <p:cNvPr id="50" name="Text 45"/>
          <p:cNvSpPr txBox="1"/>
          <p:nvPr/>
        </p:nvSpPr>
        <p:spPr>
          <a:xfrm>
            <a:off x="8025689" y="3587191"/>
            <a:ext cx="4114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1000" dirty="0"/>
          </a:p>
        </p:txBody>
      </p:sp>
      <p:sp>
        <p:nvSpPr>
          <p:cNvPr id="51" name="Text 46"/>
          <p:cNvSpPr txBox="1"/>
          <p:nvPr/>
        </p:nvSpPr>
        <p:spPr>
          <a:xfrm>
            <a:off x="6933895" y="3857854"/>
            <a:ext cx="87873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</a:t>
            </a:r>
            <a:endParaRPr lang="en-US" sz="1000" dirty="0"/>
          </a:p>
        </p:txBody>
      </p:sp>
      <p:sp>
        <p:nvSpPr>
          <p:cNvPr id="52" name="Text 47"/>
          <p:cNvSpPr txBox="1"/>
          <p:nvPr/>
        </p:nvSpPr>
        <p:spPr>
          <a:xfrm>
            <a:off x="6933895" y="4051706"/>
            <a:ext cx="48829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1000" dirty="0"/>
          </a:p>
        </p:txBody>
      </p:sp>
      <p:sp>
        <p:nvSpPr>
          <p:cNvPr id="53" name="Text 48"/>
          <p:cNvSpPr txBox="1"/>
          <p:nvPr/>
        </p:nvSpPr>
        <p:spPr>
          <a:xfrm>
            <a:off x="7324344" y="4051706"/>
            <a:ext cx="4114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000" dirty="0"/>
          </a:p>
        </p:txBody>
      </p:sp>
      <p:sp>
        <p:nvSpPr>
          <p:cNvPr id="54" name="Text 49"/>
          <p:cNvSpPr txBox="1"/>
          <p:nvPr/>
        </p:nvSpPr>
        <p:spPr>
          <a:xfrm>
            <a:off x="7636154" y="4051706"/>
            <a:ext cx="1828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00" dirty="0"/>
          </a:p>
        </p:txBody>
      </p:sp>
      <p:sp>
        <p:nvSpPr>
          <p:cNvPr id="55" name="Text 50"/>
          <p:cNvSpPr txBox="1"/>
          <p:nvPr/>
        </p:nvSpPr>
        <p:spPr>
          <a:xfrm>
            <a:off x="7086600" y="4246474"/>
            <a:ext cx="72603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UUID</a:t>
            </a:r>
            <a:endParaRPr lang="en-US" sz="1000" dirty="0"/>
          </a:p>
        </p:txBody>
      </p:sp>
      <p:sp>
        <p:nvSpPr>
          <p:cNvPr id="56" name="Text 51"/>
          <p:cNvSpPr txBox="1"/>
          <p:nvPr/>
        </p:nvSpPr>
        <p:spPr>
          <a:xfrm>
            <a:off x="7086600" y="4440326"/>
            <a:ext cx="87873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email: str</a:t>
            </a:r>
            <a:endParaRPr lang="en-US" sz="1000" dirty="0"/>
          </a:p>
        </p:txBody>
      </p:sp>
      <p:sp>
        <p:nvSpPr>
          <p:cNvPr id="57" name="Text 52"/>
          <p:cNvSpPr txBox="1"/>
          <p:nvPr/>
        </p:nvSpPr>
        <p:spPr>
          <a:xfrm>
            <a:off x="7086600" y="4710989"/>
            <a:ext cx="33558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endParaRPr lang="en-US" sz="1000" dirty="0"/>
          </a:p>
        </p:txBody>
      </p:sp>
      <p:sp>
        <p:nvSpPr>
          <p:cNvPr id="58" name="Text 53"/>
          <p:cNvSpPr txBox="1"/>
          <p:nvPr/>
        </p:nvSpPr>
        <p:spPr>
          <a:xfrm>
            <a:off x="7320686" y="4710989"/>
            <a:ext cx="119329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validate_email</a:t>
            </a:r>
            <a:endParaRPr lang="en-US" sz="1000" dirty="0"/>
          </a:p>
        </p:txBody>
      </p:sp>
      <p:sp>
        <p:nvSpPr>
          <p:cNvPr id="59" name="Text 54"/>
          <p:cNvSpPr txBox="1"/>
          <p:nvPr/>
        </p:nvSpPr>
        <p:spPr>
          <a:xfrm>
            <a:off x="8411566" y="4710989"/>
            <a:ext cx="126918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 -&gt; bool:</a:t>
            </a:r>
            <a:endParaRPr lang="en-US" sz="1000" dirty="0"/>
          </a:p>
        </p:txBody>
      </p:sp>
      <p:sp>
        <p:nvSpPr>
          <p:cNvPr id="60" name="Text 55"/>
          <p:cNvSpPr txBox="1"/>
          <p:nvPr/>
        </p:nvSpPr>
        <p:spPr>
          <a:xfrm>
            <a:off x="7239305" y="4905756"/>
            <a:ext cx="244053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"""Validate format logic..."""</a:t>
            </a:r>
            <a:endParaRPr lang="en-US" sz="1000" dirty="0"/>
          </a:p>
        </p:txBody>
      </p:sp>
      <p:sp>
        <p:nvSpPr>
          <p:cNvPr id="61" name="Text 56"/>
          <p:cNvSpPr txBox="1"/>
          <p:nvPr/>
        </p:nvSpPr>
        <p:spPr>
          <a:xfrm>
            <a:off x="7239305" y="5099609"/>
            <a:ext cx="4114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609905" y="5913425"/>
            <a:ext cx="10972800" cy="647395"/>
          </a:xfrm>
          <a:prstGeom prst="roundRect">
            <a:avLst>
              <a:gd name="adj" fmla="val 249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847649" y="6143854"/>
            <a:ext cx="140451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BEST USE CASES</a:t>
            </a:r>
            <a:endParaRPr lang="en-US" sz="1100" dirty="0"/>
          </a:p>
        </p:txBody>
      </p:sp>
      <p:sp>
        <p:nvSpPr>
          <p:cNvPr id="64" name="Shape 59"/>
          <p:cNvSpPr/>
          <p:nvPr/>
        </p:nvSpPr>
        <p:spPr>
          <a:xfrm>
            <a:off x="2441448" y="6075274"/>
            <a:ext cx="1152144" cy="323698"/>
          </a:xfrm>
          <a:prstGeom prst="roundRect">
            <a:avLst>
              <a:gd name="adj" fmla="val 498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65" name="Image 3" descr="preencoded.png"/>
          <p:cNvPicPr>
            <a:picLocks noChangeAspect="1"/>
          </p:cNvPicPr>
          <p:nvPr/>
        </p:nvPicPr>
        <p:blipFill>
          <a:blip r:embed="rId4"/>
          <a:srcRect t="-1359" b="-1359"/>
          <a:stretch>
            <a:fillRect/>
          </a:stretch>
        </p:blipFill>
        <p:spPr>
          <a:xfrm>
            <a:off x="2573122" y="6171286"/>
            <a:ext cx="105156" cy="123444"/>
          </a:xfrm>
          <a:prstGeom prst="rect">
            <a:avLst/>
          </a:prstGeom>
        </p:spPr>
      </p:pic>
      <p:sp>
        <p:nvSpPr>
          <p:cNvPr id="66" name="Text 60"/>
          <p:cNvSpPr txBox="1"/>
          <p:nvPr/>
        </p:nvSpPr>
        <p:spPr>
          <a:xfrm>
            <a:off x="2754173" y="6130138"/>
            <a:ext cx="80833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Data Models</a:t>
            </a:r>
            <a:endParaRPr lang="en-US" sz="1000" dirty="0"/>
          </a:p>
        </p:txBody>
      </p:sp>
      <p:sp>
        <p:nvSpPr>
          <p:cNvPr id="67" name="Shape 61"/>
          <p:cNvSpPr/>
          <p:nvPr/>
        </p:nvSpPr>
        <p:spPr>
          <a:xfrm>
            <a:off x="3741725" y="6075274"/>
            <a:ext cx="1181405" cy="323698"/>
          </a:xfrm>
          <a:prstGeom prst="roundRect">
            <a:avLst>
              <a:gd name="adj" fmla="val 498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68" name="Image 4" descr="preencoded.png"/>
          <p:cNvPicPr>
            <a:picLocks noChangeAspect="1"/>
          </p:cNvPicPr>
          <p:nvPr/>
        </p:nvPicPr>
        <p:blipFill>
          <a:blip r:embed="rId5"/>
          <a:srcRect l="-1358" r="-1358"/>
          <a:stretch>
            <a:fillRect/>
          </a:stretch>
        </p:blipFill>
        <p:spPr>
          <a:xfrm>
            <a:off x="3873398" y="6171286"/>
            <a:ext cx="95098" cy="123444"/>
          </a:xfrm>
          <a:prstGeom prst="rect">
            <a:avLst/>
          </a:prstGeom>
        </p:spPr>
      </p:pic>
      <p:sp>
        <p:nvSpPr>
          <p:cNvPr id="69" name="Text 62"/>
          <p:cNvSpPr txBox="1"/>
          <p:nvPr/>
        </p:nvSpPr>
        <p:spPr>
          <a:xfrm>
            <a:off x="4044391" y="6130138"/>
            <a:ext cx="8458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API Schemas</a:t>
            </a:r>
            <a:endParaRPr lang="en-US" sz="1000" dirty="0"/>
          </a:p>
        </p:txBody>
      </p:sp>
      <p:sp>
        <p:nvSpPr>
          <p:cNvPr id="70" name="Shape 63"/>
          <p:cNvSpPr/>
          <p:nvPr/>
        </p:nvSpPr>
        <p:spPr>
          <a:xfrm>
            <a:off x="5071262" y="6075274"/>
            <a:ext cx="1628546" cy="323698"/>
          </a:xfrm>
          <a:prstGeom prst="roundRect">
            <a:avLst>
              <a:gd name="adj" fmla="val 498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71" name="Image 5" descr="preencoded.png"/>
          <p:cNvPicPr>
            <a:picLocks noChangeAspect="1"/>
          </p:cNvPicPr>
          <p:nvPr/>
        </p:nvPicPr>
        <p:blipFill>
          <a:blip r:embed="rId6"/>
          <a:srcRect t="-524" b="-524"/>
          <a:stretch>
            <a:fillRect/>
          </a:stretch>
        </p:blipFill>
        <p:spPr>
          <a:xfrm>
            <a:off x="5202022" y="6171286"/>
            <a:ext cx="152705" cy="123444"/>
          </a:xfrm>
          <a:prstGeom prst="rect">
            <a:avLst/>
          </a:prstGeom>
        </p:spPr>
      </p:pic>
      <p:sp>
        <p:nvSpPr>
          <p:cNvPr id="72" name="Text 64"/>
          <p:cNvSpPr txBox="1"/>
          <p:nvPr/>
        </p:nvSpPr>
        <p:spPr>
          <a:xfrm>
            <a:off x="5430622" y="6130138"/>
            <a:ext cx="1237183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Config Management</a:t>
            </a:r>
            <a:endParaRPr lang="en-US" sz="1000" dirty="0"/>
          </a:p>
        </p:txBody>
      </p:sp>
      <p:sp>
        <p:nvSpPr>
          <p:cNvPr id="73" name="Shape 65"/>
          <p:cNvSpPr/>
          <p:nvPr/>
        </p:nvSpPr>
        <p:spPr>
          <a:xfrm>
            <a:off x="6845198" y="6075274"/>
            <a:ext cx="1609344" cy="323698"/>
          </a:xfrm>
          <a:prstGeom prst="roundRect">
            <a:avLst>
              <a:gd name="adj" fmla="val 498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74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976872" y="6171286"/>
            <a:ext cx="123444" cy="123444"/>
          </a:xfrm>
          <a:prstGeom prst="rect">
            <a:avLst/>
          </a:prstGeom>
        </p:spPr>
      </p:pic>
      <p:sp>
        <p:nvSpPr>
          <p:cNvPr id="75" name="Text 66"/>
          <p:cNvSpPr txBox="1"/>
          <p:nvPr/>
        </p:nvSpPr>
        <p:spPr>
          <a:xfrm>
            <a:off x="7177126" y="6130138"/>
            <a:ext cx="124632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Multi-Platform Sync</a:t>
            </a:r>
            <a:endParaRPr lang="en-US" sz="1000" dirty="0"/>
          </a:p>
        </p:txBody>
      </p:sp>
      <p:sp>
        <p:nvSpPr>
          <p:cNvPr id="76" name="Text 67"/>
          <p:cNvSpPr txBox="1"/>
          <p:nvPr/>
        </p:nvSpPr>
        <p:spPr>
          <a:xfrm>
            <a:off x="11505895" y="6334049"/>
            <a:ext cx="400507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17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09398"/>
            <a:ext cx="3676802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Memory Bank &amp; Glossary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59859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674413" y="295351"/>
            <a:ext cx="37060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Eliminating ambiguity and ensuring long-term consistency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90295"/>
            <a:ext cx="11277295" cy="752551"/>
          </a:xfrm>
          <a:prstGeom prst="roundRect">
            <a:avLst>
              <a:gd name="adj" fmla="val 18457"/>
            </a:avLst>
          </a:prstGeom>
          <a:solidFill>
            <a:srgbClr val="F1F5F9"/>
          </a:solidFill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90295"/>
            <a:ext cx="57607" cy="752551"/>
          </a:xfrm>
          <a:prstGeom prst="rect">
            <a:avLst/>
          </a:prstGeom>
          <a:solidFill>
            <a:srgbClr val="0F172A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43407" y="1152144"/>
            <a:ext cx="171907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90295" y="1141171"/>
            <a:ext cx="183154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Long-Term Memory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43407" y="1420978"/>
            <a:ext cx="60771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Use structured documentation as an external "Memory Bank" to maintain context across sessions.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385962" y="1297534"/>
            <a:ext cx="133502" cy="1335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595360" y="1287475"/>
            <a:ext cx="301477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Add .ai-context/ to .gitignore but include in AI context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1809750" y="2122170"/>
            <a:ext cx="3048000" cy="3927475"/>
          </a:xfrm>
          <a:prstGeom prst="roundRect">
            <a:avLst>
              <a:gd name="adj" fmla="val 1125"/>
            </a:avLst>
          </a:prstGeom>
          <a:solidFill>
            <a:srgbClr val="1E293B"/>
          </a:solidFill>
        </p:spPr>
      </p:sp>
      <p:sp>
        <p:nvSpPr>
          <p:cNvPr id="16" name="Shape 12"/>
          <p:cNvSpPr/>
          <p:nvPr/>
        </p:nvSpPr>
        <p:spPr>
          <a:xfrm>
            <a:off x="1992630" y="2639111"/>
            <a:ext cx="2686507" cy="9144"/>
          </a:xfrm>
          <a:prstGeom prst="rect">
            <a:avLst/>
          </a:prstGeom>
          <a:solidFill>
            <a:srgbClr val="334155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rcRect t="-842" b="-842"/>
          <a:stretch>
            <a:fillRect/>
          </a:stretch>
        </p:blipFill>
        <p:spPr>
          <a:xfrm>
            <a:off x="1992630" y="2344674"/>
            <a:ext cx="190195" cy="1719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259635" y="2333701"/>
            <a:ext cx="137434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Project Structure</a:t>
            </a:r>
            <a:endParaRPr lang="en-US" sz="13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rcRect t="-2644" b="-2644"/>
          <a:stretch>
            <a:fillRect/>
          </a:stretch>
        </p:blipFill>
        <p:spPr>
          <a:xfrm>
            <a:off x="1997202" y="2820162"/>
            <a:ext cx="142646" cy="13350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2221230" y="2794559"/>
            <a:ext cx="72603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</a:t>
            </a:r>
            <a:endParaRPr lang="en-US" sz="10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154479" y="3027731"/>
            <a:ext cx="133502" cy="13350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2373935" y="3002128"/>
            <a:ext cx="104058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.ai-context/</a:t>
            </a:r>
            <a:endParaRPr lang="en-US" sz="10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rcRect t="-2644" b="-2644"/>
          <a:stretch>
            <a:fillRect/>
          </a:stretch>
        </p:blipFill>
        <p:spPr>
          <a:xfrm>
            <a:off x="2325472" y="3235300"/>
            <a:ext cx="95098" cy="13350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2525725" y="3209696"/>
            <a:ext cx="126918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constitution.md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3771138" y="3240786"/>
            <a:ext cx="5715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Rules</a:t>
            </a:r>
            <a:endParaRPr lang="en-US" sz="9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6"/>
          <a:srcRect t="-2644" b="-2644"/>
          <a:stretch>
            <a:fillRect/>
          </a:stretch>
        </p:blipFill>
        <p:spPr>
          <a:xfrm>
            <a:off x="2325472" y="3441954"/>
            <a:ext cx="95098" cy="13350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525725" y="3416351"/>
            <a:ext cx="126918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architecture.md</a:t>
            </a:r>
            <a:endParaRPr lang="en-US" sz="1000" dirty="0"/>
          </a:p>
        </p:txBody>
      </p:sp>
      <p:sp>
        <p:nvSpPr>
          <p:cNvPr id="28" name="Text 19"/>
          <p:cNvSpPr txBox="1"/>
          <p:nvPr/>
        </p:nvSpPr>
        <p:spPr>
          <a:xfrm>
            <a:off x="3771138" y="3447440"/>
            <a:ext cx="6382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Design</a:t>
            </a:r>
            <a:endParaRPr lang="en-US" sz="9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6"/>
          <a:srcRect t="-2644" b="-2644"/>
          <a:stretch>
            <a:fillRect/>
          </a:stretch>
        </p:blipFill>
        <p:spPr>
          <a:xfrm>
            <a:off x="2325472" y="3649523"/>
            <a:ext cx="95098" cy="13350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2525725" y="3623920"/>
            <a:ext cx="96469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glossary.md</a:t>
            </a:r>
            <a:endParaRPr lang="en-US" sz="1000" dirty="0"/>
          </a:p>
        </p:txBody>
      </p:sp>
      <p:sp>
        <p:nvSpPr>
          <p:cNvPr id="31" name="Text 21"/>
          <p:cNvSpPr txBox="1"/>
          <p:nvPr/>
        </p:nvSpPr>
        <p:spPr>
          <a:xfrm>
            <a:off x="3459328" y="3655009"/>
            <a:ext cx="5715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Terms</a:t>
            </a:r>
            <a:endParaRPr lang="en-US" sz="9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6"/>
          <a:srcRect t="-2644" b="-2644"/>
          <a:stretch>
            <a:fillRect/>
          </a:stretch>
        </p:blipFill>
        <p:spPr>
          <a:xfrm>
            <a:off x="2325472" y="3857092"/>
            <a:ext cx="95098" cy="133502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2525725" y="3831488"/>
            <a:ext cx="1583741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coding-standards.md</a:t>
            </a:r>
            <a:endParaRPr lang="en-US" sz="100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154479" y="4063746"/>
            <a:ext cx="133502" cy="133502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2373935" y="4038143"/>
            <a:ext cx="574243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</a:t>
            </a:r>
            <a:endParaRPr lang="en-US" sz="10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307184" y="4271315"/>
            <a:ext cx="133502" cy="133502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2525725" y="4245712"/>
            <a:ext cx="104058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feature-001/</a:t>
            </a:r>
            <a:endParaRPr lang="en-US" sz="1000" dirty="0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7"/>
          <a:srcRect t="-2644" b="-2644"/>
          <a:stretch>
            <a:fillRect/>
          </a:stretch>
        </p:blipFill>
        <p:spPr>
          <a:xfrm>
            <a:off x="2478176" y="4478884"/>
            <a:ext cx="95098" cy="133502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2678430" y="4453280"/>
            <a:ext cx="126918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requirements.md</a:t>
            </a:r>
            <a:endParaRPr lang="en-US" sz="1000" dirty="0"/>
          </a:p>
        </p:txBody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7"/>
          <a:srcRect t="-2644" b="-2644"/>
          <a:stretch>
            <a:fillRect/>
          </a:stretch>
        </p:blipFill>
        <p:spPr>
          <a:xfrm>
            <a:off x="2478176" y="4686452"/>
            <a:ext cx="95098" cy="133502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2678430" y="4660849"/>
            <a:ext cx="72603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tests.md</a:t>
            </a:r>
            <a:endParaRPr lang="en-US" sz="10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154479" y="4893107"/>
            <a:ext cx="133502" cy="133502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2373935" y="4867504"/>
            <a:ext cx="411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000" dirty="0"/>
          </a:p>
        </p:txBody>
      </p:sp>
      <p:sp>
        <p:nvSpPr>
          <p:cNvPr id="44" name="Text 28"/>
          <p:cNvSpPr txBox="1"/>
          <p:nvPr/>
        </p:nvSpPr>
        <p:spPr>
          <a:xfrm>
            <a:off x="2761640" y="4899508"/>
            <a:ext cx="8485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impl</a:t>
            </a:r>
            <a:endParaRPr lang="en-US" sz="900" dirty="0"/>
          </a:p>
        </p:txBody>
      </p:sp>
      <p:sp>
        <p:nvSpPr>
          <p:cNvPr id="46" name="Shape 30"/>
          <p:cNvSpPr/>
          <p:nvPr/>
        </p:nvSpPr>
        <p:spPr>
          <a:xfrm>
            <a:off x="3926434" y="2291944"/>
            <a:ext cx="7619695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7" name="Shape 31"/>
          <p:cNvSpPr/>
          <p:nvPr/>
        </p:nvSpPr>
        <p:spPr>
          <a:xfrm>
            <a:off x="6501359" y="1817929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EE2E2"/>
          </a:solidFill>
        </p:spPr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8"/>
          <a:srcRect l="-33" r="-33"/>
          <a:stretch>
            <a:fillRect/>
          </a:stretch>
        </p:blipFill>
        <p:spPr>
          <a:xfrm>
            <a:off x="6568110" y="1893824"/>
            <a:ext cx="171907" cy="152705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6927469" y="1861820"/>
            <a:ext cx="279532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constitution.md (Highest Priority)</a:t>
            </a:r>
            <a:endParaRPr lang="en-US" sz="1400" dirty="0"/>
          </a:p>
        </p:txBody>
      </p:sp>
      <p:sp>
        <p:nvSpPr>
          <p:cNvPr id="50" name="Shape 33"/>
          <p:cNvSpPr/>
          <p:nvPr/>
        </p:nvSpPr>
        <p:spPr>
          <a:xfrm>
            <a:off x="6501130" y="2101215"/>
            <a:ext cx="4037965" cy="2066290"/>
          </a:xfrm>
          <a:prstGeom prst="roundRect">
            <a:avLst>
              <a:gd name="adj" fmla="val 122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34"/>
          <p:cNvSpPr txBox="1"/>
          <p:nvPr/>
        </p:nvSpPr>
        <p:spPr>
          <a:xfrm>
            <a:off x="6632118" y="2252269"/>
            <a:ext cx="303489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Project Constitution: Urban POI System</a:t>
            </a:r>
            <a:endParaRPr lang="en-US" sz="900" dirty="0"/>
          </a:p>
        </p:txBody>
      </p:sp>
      <p:sp>
        <p:nvSpPr>
          <p:cNvPr id="52" name="Text 35"/>
          <p:cNvSpPr txBox="1"/>
          <p:nvPr/>
        </p:nvSpPr>
        <p:spPr>
          <a:xfrm>
            <a:off x="6632118" y="2473554"/>
            <a:ext cx="266364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Core Principles (Non-negotiable)</a:t>
            </a:r>
            <a:endParaRPr lang="en-US" sz="900" dirty="0"/>
          </a:p>
        </p:txBody>
      </p:sp>
      <p:sp>
        <p:nvSpPr>
          <p:cNvPr id="53" name="Text 36"/>
          <p:cNvSpPr txBox="1"/>
          <p:nvPr/>
        </p:nvSpPr>
        <p:spPr>
          <a:xfrm>
            <a:off x="6632118" y="2693924"/>
            <a:ext cx="376824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Data First: Use real data only, no fabrication.</a:t>
            </a:r>
            <a:endParaRPr lang="en-US" sz="900" dirty="0"/>
          </a:p>
        </p:txBody>
      </p:sp>
      <p:sp>
        <p:nvSpPr>
          <p:cNvPr id="54" name="Text 37"/>
          <p:cNvSpPr txBox="1"/>
          <p:nvPr/>
        </p:nvSpPr>
        <p:spPr>
          <a:xfrm>
            <a:off x="6632118" y="2876804"/>
            <a:ext cx="376824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Reproducibility: Every step must have a script.</a:t>
            </a:r>
            <a:endParaRPr lang="en-US" sz="900" dirty="0"/>
          </a:p>
        </p:txBody>
      </p:sp>
      <p:sp>
        <p:nvSpPr>
          <p:cNvPr id="55" name="Text 38"/>
          <p:cNvSpPr txBox="1"/>
          <p:nvPr/>
        </p:nvSpPr>
        <p:spPr>
          <a:xfrm>
            <a:off x="6632118" y="3059684"/>
            <a:ext cx="244419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Quality: Correctness &gt; Speed.</a:t>
            </a:r>
            <a:endParaRPr lang="en-US" sz="900" dirty="0"/>
          </a:p>
        </p:txBody>
      </p:sp>
      <p:sp>
        <p:nvSpPr>
          <p:cNvPr id="56" name="Text 39"/>
          <p:cNvSpPr txBox="1"/>
          <p:nvPr/>
        </p:nvSpPr>
        <p:spPr>
          <a:xfrm>
            <a:off x="6632118" y="3280969"/>
            <a:ext cx="141549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Forbidden Items</a:t>
            </a:r>
            <a:endParaRPr lang="en-US" sz="900" dirty="0"/>
          </a:p>
        </p:txBody>
      </p:sp>
      <p:sp>
        <p:nvSpPr>
          <p:cNvPr id="57" name="Text 40"/>
          <p:cNvSpPr txBox="1"/>
          <p:nvPr/>
        </p:nvSpPr>
        <p:spPr>
          <a:xfrm>
            <a:off x="6632118" y="3502254"/>
            <a:ext cx="186354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❌ NO global variables</a:t>
            </a:r>
            <a:endParaRPr lang="en-US" sz="900" dirty="0"/>
          </a:p>
        </p:txBody>
      </p:sp>
      <p:sp>
        <p:nvSpPr>
          <p:cNvPr id="58" name="Text 41"/>
          <p:cNvSpPr txBox="1"/>
          <p:nvPr/>
        </p:nvSpPr>
        <p:spPr>
          <a:xfrm>
            <a:off x="6632118" y="3685134"/>
            <a:ext cx="230154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❌ NO 'from module import *'</a:t>
            </a:r>
            <a:endParaRPr lang="en-US" sz="900" dirty="0"/>
          </a:p>
        </p:txBody>
      </p:sp>
      <p:sp>
        <p:nvSpPr>
          <p:cNvPr id="59" name="Text 42"/>
          <p:cNvSpPr txBox="1"/>
          <p:nvPr/>
        </p:nvSpPr>
        <p:spPr>
          <a:xfrm>
            <a:off x="6632118" y="3868014"/>
            <a:ext cx="178765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❌ NO hardcoded paths</a:t>
            </a:r>
            <a:endParaRPr lang="en-US" sz="900" dirty="0"/>
          </a:p>
        </p:txBody>
      </p:sp>
      <p:sp>
        <p:nvSpPr>
          <p:cNvPr id="61" name="Shape 44"/>
          <p:cNvSpPr/>
          <p:nvPr/>
        </p:nvSpPr>
        <p:spPr>
          <a:xfrm>
            <a:off x="3926434" y="4648352"/>
            <a:ext cx="7619695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2" name="Shape 45"/>
          <p:cNvSpPr/>
          <p:nvPr/>
        </p:nvSpPr>
        <p:spPr>
          <a:xfrm>
            <a:off x="6501359" y="4174338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DBEAFE"/>
          </a:solidFill>
        </p:spPr>
      </p:sp>
      <p:pic>
        <p:nvPicPr>
          <p:cNvPr id="63" name="Image 15" descr="preencoded.png"/>
          <p:cNvPicPr>
            <a:picLocks noChangeAspect="1"/>
          </p:cNvPicPr>
          <p:nvPr/>
        </p:nvPicPr>
        <p:blipFill>
          <a:blip r:embed="rId9"/>
          <a:srcRect t="-43" b="-43"/>
          <a:stretch>
            <a:fillRect/>
          </a:stretch>
        </p:blipFill>
        <p:spPr>
          <a:xfrm>
            <a:off x="6586398" y="4250233"/>
            <a:ext cx="133502" cy="152705"/>
          </a:xfrm>
          <a:prstGeom prst="rect">
            <a:avLst/>
          </a:prstGeom>
        </p:spPr>
      </p:pic>
      <p:sp>
        <p:nvSpPr>
          <p:cNvPr id="64" name="Text 46"/>
          <p:cNvSpPr txBox="1"/>
          <p:nvPr/>
        </p:nvSpPr>
        <p:spPr>
          <a:xfrm>
            <a:off x="6927469" y="4218229"/>
            <a:ext cx="287121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glossary.md (Eliminate Ambiguity)</a:t>
            </a:r>
            <a:endParaRPr lang="en-US" sz="1400" dirty="0"/>
          </a:p>
        </p:txBody>
      </p:sp>
      <p:sp>
        <p:nvSpPr>
          <p:cNvPr id="65" name="Shape 47"/>
          <p:cNvSpPr/>
          <p:nvPr/>
        </p:nvSpPr>
        <p:spPr>
          <a:xfrm>
            <a:off x="6501130" y="4686300"/>
            <a:ext cx="4038600" cy="1924050"/>
          </a:xfrm>
          <a:prstGeom prst="roundRect">
            <a:avLst>
              <a:gd name="adj" fmla="val 1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48"/>
          <p:cNvSpPr txBox="1"/>
          <p:nvPr/>
        </p:nvSpPr>
        <p:spPr>
          <a:xfrm>
            <a:off x="6632118" y="4837278"/>
            <a:ext cx="171084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Terminology Glossary</a:t>
            </a:r>
            <a:endParaRPr lang="en-US" sz="900" dirty="0"/>
          </a:p>
        </p:txBody>
      </p:sp>
      <p:sp>
        <p:nvSpPr>
          <p:cNvPr id="67" name="Text 49"/>
          <p:cNvSpPr txBox="1"/>
          <p:nvPr/>
        </p:nvSpPr>
        <p:spPr>
          <a:xfrm>
            <a:off x="6632118" y="5058562"/>
            <a:ext cx="149230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Building Density</a:t>
            </a:r>
            <a:endParaRPr lang="en-US" sz="900" dirty="0"/>
          </a:p>
        </p:txBody>
      </p:sp>
      <p:sp>
        <p:nvSpPr>
          <p:cNvPr id="68" name="Text 50"/>
          <p:cNvSpPr txBox="1"/>
          <p:nvPr/>
        </p:nvSpPr>
        <p:spPr>
          <a:xfrm>
            <a:off x="6632118" y="5278933"/>
            <a:ext cx="347289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Definition: Number of buildings per unit area.</a:t>
            </a:r>
            <a:endParaRPr lang="en-US" sz="900" dirty="0"/>
          </a:p>
        </p:txBody>
      </p:sp>
      <p:sp>
        <p:nvSpPr>
          <p:cNvPr id="69" name="Text 51"/>
          <p:cNvSpPr txBox="1"/>
          <p:nvPr/>
        </p:nvSpPr>
        <p:spPr>
          <a:xfrm>
            <a:off x="6632118" y="5461813"/>
            <a:ext cx="354970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density = count(buildings) / area(km²)</a:t>
            </a:r>
            <a:endParaRPr lang="en-US" sz="900" dirty="0"/>
          </a:p>
        </p:txBody>
      </p:sp>
      <p:sp>
        <p:nvSpPr>
          <p:cNvPr id="70" name="Text 52"/>
          <p:cNvSpPr txBox="1"/>
          <p:nvPr/>
        </p:nvSpPr>
        <p:spPr>
          <a:xfrm>
            <a:off x="6632118" y="5644693"/>
            <a:ext cx="332110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Note: ≠ Building Coverage Ratio (Area Ratio)</a:t>
            </a:r>
            <a:endParaRPr lang="en-US" sz="900" dirty="0"/>
          </a:p>
        </p:txBody>
      </p:sp>
      <p:sp>
        <p:nvSpPr>
          <p:cNvPr id="71" name="Text 53"/>
          <p:cNvSpPr txBox="1"/>
          <p:nvPr/>
        </p:nvSpPr>
        <p:spPr>
          <a:xfrm>
            <a:off x="6632118" y="5904382"/>
            <a:ext cx="258775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Kernel Density Estimation (KDE)</a:t>
            </a:r>
            <a:endParaRPr lang="en-US" sz="900" dirty="0"/>
          </a:p>
        </p:txBody>
      </p:sp>
      <p:sp>
        <p:nvSpPr>
          <p:cNvPr id="72" name="Text 54"/>
          <p:cNvSpPr txBox="1"/>
          <p:nvPr/>
        </p:nvSpPr>
        <p:spPr>
          <a:xfrm>
            <a:off x="6632118" y="6125667"/>
            <a:ext cx="230154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Impl: scipy.stats.gaussian_kde</a:t>
            </a:r>
            <a:endParaRPr lang="en-US" sz="900" dirty="0"/>
          </a:p>
        </p:txBody>
      </p:sp>
      <p:sp>
        <p:nvSpPr>
          <p:cNvPr id="73" name="Text 55"/>
          <p:cNvSpPr txBox="1"/>
          <p:nvPr/>
        </p:nvSpPr>
        <p:spPr>
          <a:xfrm>
            <a:off x="6632118" y="6308547"/>
            <a:ext cx="303489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Param: bandwidth (default: Scott's rule)</a:t>
            </a:r>
            <a:endParaRPr lang="en-US" sz="900" dirty="0"/>
          </a:p>
        </p:txBody>
      </p:sp>
      <p:sp>
        <p:nvSpPr>
          <p:cNvPr id="85" name="Text 63"/>
          <p:cNvSpPr txBox="1"/>
          <p:nvPr/>
        </p:nvSpPr>
        <p:spPr>
          <a:xfrm>
            <a:off x="11505895" y="6334049"/>
            <a:ext cx="400507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18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457200" y="89611"/>
            <a:ext cx="6759245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Comparative Experiment: Two Paths for the Same Task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61695" y="491033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1076249" y="520294"/>
            <a:ext cx="28767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Vibe Coding vs Spec-First Performance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7295" cy="533095"/>
          </a:xfrm>
          <a:prstGeom prst="roundRect">
            <a:avLst>
              <a:gd name="adj" fmla="val 245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4944" y="1046074"/>
            <a:ext cx="838505" cy="267005"/>
          </a:xfrm>
          <a:prstGeom prst="roundRect">
            <a:avLst>
              <a:gd name="adj" fmla="val 48924"/>
            </a:avLst>
          </a:prstGeom>
          <a:solidFill>
            <a:srgbClr val="CBD5E1"/>
          </a:solidFill>
        </p:spPr>
      </p:sp>
      <p:sp>
        <p:nvSpPr>
          <p:cNvPr id="10" name="Text 8"/>
          <p:cNvSpPr txBox="1"/>
          <p:nvPr/>
        </p:nvSpPr>
        <p:spPr>
          <a:xfrm>
            <a:off x="817474" y="1095451"/>
            <a:ext cx="70317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Task Goal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37030" y="1107338"/>
            <a:ext cx="142646" cy="14264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979676" y="1089965"/>
            <a:ext cx="293796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Calculate 15-min urban road network isochrones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rcRect t="-556" b="-556"/>
          <a:stretch>
            <a:fillRect/>
          </a:stretch>
        </p:blipFill>
        <p:spPr>
          <a:xfrm>
            <a:off x="5184648" y="1107338"/>
            <a:ext cx="123444" cy="14264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09006" y="1089965"/>
            <a:ext cx="196596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Input: Road SHP + Origin Point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l="-428" r="-428"/>
          <a:stretch>
            <a:fillRect/>
          </a:stretch>
        </p:blipFill>
        <p:spPr>
          <a:xfrm>
            <a:off x="7546543" y="1107338"/>
            <a:ext cx="161849" cy="14264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08392" y="1089965"/>
            <a:ext cx="209031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Output: GeoDataFrame (Polygon)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1596542"/>
            <a:ext cx="5486400" cy="4334256"/>
          </a:xfrm>
          <a:prstGeom prst="roundRect">
            <a:avLst>
              <a:gd name="adj" fmla="val 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66344" y="1605686"/>
            <a:ext cx="5467198" cy="609905"/>
          </a:xfrm>
          <a:prstGeom prst="rect">
            <a:avLst/>
          </a:prstGeom>
          <a:solidFill>
            <a:srgbClr val="FFF7ED"/>
          </a:solidFill>
          <a:ln w="50800">
            <a:solidFill>
              <a:srgbClr val="F9731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49224" y="1724558"/>
            <a:ext cx="191292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2410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Method A: Vibe Coding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49224" y="1977847"/>
            <a:ext cx="19074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2410C">
                    <a:alpha val="90000"/>
                  </a:srgbClr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"Intuition-driven, ad-hoc changes"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rcRect l="-80" r="-80"/>
          <a:stretch>
            <a:fillRect/>
          </a:stretch>
        </p:blipFill>
        <p:spPr>
          <a:xfrm>
            <a:off x="5465369" y="1810512"/>
            <a:ext cx="286207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95451" y="2416759"/>
            <a:ext cx="238018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Gen code v1 (AI used Euclidean dist ❌)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1095451" y="2759659"/>
            <a:ext cx="289407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Debug: Switch to network dist (No NetworkX ❌)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95451" y="3102559"/>
            <a:ext cx="283738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Debug: Add NetworkX (Ignored speed limits ❌)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95451" y="3445459"/>
            <a:ext cx="266547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Debug: Add speed limits (Extremely slow ⚠️)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1095451" y="3788359"/>
            <a:ext cx="247528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After 7 iterations, code structure is messy...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49224" y="3962095"/>
            <a:ext cx="5105095" cy="1257300"/>
          </a:xfrm>
          <a:prstGeom prst="roundRect">
            <a:avLst>
              <a:gd name="adj" fmla="val 440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1734617" y="4093769"/>
            <a:ext cx="36393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C262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60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1977847" y="4160520"/>
            <a:ext cx="3099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C262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min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1599286" y="4375404"/>
            <a:ext cx="81015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TOTAL TIME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4336999" y="4093769"/>
            <a:ext cx="25969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C262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4477817" y="4160520"/>
            <a:ext cx="16733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C262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x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960266" y="4375404"/>
            <a:ext cx="10479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DEBUG ROUNDS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831543" y="4649724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C262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❌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1337767" y="4930445"/>
            <a:ext cx="13341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DOC COMPLETENESS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4240987" y="4649724"/>
            <a:ext cx="36393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9770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60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4484218" y="4716475"/>
            <a:ext cx="26243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9770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pts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3982212" y="4930445"/>
            <a:ext cx="10104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CODE QUALITY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649224" y="5336438"/>
            <a:ext cx="5105095" cy="400507"/>
          </a:xfrm>
          <a:prstGeom prst="roundRect">
            <a:avLst>
              <a:gd name="adj" fmla="val 32616"/>
            </a:avLst>
          </a:prstGeom>
          <a:solidFill>
            <a:srgbClr val="F97316"/>
          </a:solidFill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5"/>
          <a:srcRect l="-3526" r="-3526"/>
          <a:stretch>
            <a:fillRect/>
          </a:stretch>
        </p:blipFill>
        <p:spPr>
          <a:xfrm>
            <a:off x="2063801" y="5464454"/>
            <a:ext cx="152705" cy="142646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2292401" y="5427878"/>
            <a:ext cx="215707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Barely usable, hard to maintain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6248095" y="1596542"/>
            <a:ext cx="5486400" cy="4334256"/>
          </a:xfrm>
          <a:prstGeom prst="roundRect">
            <a:avLst>
              <a:gd name="adj" fmla="val 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6258154" y="1605686"/>
            <a:ext cx="5467198" cy="609905"/>
          </a:xfrm>
          <a:prstGeom prst="rect">
            <a:avLst/>
          </a:prstGeom>
          <a:solidFill>
            <a:srgbClr val="ECFDF5"/>
          </a:solidFill>
          <a:ln w="50800">
            <a:solidFill>
              <a:srgbClr val="059669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6441034" y="1724558"/>
            <a:ext cx="175107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4785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Method B: Spec-First</a:t>
            </a:r>
            <a:endParaRPr lang="en-US" sz="1300" dirty="0"/>
          </a:p>
        </p:txBody>
      </p:sp>
      <p:sp>
        <p:nvSpPr>
          <p:cNvPr id="45" name="Text 38"/>
          <p:cNvSpPr txBox="1"/>
          <p:nvPr/>
        </p:nvSpPr>
        <p:spPr>
          <a:xfrm>
            <a:off x="6441034" y="1977847"/>
            <a:ext cx="197419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47857">
                    <a:alpha val="90000"/>
                  </a:srgbClr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"Contract-driven, spec before code"</a:t>
            </a:r>
            <a:endParaRPr lang="en-US" sz="10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6">
            <a:alphaModFix amt="40000"/>
          </a:blip>
          <a:srcRect l="-133" r="-133"/>
          <a:stretch>
            <a:fillRect/>
          </a:stretch>
        </p:blipFill>
        <p:spPr>
          <a:xfrm>
            <a:off x="11371478" y="1810512"/>
            <a:ext cx="171907" cy="228600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6886346" y="2416759"/>
            <a:ext cx="184617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Write Spec Document (5 min)</a:t>
            </a:r>
            <a:endParaRPr lang="en-US" sz="1000" dirty="0"/>
          </a:p>
        </p:txBody>
      </p:sp>
      <p:sp>
        <p:nvSpPr>
          <p:cNvPr id="48" name="Text 40"/>
          <p:cNvSpPr txBox="1"/>
          <p:nvPr/>
        </p:nvSpPr>
        <p:spPr>
          <a:xfrm>
            <a:off x="6886346" y="2759659"/>
            <a:ext cx="218907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generates full code at once (2 min)</a:t>
            </a:r>
            <a:endParaRPr lang="en-US" sz="1000" dirty="0"/>
          </a:p>
        </p:txBody>
      </p:sp>
      <p:sp>
        <p:nvSpPr>
          <p:cNvPr id="49" name="Text 41"/>
          <p:cNvSpPr txBox="1"/>
          <p:nvPr/>
        </p:nvSpPr>
        <p:spPr>
          <a:xfrm>
            <a:off x="6886346" y="3102559"/>
            <a:ext cx="195133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Run unit tests: Passed ✅ (1 min)</a:t>
            </a:r>
            <a:endParaRPr lang="en-US" sz="1000" dirty="0"/>
          </a:p>
        </p:txBody>
      </p:sp>
      <p:sp>
        <p:nvSpPr>
          <p:cNvPr id="50" name="Text 42"/>
          <p:cNvSpPr txBox="1"/>
          <p:nvPr/>
        </p:nvSpPr>
        <p:spPr>
          <a:xfrm>
            <a:off x="6886346" y="3445459"/>
            <a:ext cx="187543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adds README docs (2 min)</a:t>
            </a:r>
            <a:endParaRPr lang="en-US" sz="1000" dirty="0"/>
          </a:p>
        </p:txBody>
      </p:sp>
      <p:sp>
        <p:nvSpPr>
          <p:cNvPr id="51" name="Text 43"/>
          <p:cNvSpPr txBox="1"/>
          <p:nvPr/>
        </p:nvSpPr>
        <p:spPr>
          <a:xfrm>
            <a:off x="6886346" y="3788359"/>
            <a:ext cx="219913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Final validation, no major logic errors</a:t>
            </a:r>
            <a:endParaRPr lang="en-US" sz="1000" dirty="0"/>
          </a:p>
        </p:txBody>
      </p:sp>
      <p:sp>
        <p:nvSpPr>
          <p:cNvPr id="52" name="Shape 44"/>
          <p:cNvSpPr/>
          <p:nvPr/>
        </p:nvSpPr>
        <p:spPr>
          <a:xfrm>
            <a:off x="6441034" y="3962095"/>
            <a:ext cx="5105095" cy="1257300"/>
          </a:xfrm>
          <a:prstGeom prst="roundRect">
            <a:avLst>
              <a:gd name="adj" fmla="val 440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7525512" y="4093769"/>
            <a:ext cx="36393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596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10</a:t>
            </a:r>
            <a:endParaRPr lang="en-US" sz="1600" dirty="0"/>
          </a:p>
        </p:txBody>
      </p:sp>
      <p:sp>
        <p:nvSpPr>
          <p:cNvPr id="54" name="Text 46"/>
          <p:cNvSpPr txBox="1"/>
          <p:nvPr/>
        </p:nvSpPr>
        <p:spPr>
          <a:xfrm>
            <a:off x="7769657" y="4160520"/>
            <a:ext cx="3099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min</a:t>
            </a:r>
            <a:endParaRPr lang="en-US" sz="1000" dirty="0"/>
          </a:p>
        </p:txBody>
      </p:sp>
      <p:sp>
        <p:nvSpPr>
          <p:cNvPr id="55" name="Text 47"/>
          <p:cNvSpPr txBox="1"/>
          <p:nvPr/>
        </p:nvSpPr>
        <p:spPr>
          <a:xfrm>
            <a:off x="7390181" y="4375404"/>
            <a:ext cx="81015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TOTAL TIME</a:t>
            </a:r>
            <a:endParaRPr lang="en-US" sz="900" dirty="0"/>
          </a:p>
        </p:txBody>
      </p:sp>
      <p:sp>
        <p:nvSpPr>
          <p:cNvPr id="56" name="Text 48"/>
          <p:cNvSpPr txBox="1"/>
          <p:nvPr/>
        </p:nvSpPr>
        <p:spPr>
          <a:xfrm>
            <a:off x="10127894" y="4093769"/>
            <a:ext cx="25969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596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</a:t>
            </a:r>
            <a:endParaRPr lang="en-US" sz="1600" dirty="0"/>
          </a:p>
        </p:txBody>
      </p:sp>
      <p:sp>
        <p:nvSpPr>
          <p:cNvPr id="57" name="Text 49"/>
          <p:cNvSpPr txBox="1"/>
          <p:nvPr/>
        </p:nvSpPr>
        <p:spPr>
          <a:xfrm>
            <a:off x="10268712" y="4160520"/>
            <a:ext cx="16733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x</a:t>
            </a:r>
            <a:endParaRPr lang="en-US" sz="1000" dirty="0"/>
          </a:p>
        </p:txBody>
      </p:sp>
      <p:sp>
        <p:nvSpPr>
          <p:cNvPr id="58" name="Text 50"/>
          <p:cNvSpPr txBox="1"/>
          <p:nvPr/>
        </p:nvSpPr>
        <p:spPr>
          <a:xfrm>
            <a:off x="9751162" y="4375404"/>
            <a:ext cx="10479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DEBUG ROUNDS</a:t>
            </a:r>
            <a:endParaRPr lang="en-US" sz="900" dirty="0"/>
          </a:p>
        </p:txBody>
      </p:sp>
      <p:sp>
        <p:nvSpPr>
          <p:cNvPr id="59" name="Text 51"/>
          <p:cNvSpPr txBox="1"/>
          <p:nvPr/>
        </p:nvSpPr>
        <p:spPr>
          <a:xfrm>
            <a:off x="7623353" y="4649724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596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✅</a:t>
            </a:r>
            <a:endParaRPr lang="en-US" sz="1600" dirty="0"/>
          </a:p>
        </p:txBody>
      </p:sp>
      <p:sp>
        <p:nvSpPr>
          <p:cNvPr id="60" name="Text 52"/>
          <p:cNvSpPr txBox="1"/>
          <p:nvPr/>
        </p:nvSpPr>
        <p:spPr>
          <a:xfrm>
            <a:off x="7129577" y="4930445"/>
            <a:ext cx="13341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DOC COMPLETENESS</a:t>
            </a:r>
            <a:endParaRPr lang="en-US" sz="900" dirty="0"/>
          </a:p>
        </p:txBody>
      </p:sp>
      <p:sp>
        <p:nvSpPr>
          <p:cNvPr id="61" name="Text 53"/>
          <p:cNvSpPr txBox="1"/>
          <p:nvPr/>
        </p:nvSpPr>
        <p:spPr>
          <a:xfrm>
            <a:off x="10031882" y="4649724"/>
            <a:ext cx="36393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596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90</a:t>
            </a:r>
            <a:endParaRPr lang="en-US" sz="1600" dirty="0"/>
          </a:p>
        </p:txBody>
      </p:sp>
      <p:sp>
        <p:nvSpPr>
          <p:cNvPr id="62" name="Text 54"/>
          <p:cNvSpPr txBox="1"/>
          <p:nvPr/>
        </p:nvSpPr>
        <p:spPr>
          <a:xfrm>
            <a:off x="10276027" y="4716475"/>
            <a:ext cx="26243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pts</a:t>
            </a:r>
            <a:endParaRPr lang="en-US" sz="1000" dirty="0"/>
          </a:p>
        </p:txBody>
      </p:sp>
      <p:sp>
        <p:nvSpPr>
          <p:cNvPr id="63" name="Text 55"/>
          <p:cNvSpPr txBox="1"/>
          <p:nvPr/>
        </p:nvSpPr>
        <p:spPr>
          <a:xfrm>
            <a:off x="9774022" y="4930445"/>
            <a:ext cx="10104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CODE QUALITY</a:t>
            </a:r>
            <a:endParaRPr lang="en-US" sz="900" dirty="0"/>
          </a:p>
        </p:txBody>
      </p:sp>
      <p:sp>
        <p:nvSpPr>
          <p:cNvPr id="64" name="Shape 56"/>
          <p:cNvSpPr/>
          <p:nvPr/>
        </p:nvSpPr>
        <p:spPr>
          <a:xfrm>
            <a:off x="6441034" y="5336438"/>
            <a:ext cx="5105095" cy="400507"/>
          </a:xfrm>
          <a:prstGeom prst="roundRect">
            <a:avLst>
              <a:gd name="adj" fmla="val 32616"/>
            </a:avLst>
          </a:prstGeom>
          <a:solidFill>
            <a:srgbClr val="059669"/>
          </a:solidFill>
        </p:spPr>
      </p:sp>
      <p:pic>
        <p:nvPicPr>
          <p:cNvPr id="65" name="Image 6" descr="preencoded.png"/>
          <p:cNvPicPr>
            <a:picLocks noChangeAspect="1"/>
          </p:cNvPicPr>
          <p:nvPr/>
        </p:nvPicPr>
        <p:blipFill>
          <a:blip r:embed="rId7"/>
          <a:srcRect l="-428" r="-428"/>
          <a:stretch>
            <a:fillRect/>
          </a:stretch>
        </p:blipFill>
        <p:spPr>
          <a:xfrm>
            <a:off x="7981798" y="5464454"/>
            <a:ext cx="161849" cy="142646"/>
          </a:xfrm>
          <a:prstGeom prst="rect">
            <a:avLst/>
          </a:prstGeom>
        </p:spPr>
      </p:pic>
      <p:sp>
        <p:nvSpPr>
          <p:cNvPr id="66" name="Text 57"/>
          <p:cNvSpPr txBox="1"/>
          <p:nvPr/>
        </p:nvSpPr>
        <p:spPr>
          <a:xfrm>
            <a:off x="8220456" y="5427878"/>
            <a:ext cx="1890065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High Quality, Reproducible</a:t>
            </a:r>
            <a:endParaRPr lang="en-US" sz="1100" dirty="0"/>
          </a:p>
        </p:txBody>
      </p:sp>
      <p:sp>
        <p:nvSpPr>
          <p:cNvPr id="67" name="Shape 58"/>
          <p:cNvSpPr/>
          <p:nvPr/>
        </p:nvSpPr>
        <p:spPr>
          <a:xfrm>
            <a:off x="457200" y="6156655"/>
            <a:ext cx="11277295" cy="476402"/>
          </a:xfrm>
          <a:prstGeom prst="roundRect">
            <a:avLst>
              <a:gd name="adj" fmla="val 30710"/>
            </a:avLst>
          </a:prstGeom>
          <a:solidFill>
            <a:srgbClr val="1E293B"/>
          </a:solidFill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8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85800" y="6298387"/>
            <a:ext cx="142646" cy="190195"/>
          </a:xfrm>
          <a:prstGeom prst="rect">
            <a:avLst/>
          </a:prstGeom>
        </p:spPr>
      </p:pic>
      <p:sp>
        <p:nvSpPr>
          <p:cNvPr id="69" name="Text 59"/>
          <p:cNvSpPr txBox="1"/>
          <p:nvPr/>
        </p:nvSpPr>
        <p:spPr>
          <a:xfrm>
            <a:off x="942746" y="6307531"/>
            <a:ext cx="41916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Key Insight: Spending 5 mins on Spec saves 6x development time.</a:t>
            </a:r>
            <a:endParaRPr lang="en-US" sz="1200" dirty="0"/>
          </a:p>
        </p:txBody>
      </p:sp>
      <p:sp>
        <p:nvSpPr>
          <p:cNvPr id="70" name="Text 60"/>
          <p:cNvSpPr txBox="1"/>
          <p:nvPr/>
        </p:nvSpPr>
        <p:spPr>
          <a:xfrm>
            <a:off x="9599371" y="6316675"/>
            <a:ext cx="201533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EFFICIENCY BOOST: 600%</a:t>
            </a:r>
            <a:endParaRPr lang="en-US" sz="1000" dirty="0"/>
          </a:p>
        </p:txBody>
      </p:sp>
      <p:sp>
        <p:nvSpPr>
          <p:cNvPr id="71" name="Shape 61"/>
          <p:cNvSpPr/>
          <p:nvPr/>
        </p:nvSpPr>
        <p:spPr>
          <a:xfrm>
            <a:off x="763524" y="2416759"/>
            <a:ext cx="209398" cy="20939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72" name="Text 62"/>
          <p:cNvSpPr txBox="1"/>
          <p:nvPr/>
        </p:nvSpPr>
        <p:spPr>
          <a:xfrm>
            <a:off x="843991" y="2447849"/>
            <a:ext cx="1335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</a:t>
            </a:r>
            <a:endParaRPr lang="en-US" sz="800" dirty="0"/>
          </a:p>
        </p:txBody>
      </p:sp>
      <p:sp>
        <p:nvSpPr>
          <p:cNvPr id="73" name="Shape 63"/>
          <p:cNvSpPr/>
          <p:nvPr/>
        </p:nvSpPr>
        <p:spPr>
          <a:xfrm>
            <a:off x="763524" y="2759659"/>
            <a:ext cx="209398" cy="209398"/>
          </a:xfrm>
          <a:prstGeom prst="ellipse">
            <a:avLst/>
          </a:prstGeom>
          <a:solidFill>
            <a:srgbClr val="FEF2F2"/>
          </a:solidFill>
          <a:ln w="25400">
            <a:solidFill>
              <a:srgbClr val="F87171"/>
            </a:solidFill>
            <a:prstDash val="solid"/>
          </a:ln>
        </p:spPr>
      </p:sp>
      <p:pic>
        <p:nvPicPr>
          <p:cNvPr id="74" name="Image 8" descr="preencoded.png"/>
          <p:cNvPicPr>
            <a:picLocks noChangeAspect="1"/>
          </p:cNvPicPr>
          <p:nvPr/>
        </p:nvPicPr>
        <p:blipFill>
          <a:blip r:embed="rId9"/>
          <a:srcRect l="-3205" r="-3205"/>
          <a:stretch>
            <a:fillRect/>
          </a:stretch>
        </p:blipFill>
        <p:spPr>
          <a:xfrm>
            <a:off x="830275" y="2817266"/>
            <a:ext cx="75895" cy="95098"/>
          </a:xfrm>
          <a:prstGeom prst="rect">
            <a:avLst/>
          </a:prstGeom>
        </p:spPr>
      </p:pic>
      <p:sp>
        <p:nvSpPr>
          <p:cNvPr id="75" name="Shape 64"/>
          <p:cNvSpPr/>
          <p:nvPr/>
        </p:nvSpPr>
        <p:spPr>
          <a:xfrm>
            <a:off x="763524" y="3102559"/>
            <a:ext cx="209398" cy="209398"/>
          </a:xfrm>
          <a:prstGeom prst="ellipse">
            <a:avLst/>
          </a:prstGeom>
          <a:solidFill>
            <a:srgbClr val="FEF2F2"/>
          </a:solidFill>
          <a:ln w="25400">
            <a:solidFill>
              <a:srgbClr val="F87171"/>
            </a:solidFill>
            <a:prstDash val="solid"/>
          </a:ln>
        </p:spPr>
      </p:sp>
      <p:pic>
        <p:nvPicPr>
          <p:cNvPr id="76" name="Image 9" descr="preencoded.png"/>
          <p:cNvPicPr>
            <a:picLocks noChangeAspect="1"/>
          </p:cNvPicPr>
          <p:nvPr/>
        </p:nvPicPr>
        <p:blipFill>
          <a:blip r:embed="rId9"/>
          <a:srcRect l="-3205" r="-3205"/>
          <a:stretch>
            <a:fillRect/>
          </a:stretch>
        </p:blipFill>
        <p:spPr>
          <a:xfrm>
            <a:off x="830275" y="3160166"/>
            <a:ext cx="75895" cy="95098"/>
          </a:xfrm>
          <a:prstGeom prst="rect">
            <a:avLst/>
          </a:prstGeom>
        </p:spPr>
      </p:pic>
      <p:sp>
        <p:nvSpPr>
          <p:cNvPr id="77" name="Shape 65"/>
          <p:cNvSpPr/>
          <p:nvPr/>
        </p:nvSpPr>
        <p:spPr>
          <a:xfrm>
            <a:off x="763524" y="3445459"/>
            <a:ext cx="209398" cy="209398"/>
          </a:xfrm>
          <a:prstGeom prst="ellipse">
            <a:avLst/>
          </a:prstGeom>
          <a:solidFill>
            <a:srgbClr val="FEF2F2"/>
          </a:solidFill>
          <a:ln w="25400">
            <a:solidFill>
              <a:srgbClr val="F87171"/>
            </a:solidFill>
            <a:prstDash val="solid"/>
          </a:ln>
        </p:spPr>
      </p:sp>
      <p:pic>
        <p:nvPicPr>
          <p:cNvPr id="78" name="Image 10" descr="preencoded.png"/>
          <p:cNvPicPr>
            <a:picLocks noChangeAspect="1"/>
          </p:cNvPicPr>
          <p:nvPr/>
        </p:nvPicPr>
        <p:blipFill>
          <a:blip r:embed="rId9"/>
          <a:srcRect l="-3205" r="-3205"/>
          <a:stretch>
            <a:fillRect/>
          </a:stretch>
        </p:blipFill>
        <p:spPr>
          <a:xfrm>
            <a:off x="830275" y="3503066"/>
            <a:ext cx="75895" cy="95098"/>
          </a:xfrm>
          <a:prstGeom prst="rect">
            <a:avLst/>
          </a:prstGeom>
        </p:spPr>
      </p:pic>
      <p:sp>
        <p:nvSpPr>
          <p:cNvPr id="79" name="Shape 66"/>
          <p:cNvSpPr/>
          <p:nvPr/>
        </p:nvSpPr>
        <p:spPr>
          <a:xfrm>
            <a:off x="763524" y="3788359"/>
            <a:ext cx="209398" cy="20939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80" name="Text 67"/>
          <p:cNvSpPr txBox="1"/>
          <p:nvPr/>
        </p:nvSpPr>
        <p:spPr>
          <a:xfrm>
            <a:off x="831190" y="3819449"/>
            <a:ext cx="15270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...</a:t>
            </a:r>
            <a:endParaRPr lang="en-US" sz="800" dirty="0"/>
          </a:p>
        </p:txBody>
      </p:sp>
      <p:sp>
        <p:nvSpPr>
          <p:cNvPr id="81" name="Shape 68"/>
          <p:cNvSpPr/>
          <p:nvPr/>
        </p:nvSpPr>
        <p:spPr>
          <a:xfrm>
            <a:off x="6555334" y="2416759"/>
            <a:ext cx="209398" cy="209398"/>
          </a:xfrm>
          <a:prstGeom prst="ellipse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82" name="Image 11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612026" y="2474366"/>
            <a:ext cx="95098" cy="95098"/>
          </a:xfrm>
          <a:prstGeom prst="rect">
            <a:avLst/>
          </a:prstGeom>
        </p:spPr>
      </p:pic>
      <p:sp>
        <p:nvSpPr>
          <p:cNvPr id="83" name="Shape 69"/>
          <p:cNvSpPr/>
          <p:nvPr/>
        </p:nvSpPr>
        <p:spPr>
          <a:xfrm>
            <a:off x="6555334" y="2759659"/>
            <a:ext cx="209398" cy="209398"/>
          </a:xfrm>
          <a:prstGeom prst="ellipse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84" name="Image 12" descr="preencoded.png"/>
          <p:cNvPicPr>
            <a:picLocks noChangeAspect="1"/>
          </p:cNvPicPr>
          <p:nvPr/>
        </p:nvPicPr>
        <p:blipFill>
          <a:blip r:embed="rId11"/>
          <a:srcRect l="-1923" r="-1923"/>
          <a:stretch>
            <a:fillRect/>
          </a:stretch>
        </p:blipFill>
        <p:spPr>
          <a:xfrm>
            <a:off x="6597396" y="2817266"/>
            <a:ext cx="123444" cy="95098"/>
          </a:xfrm>
          <a:prstGeom prst="rect">
            <a:avLst/>
          </a:prstGeom>
        </p:spPr>
      </p:pic>
      <p:sp>
        <p:nvSpPr>
          <p:cNvPr id="85" name="Shape 70"/>
          <p:cNvSpPr/>
          <p:nvPr/>
        </p:nvSpPr>
        <p:spPr>
          <a:xfrm>
            <a:off x="6555334" y="3102559"/>
            <a:ext cx="209398" cy="209398"/>
          </a:xfrm>
          <a:prstGeom prst="ellipse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86" name="Image 13" descr="preencoded.png"/>
          <p:cNvPicPr>
            <a:picLocks noChangeAspect="1"/>
          </p:cNvPicPr>
          <p:nvPr/>
        </p:nvPicPr>
        <p:blipFill>
          <a:blip r:embed="rId12"/>
          <a:srcRect l="-1648" r="-1648"/>
          <a:stretch>
            <a:fillRect/>
          </a:stretch>
        </p:blipFill>
        <p:spPr>
          <a:xfrm>
            <a:off x="6616598" y="3160166"/>
            <a:ext cx="85954" cy="95098"/>
          </a:xfrm>
          <a:prstGeom prst="rect">
            <a:avLst/>
          </a:prstGeom>
        </p:spPr>
      </p:pic>
      <p:sp>
        <p:nvSpPr>
          <p:cNvPr id="87" name="Shape 71"/>
          <p:cNvSpPr/>
          <p:nvPr/>
        </p:nvSpPr>
        <p:spPr>
          <a:xfrm>
            <a:off x="6555334" y="3445459"/>
            <a:ext cx="209398" cy="209398"/>
          </a:xfrm>
          <a:prstGeom prst="ellipse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88" name="Image 14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>
            <a:fillRect/>
          </a:stretch>
        </p:blipFill>
        <p:spPr>
          <a:xfrm>
            <a:off x="6616598" y="3503066"/>
            <a:ext cx="85954" cy="95098"/>
          </a:xfrm>
          <a:prstGeom prst="rect">
            <a:avLst/>
          </a:prstGeom>
        </p:spPr>
      </p:pic>
      <p:sp>
        <p:nvSpPr>
          <p:cNvPr id="89" name="Shape 72"/>
          <p:cNvSpPr/>
          <p:nvPr/>
        </p:nvSpPr>
        <p:spPr>
          <a:xfrm>
            <a:off x="6555334" y="3788359"/>
            <a:ext cx="209398" cy="209398"/>
          </a:xfrm>
          <a:prstGeom prst="ellipse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90" name="Image 15" descr="preencoded.png"/>
          <p:cNvPicPr>
            <a:picLocks noChangeAspect="1"/>
          </p:cNvPicPr>
          <p:nvPr/>
        </p:nvPicPr>
        <p:blipFill>
          <a:blip r:embed="rId14"/>
          <a:srcRect l="-1648" r="-1648"/>
          <a:stretch>
            <a:fillRect/>
          </a:stretch>
        </p:blipFill>
        <p:spPr>
          <a:xfrm>
            <a:off x="6616598" y="3845966"/>
            <a:ext cx="85954" cy="95098"/>
          </a:xfrm>
          <a:prstGeom prst="rect">
            <a:avLst/>
          </a:prstGeom>
        </p:spPr>
      </p:pic>
      <p:sp>
        <p:nvSpPr>
          <p:cNvPr id="91" name="Text 73"/>
          <p:cNvSpPr txBox="1"/>
          <p:nvPr/>
        </p:nvSpPr>
        <p:spPr>
          <a:xfrm>
            <a:off x="11505895" y="6334049"/>
            <a:ext cx="400507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19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3159252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4.1 Context Management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862426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176979" y="295351"/>
            <a:ext cx="41916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Layered References &amp; The "Minimal Sufficient Context" Principle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905" y="2000707"/>
            <a:ext cx="4019702" cy="1733702"/>
          </a:xfrm>
          <a:prstGeom prst="roundRect">
            <a:avLst>
              <a:gd name="adj" fmla="val 2318"/>
            </a:avLst>
          </a:prstGeom>
          <a:solidFill>
            <a:srgbClr val="FFF1F2"/>
          </a:solidFill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9905" y="2000707"/>
            <a:ext cx="47549" cy="1733702"/>
          </a:xfrm>
          <a:prstGeom prst="rect">
            <a:avLst/>
          </a:prstGeom>
          <a:solidFill>
            <a:srgbClr val="E11D48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47649" y="2223821"/>
            <a:ext cx="190195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14654" y="2219249"/>
            <a:ext cx="177210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91B1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The Core Challenge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47649" y="2572207"/>
            <a:ext cx="3277210" cy="657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F1D1D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Context Overflow: In large projects (1000+ lines), providing all code to the AI exceeds window limits, causing "hallucinations" or "amnesia".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47649" y="3369564"/>
            <a:ext cx="133502" cy="1335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19556" y="3372307"/>
            <a:ext cx="21296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B91C1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Wrong: Dumping the entire codebase.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9905" y="3962095"/>
            <a:ext cx="4019702" cy="1733702"/>
          </a:xfrm>
          <a:prstGeom prst="roundRect">
            <a:avLst>
              <a:gd name="adj" fmla="val 2318"/>
            </a:avLst>
          </a:prstGeom>
          <a:solidFill>
            <a:srgbClr val="F0FDF4"/>
          </a:solidFill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9905" y="3962095"/>
            <a:ext cx="47549" cy="1733702"/>
          </a:xfrm>
          <a:prstGeom prst="rect">
            <a:avLst/>
          </a:prstGeom>
          <a:solidFill>
            <a:srgbClr val="16A34A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47649" y="4186123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14654" y="4181551"/>
            <a:ext cx="1534363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5F4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The Golden Rule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47649" y="4533595"/>
            <a:ext cx="3439058" cy="657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64E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Minimal Sufficient Context: Like a surgical operation, provide only the exact documentation, interfaces, and code snippets required for the current task.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47649" y="5331866"/>
            <a:ext cx="133502" cy="1335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19556" y="5333695"/>
            <a:ext cx="185348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4785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Right: Precise, layered selection.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082235" y="990295"/>
            <a:ext cx="6505956" cy="5715000"/>
          </a:xfrm>
          <a:prstGeom prst="roundRect">
            <a:avLst>
              <a:gd name="adj" fmla="val 32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320894" y="1571854"/>
            <a:ext cx="6029554" cy="9144"/>
          </a:xfrm>
          <a:prstGeom prst="rect">
            <a:avLst/>
          </a:prstGeom>
          <a:solidFill>
            <a:srgbClr val="E5E7EB"/>
          </a:solidFill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rcRect l="-1282" r="-1282"/>
          <a:stretch>
            <a:fillRect/>
          </a:stretch>
        </p:blipFill>
        <p:spPr>
          <a:xfrm>
            <a:off x="5320894" y="1261872"/>
            <a:ext cx="219456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616245" y="1257300"/>
            <a:ext cx="224851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Layered Context Strategy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5320894" y="1779422"/>
            <a:ext cx="6029554" cy="724205"/>
          </a:xfrm>
          <a:prstGeom prst="roundRect">
            <a:avLst>
              <a:gd name="adj" fmla="val 996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5320894" y="1779422"/>
            <a:ext cx="57607" cy="701345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28" name="Text 21"/>
          <p:cNvSpPr txBox="1"/>
          <p:nvPr/>
        </p:nvSpPr>
        <p:spPr>
          <a:xfrm>
            <a:off x="6302045" y="1948586"/>
            <a:ext cx="162488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Project Constitution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6302045" y="2196389"/>
            <a:ext cx="461497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Global rules, tech stack, forbidden patterns. Always Included (e.g., constitution.md).</a:t>
            </a:r>
            <a:endParaRPr lang="en-US" sz="10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992002" y="2043684"/>
            <a:ext cx="190195" cy="190195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5320894" y="2621585"/>
            <a:ext cx="6029554" cy="724205"/>
          </a:xfrm>
          <a:prstGeom prst="roundRect">
            <a:avLst>
              <a:gd name="adj" fmla="val 996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5320894" y="2621585"/>
            <a:ext cx="57607" cy="70134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3" name="Text 25"/>
          <p:cNvSpPr txBox="1"/>
          <p:nvPr/>
        </p:nvSpPr>
        <p:spPr>
          <a:xfrm>
            <a:off x="6302045" y="2790749"/>
            <a:ext cx="191932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Architecture &amp; Modules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6302045" y="3038551"/>
            <a:ext cx="447233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Module responsibilities, interfaces, data flow. On-Demand (e.g., architecture.md).</a:t>
            </a:r>
            <a:endParaRPr lang="en-US" sz="10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7"/>
          <a:srcRect l="-1282" r="-1282"/>
          <a:stretch>
            <a:fillRect/>
          </a:stretch>
        </p:blipFill>
        <p:spPr>
          <a:xfrm>
            <a:off x="10963656" y="2885846"/>
            <a:ext cx="219456" cy="190195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5320894" y="3462833"/>
            <a:ext cx="6029554" cy="724205"/>
          </a:xfrm>
          <a:prstGeom prst="roundRect">
            <a:avLst>
              <a:gd name="adj" fmla="val 996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5320894" y="3462833"/>
            <a:ext cx="57607" cy="701345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8" name="Text 29"/>
          <p:cNvSpPr txBox="1"/>
          <p:nvPr/>
        </p:nvSpPr>
        <p:spPr>
          <a:xfrm>
            <a:off x="6302045" y="3632911"/>
            <a:ext cx="85313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File Level</a:t>
            </a:r>
            <a:endParaRPr lang="en-US" sz="1300" dirty="0"/>
          </a:p>
        </p:txBody>
      </p:sp>
      <p:sp>
        <p:nvSpPr>
          <p:cNvPr id="39" name="Text 30"/>
          <p:cNvSpPr txBox="1"/>
          <p:nvPr/>
        </p:nvSpPr>
        <p:spPr>
          <a:xfrm>
            <a:off x="6302045" y="3879799"/>
            <a:ext cx="450067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Specific source files relevant to the active task. Targeted (e.g., src/data_loader.py).</a:t>
            </a:r>
            <a:endParaRPr lang="en-US" sz="100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1039551" y="3728009"/>
            <a:ext cx="142646" cy="190195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5320894" y="4304995"/>
            <a:ext cx="6029554" cy="724205"/>
          </a:xfrm>
          <a:prstGeom prst="roundRect">
            <a:avLst>
              <a:gd name="adj" fmla="val 996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5320894" y="4304995"/>
            <a:ext cx="57607" cy="701345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3" name="Text 33"/>
          <p:cNvSpPr txBox="1"/>
          <p:nvPr/>
        </p:nvSpPr>
        <p:spPr>
          <a:xfrm>
            <a:off x="6302045" y="4474159"/>
            <a:ext cx="1776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Function/Class Details</a:t>
            </a:r>
            <a:endParaRPr lang="en-US" sz="1300" dirty="0"/>
          </a:p>
        </p:txBody>
      </p:sp>
      <p:sp>
        <p:nvSpPr>
          <p:cNvPr id="44" name="Text 34"/>
          <p:cNvSpPr txBox="1"/>
          <p:nvPr/>
        </p:nvSpPr>
        <p:spPr>
          <a:xfrm>
            <a:off x="6302045" y="4721962"/>
            <a:ext cx="460583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Granular snippets, specific functions to modify. Pinpoint (e.g., class DataProcessor).</a:t>
            </a:r>
            <a:endParaRPr lang="en-US" sz="1000" dirty="0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0992002" y="4570171"/>
            <a:ext cx="190195" cy="190195"/>
          </a:xfrm>
          <a:prstGeom prst="rect">
            <a:avLst/>
          </a:prstGeom>
        </p:spPr>
      </p:pic>
      <p:sp>
        <p:nvSpPr>
          <p:cNvPr id="46" name="Shape 35"/>
          <p:cNvSpPr/>
          <p:nvPr/>
        </p:nvSpPr>
        <p:spPr>
          <a:xfrm>
            <a:off x="5320894" y="5184648"/>
            <a:ext cx="6029554" cy="552298"/>
          </a:xfrm>
          <a:prstGeom prst="roundRect">
            <a:avLst>
              <a:gd name="adj" fmla="val 1141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7" name="Text 36"/>
          <p:cNvSpPr txBox="1"/>
          <p:nvPr/>
        </p:nvSpPr>
        <p:spPr>
          <a:xfrm>
            <a:off x="5540350" y="5289804"/>
            <a:ext cx="5691226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 Tip: In tools like Cursor, combine references (e.g., @Constitution + @File) to build the perfect context.</a:t>
            </a:r>
            <a:endParaRPr lang="en-US" sz="1000" dirty="0"/>
          </a:p>
        </p:txBody>
      </p:sp>
      <p:sp>
        <p:nvSpPr>
          <p:cNvPr id="48" name="Text 37"/>
          <p:cNvSpPr txBox="1"/>
          <p:nvPr/>
        </p:nvSpPr>
        <p:spPr>
          <a:xfrm>
            <a:off x="11544300" y="6381598"/>
            <a:ext cx="333756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20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3511296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Cursor @ Reference System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213555" y="190195"/>
            <a:ext cx="9144" cy="381305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528109" y="295351"/>
            <a:ext cx="35341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Practical Examples for Precise AI Context Management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rcRect t="-842" b="-842"/>
          <a:stretch>
            <a:fillRect/>
          </a:stretch>
        </p:blipFill>
        <p:spPr>
          <a:xfrm>
            <a:off x="533095" y="2152498"/>
            <a:ext cx="190195" cy="17190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0100" y="2112264"/>
            <a:ext cx="1707185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Reference Commands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33095" y="2562149"/>
            <a:ext cx="4153205" cy="390449"/>
          </a:xfrm>
          <a:prstGeom prst="roundRect">
            <a:avLst>
              <a:gd name="adj" fmla="val 34272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3095" y="2562149"/>
            <a:ext cx="38405" cy="390449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2" name="Shape 9"/>
          <p:cNvSpPr/>
          <p:nvPr/>
        </p:nvSpPr>
        <p:spPr>
          <a:xfrm>
            <a:off x="693115" y="2638044"/>
            <a:ext cx="571500" cy="237744"/>
          </a:xfrm>
          <a:prstGeom prst="roundRect">
            <a:avLst>
              <a:gd name="adj" fmla="val 61538"/>
            </a:avLst>
          </a:prstGeom>
          <a:solidFill>
            <a:srgbClr val="EFF6FF"/>
          </a:solidFill>
        </p:spPr>
      </p:sp>
      <p:sp>
        <p:nvSpPr>
          <p:cNvPr id="13" name="Text 10"/>
          <p:cNvSpPr txBox="1"/>
          <p:nvPr/>
        </p:nvSpPr>
        <p:spPr>
          <a:xfrm>
            <a:off x="772668" y="2672791"/>
            <a:ext cx="52212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@file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387145" y="2686507"/>
            <a:ext cx="271119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Reference complete file contente.g., @data_loader.py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33095" y="3042209"/>
            <a:ext cx="4153205" cy="390449"/>
          </a:xfrm>
          <a:prstGeom prst="roundRect">
            <a:avLst>
              <a:gd name="adj" fmla="val 34272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3095" y="3042209"/>
            <a:ext cx="38405" cy="390449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7" name="Shape 14"/>
          <p:cNvSpPr/>
          <p:nvPr/>
        </p:nvSpPr>
        <p:spPr>
          <a:xfrm>
            <a:off x="693115" y="3118104"/>
            <a:ext cx="705002" cy="237744"/>
          </a:xfrm>
          <a:prstGeom prst="roundRect">
            <a:avLst>
              <a:gd name="adj" fmla="val 61538"/>
            </a:avLst>
          </a:prstGeom>
          <a:solidFill>
            <a:srgbClr val="EFF6FF"/>
          </a:solidFill>
        </p:spPr>
      </p:sp>
      <p:sp>
        <p:nvSpPr>
          <p:cNvPr id="18" name="Text 15"/>
          <p:cNvSpPr txBox="1"/>
          <p:nvPr/>
        </p:nvSpPr>
        <p:spPr>
          <a:xfrm>
            <a:off x="754380" y="3152851"/>
            <a:ext cx="68397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@folder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515161" y="3166567"/>
            <a:ext cx="291145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Reference folder structure (no content)e.g., @src/analysis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33095" y="3522269"/>
            <a:ext cx="4153205" cy="390449"/>
          </a:xfrm>
          <a:prstGeom prst="roundRect">
            <a:avLst>
              <a:gd name="adj" fmla="val 34272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3095" y="3522269"/>
            <a:ext cx="38405" cy="390449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2" name="Shape 19"/>
          <p:cNvSpPr/>
          <p:nvPr/>
        </p:nvSpPr>
        <p:spPr>
          <a:xfrm>
            <a:off x="693115" y="3598164"/>
            <a:ext cx="571500" cy="237744"/>
          </a:xfrm>
          <a:prstGeom prst="roundRect">
            <a:avLst>
              <a:gd name="adj" fmla="val 61538"/>
            </a:avLst>
          </a:prstGeom>
          <a:solidFill>
            <a:srgbClr val="EFF6FF"/>
          </a:solidFill>
        </p:spPr>
      </p:sp>
      <p:sp>
        <p:nvSpPr>
          <p:cNvPr id="23" name="Text 20"/>
          <p:cNvSpPr txBox="1"/>
          <p:nvPr/>
        </p:nvSpPr>
        <p:spPr>
          <a:xfrm>
            <a:off x="772668" y="3631997"/>
            <a:ext cx="52212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@code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387145" y="3646627"/>
            <a:ext cx="318759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Reference specific function/class (Precise)e.g., @calculate_kde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33095" y="4002329"/>
            <a:ext cx="4153205" cy="476402"/>
          </a:xfrm>
          <a:prstGeom prst="roundRect">
            <a:avLst>
              <a:gd name="adj" fmla="val 23033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33095" y="4002329"/>
            <a:ext cx="38405" cy="476402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7" name="Shape 24"/>
          <p:cNvSpPr/>
          <p:nvPr/>
        </p:nvSpPr>
        <p:spPr>
          <a:xfrm>
            <a:off x="693115" y="4118458"/>
            <a:ext cx="571500" cy="237744"/>
          </a:xfrm>
          <a:prstGeom prst="roundRect">
            <a:avLst>
              <a:gd name="adj" fmla="val 61538"/>
            </a:avLst>
          </a:prstGeom>
          <a:solidFill>
            <a:srgbClr val="EFF6FF"/>
          </a:solidFill>
        </p:spPr>
      </p:sp>
      <p:sp>
        <p:nvSpPr>
          <p:cNvPr id="28" name="Text 25"/>
          <p:cNvSpPr txBox="1"/>
          <p:nvPr/>
        </p:nvSpPr>
        <p:spPr>
          <a:xfrm>
            <a:off x="772668" y="4153205"/>
            <a:ext cx="52212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@docs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387145" y="4087368"/>
            <a:ext cx="3063240" cy="2953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Reference indexed documentatione.g., @Pandas (No context switch)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33095" y="4562856"/>
            <a:ext cx="4153205" cy="390449"/>
          </a:xfrm>
          <a:prstGeom prst="roundRect">
            <a:avLst>
              <a:gd name="adj" fmla="val 34272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33095" y="4562856"/>
            <a:ext cx="38405" cy="390449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2" name="Shape 29"/>
          <p:cNvSpPr/>
          <p:nvPr/>
        </p:nvSpPr>
        <p:spPr>
          <a:xfrm>
            <a:off x="693115" y="4638751"/>
            <a:ext cx="571500" cy="237744"/>
          </a:xfrm>
          <a:prstGeom prst="roundRect">
            <a:avLst>
              <a:gd name="adj" fmla="val 61538"/>
            </a:avLst>
          </a:prstGeom>
          <a:solidFill>
            <a:srgbClr val="EFF6FF"/>
          </a:solidFill>
        </p:spPr>
      </p:sp>
      <p:sp>
        <p:nvSpPr>
          <p:cNvPr id="33" name="Text 30"/>
          <p:cNvSpPr txBox="1"/>
          <p:nvPr/>
        </p:nvSpPr>
        <p:spPr>
          <a:xfrm>
            <a:off x="813816" y="4673498"/>
            <a:ext cx="43708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387145" y="4687214"/>
            <a:ext cx="300654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Browse specific URL for infoe.g., @https://stackoverflow...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33095" y="5042916"/>
            <a:ext cx="4153205" cy="390449"/>
          </a:xfrm>
          <a:prstGeom prst="roundRect">
            <a:avLst>
              <a:gd name="adj" fmla="val 34272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33095" y="5042916"/>
            <a:ext cx="38405" cy="390449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7" name="Shape 34"/>
          <p:cNvSpPr/>
          <p:nvPr/>
        </p:nvSpPr>
        <p:spPr>
          <a:xfrm>
            <a:off x="693115" y="5118811"/>
            <a:ext cx="571500" cy="237744"/>
          </a:xfrm>
          <a:prstGeom prst="roundRect">
            <a:avLst>
              <a:gd name="adj" fmla="val 61538"/>
            </a:avLst>
          </a:prstGeom>
          <a:solidFill>
            <a:srgbClr val="EFF6FF"/>
          </a:solidFill>
        </p:spPr>
      </p:sp>
      <p:sp>
        <p:nvSpPr>
          <p:cNvPr id="38" name="Text 35"/>
          <p:cNvSpPr txBox="1"/>
          <p:nvPr/>
        </p:nvSpPr>
        <p:spPr>
          <a:xfrm>
            <a:off x="813816" y="5153558"/>
            <a:ext cx="43708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@git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387145" y="5167274"/>
            <a:ext cx="285384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Reference commits or diffse.g., @diff (Review changes)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058461" y="990295"/>
            <a:ext cx="6601054" cy="5639105"/>
          </a:xfrm>
          <a:prstGeom prst="roundRect">
            <a:avLst>
              <a:gd name="adj" fmla="val 3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250485" y="1441094"/>
            <a:ext cx="171907" cy="171907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5498287" y="1400861"/>
            <a:ext cx="2830982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High-Efficiency Prompt Construction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250485" y="1728216"/>
            <a:ext cx="6219749" cy="1904695"/>
          </a:xfrm>
          <a:prstGeom prst="roundRect">
            <a:avLst>
              <a:gd name="adj" fmla="val 1920"/>
            </a:avLst>
          </a:prstGeom>
          <a:solidFill>
            <a:srgbClr val="1E293B"/>
          </a:solidFill>
          <a:ln w="12700">
            <a:solidFill>
              <a:srgbClr val="CBD5E1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5259629" y="1738274"/>
            <a:ext cx="6200546" cy="323698"/>
          </a:xfrm>
          <a:prstGeom prst="rect">
            <a:avLst/>
          </a:prstGeom>
          <a:solidFill>
            <a:srgbClr val="334155"/>
          </a:solidFill>
        </p:spPr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3"/>
          <a:srcRect t="-2644" b="-2644"/>
          <a:stretch>
            <a:fillRect/>
          </a:stretch>
        </p:blipFill>
        <p:spPr>
          <a:xfrm>
            <a:off x="5382158" y="1815084"/>
            <a:ext cx="142646" cy="133502"/>
          </a:xfrm>
          <a:prstGeom prst="rect">
            <a:avLst/>
          </a:prstGeom>
        </p:spPr>
      </p:pic>
      <p:sp>
        <p:nvSpPr>
          <p:cNvPr id="46" name="Text 41"/>
          <p:cNvSpPr txBox="1"/>
          <p:nvPr/>
        </p:nvSpPr>
        <p:spPr>
          <a:xfrm>
            <a:off x="5600700" y="1817827"/>
            <a:ext cx="20308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Context Building (The "Memory")</a:t>
            </a:r>
            <a:endParaRPr lang="en-US" sz="1000" dirty="0"/>
          </a:p>
        </p:txBody>
      </p:sp>
      <p:sp>
        <p:nvSpPr>
          <p:cNvPr id="47" name="Text 42"/>
          <p:cNvSpPr txBox="1"/>
          <p:nvPr/>
        </p:nvSpPr>
        <p:spPr>
          <a:xfrm>
            <a:off x="5382158" y="2179930"/>
            <a:ext cx="22786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8B4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@.ai-context/constitution.md</a:t>
            </a:r>
            <a:endParaRPr lang="en-US" sz="1000" dirty="0"/>
          </a:p>
        </p:txBody>
      </p:sp>
      <p:sp>
        <p:nvSpPr>
          <p:cNvPr id="48" name="Text 43"/>
          <p:cNvSpPr txBox="1"/>
          <p:nvPr/>
        </p:nvSpPr>
        <p:spPr>
          <a:xfrm>
            <a:off x="5382158" y="2435047"/>
            <a:ext cx="13450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Level 0: Project Rules</a:t>
            </a:r>
            <a:endParaRPr lang="en-US" sz="1000" dirty="0"/>
          </a:p>
        </p:txBody>
      </p:sp>
      <p:sp>
        <p:nvSpPr>
          <p:cNvPr id="49" name="Text 44"/>
          <p:cNvSpPr txBox="1"/>
          <p:nvPr/>
        </p:nvSpPr>
        <p:spPr>
          <a:xfrm>
            <a:off x="5382158" y="2629814"/>
            <a:ext cx="212598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8B4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@specs/kde/requirements.md</a:t>
            </a:r>
            <a:endParaRPr lang="en-US" sz="1000" dirty="0"/>
          </a:p>
        </p:txBody>
      </p:sp>
      <p:sp>
        <p:nvSpPr>
          <p:cNvPr id="50" name="Text 45"/>
          <p:cNvSpPr txBox="1"/>
          <p:nvPr/>
        </p:nvSpPr>
        <p:spPr>
          <a:xfrm>
            <a:off x="5382158" y="2884932"/>
            <a:ext cx="13834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Level 1: Feature Specs</a:t>
            </a:r>
            <a:endParaRPr lang="en-US" sz="1000" dirty="0"/>
          </a:p>
        </p:txBody>
      </p:sp>
      <p:sp>
        <p:nvSpPr>
          <p:cNvPr id="51" name="Text 46"/>
          <p:cNvSpPr txBox="1"/>
          <p:nvPr/>
        </p:nvSpPr>
        <p:spPr>
          <a:xfrm>
            <a:off x="5382158" y="3078785"/>
            <a:ext cx="18882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@code:calculate_density</a:t>
            </a:r>
            <a:endParaRPr lang="en-US" sz="1000" dirty="0"/>
          </a:p>
        </p:txBody>
      </p:sp>
      <p:sp>
        <p:nvSpPr>
          <p:cNvPr id="52" name="Text 47"/>
          <p:cNvSpPr txBox="1"/>
          <p:nvPr/>
        </p:nvSpPr>
        <p:spPr>
          <a:xfrm>
            <a:off x="5382158" y="3333902"/>
            <a:ext cx="14785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Level 3: Target Function</a:t>
            </a:r>
            <a:endParaRPr lang="en-US" sz="1000" dirty="0"/>
          </a:p>
        </p:txBody>
      </p:sp>
      <p:sp>
        <p:nvSpPr>
          <p:cNvPr id="53" name="Shape 48"/>
          <p:cNvSpPr/>
          <p:nvPr/>
        </p:nvSpPr>
        <p:spPr>
          <a:xfrm>
            <a:off x="5250485" y="3747211"/>
            <a:ext cx="6219749" cy="1133856"/>
          </a:xfrm>
          <a:prstGeom prst="roundRect">
            <a:avLst>
              <a:gd name="adj" fmla="val 5422"/>
            </a:avLst>
          </a:prstGeom>
          <a:solidFill>
            <a:srgbClr val="1E293B"/>
          </a:solidFill>
          <a:ln w="12700">
            <a:solidFill>
              <a:srgbClr val="86EFAC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49"/>
          <p:cNvSpPr/>
          <p:nvPr/>
        </p:nvSpPr>
        <p:spPr>
          <a:xfrm>
            <a:off x="5259629" y="3757270"/>
            <a:ext cx="6200546" cy="323698"/>
          </a:xfrm>
          <a:prstGeom prst="rect">
            <a:avLst/>
          </a:prstGeom>
          <a:solidFill>
            <a:srgbClr val="064E3B"/>
          </a:solidFill>
        </p:spPr>
      </p:sp>
      <p:pic>
        <p:nvPicPr>
          <p:cNvPr id="55" name="Image 3" descr="preencoded.png"/>
          <p:cNvPicPr>
            <a:picLocks noChangeAspect="1"/>
          </p:cNvPicPr>
          <p:nvPr/>
        </p:nvPicPr>
        <p:blipFill>
          <a:blip r:embed="rId4"/>
          <a:srcRect t="-2644" b="-2644"/>
          <a:stretch>
            <a:fillRect/>
          </a:stretch>
        </p:blipFill>
        <p:spPr>
          <a:xfrm>
            <a:off x="5382158" y="3834079"/>
            <a:ext cx="95098" cy="133502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5553151" y="3836822"/>
            <a:ext cx="19833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Execution Prompt (The "Action")</a:t>
            </a:r>
            <a:endParaRPr lang="en-US" sz="1000" dirty="0"/>
          </a:p>
        </p:txBody>
      </p:sp>
      <p:sp>
        <p:nvSpPr>
          <p:cNvPr id="57" name="Text 51"/>
          <p:cNvSpPr txBox="1"/>
          <p:nvPr/>
        </p:nvSpPr>
        <p:spPr>
          <a:xfrm>
            <a:off x="5382158" y="4198925"/>
            <a:ext cx="274594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Based on the above specs, optimize</a:t>
            </a:r>
            <a:endParaRPr lang="en-US" sz="1000" dirty="0"/>
          </a:p>
        </p:txBody>
      </p:sp>
      <p:sp>
        <p:nvSpPr>
          <p:cNvPr id="58" name="Text 52"/>
          <p:cNvSpPr txBox="1"/>
          <p:nvPr/>
        </p:nvSpPr>
        <p:spPr>
          <a:xfrm>
            <a:off x="8023860" y="4198925"/>
            <a:ext cx="142189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calculate_density</a:t>
            </a:r>
            <a:endParaRPr lang="en-US" sz="1000" dirty="0"/>
          </a:p>
        </p:txBody>
      </p:sp>
      <p:sp>
        <p:nvSpPr>
          <p:cNvPr id="59" name="Text 53"/>
          <p:cNvSpPr txBox="1"/>
          <p:nvPr/>
        </p:nvSpPr>
        <p:spPr>
          <a:xfrm>
            <a:off x="5382158" y="4198925"/>
            <a:ext cx="5545836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1. Objectives: - Optimize for 100k points to</a:t>
            </a:r>
            <a:endParaRPr lang="en-US" sz="1000" dirty="0"/>
          </a:p>
        </p:txBody>
      </p:sp>
      <p:sp>
        <p:nvSpPr>
          <p:cNvPr id="60" name="Text 54"/>
          <p:cNvSpPr txBox="1"/>
          <p:nvPr/>
        </p:nvSpPr>
        <p:spPr>
          <a:xfrm>
            <a:off x="7479792" y="4393692"/>
            <a:ext cx="41148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5s</a:t>
            </a:r>
            <a:endParaRPr lang="en-US" sz="1000" dirty="0"/>
          </a:p>
        </p:txBody>
      </p:sp>
      <p:sp>
        <p:nvSpPr>
          <p:cNvPr id="61" name="Text 55"/>
          <p:cNvSpPr txBox="1"/>
          <p:nvPr/>
        </p:nvSpPr>
        <p:spPr>
          <a:xfrm>
            <a:off x="7790688" y="4393692"/>
            <a:ext cx="16596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Replace loops with</a:t>
            </a:r>
            <a:endParaRPr lang="en-US" sz="1000" dirty="0"/>
          </a:p>
        </p:txBody>
      </p:sp>
      <p:sp>
        <p:nvSpPr>
          <p:cNvPr id="62" name="Text 56"/>
          <p:cNvSpPr txBox="1"/>
          <p:nvPr/>
        </p:nvSpPr>
        <p:spPr>
          <a:xfrm>
            <a:off x="9345168" y="4393692"/>
            <a:ext cx="173553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scipy.spatial.cKDTree</a:t>
            </a:r>
            <a:endParaRPr lang="en-US" sz="1000" dirty="0"/>
          </a:p>
        </p:txBody>
      </p:sp>
      <p:sp>
        <p:nvSpPr>
          <p:cNvPr id="63" name="Text 57"/>
          <p:cNvSpPr txBox="1"/>
          <p:nvPr/>
        </p:nvSpPr>
        <p:spPr>
          <a:xfrm>
            <a:off x="5382158" y="4393692"/>
            <a:ext cx="5927141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Constraints: - Maintain</a:t>
            </a:r>
            <a:endParaRPr lang="en-US" sz="1000" dirty="0"/>
          </a:p>
        </p:txBody>
      </p:sp>
      <p:sp>
        <p:nvSpPr>
          <p:cNvPr id="64" name="Text 58"/>
          <p:cNvSpPr txBox="1"/>
          <p:nvPr/>
        </p:nvSpPr>
        <p:spPr>
          <a:xfrm>
            <a:off x="7168896" y="4587545"/>
            <a:ext cx="12691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Type Hints</a:t>
            </a:r>
            <a:endParaRPr lang="en-US" sz="1000" dirty="0"/>
          </a:p>
        </p:txBody>
      </p:sp>
      <p:sp>
        <p:nvSpPr>
          <p:cNvPr id="65" name="Text 59"/>
          <p:cNvSpPr txBox="1"/>
          <p:nvPr/>
        </p:nvSpPr>
        <p:spPr>
          <a:xfrm>
            <a:off x="8334756" y="4587545"/>
            <a:ext cx="7260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Follow</a:t>
            </a:r>
            <a:endParaRPr lang="en-US" sz="1000" dirty="0"/>
          </a:p>
        </p:txBody>
      </p:sp>
      <p:sp>
        <p:nvSpPr>
          <p:cNvPr id="66" name="Text 60"/>
          <p:cNvSpPr txBox="1"/>
          <p:nvPr/>
        </p:nvSpPr>
        <p:spPr>
          <a:xfrm>
            <a:off x="8956548" y="4587545"/>
            <a:ext cx="181234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Style Docstring</a:t>
            </a:r>
            <a:endParaRPr lang="en-US" sz="1000" dirty="0"/>
          </a:p>
        </p:txBody>
      </p:sp>
      <p:sp>
        <p:nvSpPr>
          <p:cNvPr id="67" name="Shape 61"/>
          <p:cNvSpPr/>
          <p:nvPr/>
        </p:nvSpPr>
        <p:spPr>
          <a:xfrm>
            <a:off x="5250485" y="5076749"/>
            <a:ext cx="6219749" cy="1143000"/>
          </a:xfrm>
          <a:prstGeom prst="roundRect">
            <a:avLst>
              <a:gd name="adj" fmla="val 5333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8" name="Image 4" descr="preencoded.png"/>
          <p:cNvPicPr>
            <a:picLocks noChangeAspect="1"/>
          </p:cNvPicPr>
          <p:nvPr/>
        </p:nvPicPr>
        <p:blipFill>
          <a:blip r:embed="rId5"/>
          <a:srcRect l="-837" r="-837"/>
          <a:stretch>
            <a:fillRect/>
          </a:stretch>
        </p:blipFill>
        <p:spPr>
          <a:xfrm>
            <a:off x="5382158" y="5244998"/>
            <a:ext cx="152705" cy="133502"/>
          </a:xfrm>
          <a:prstGeom prst="rect">
            <a:avLst/>
          </a:prstGeom>
        </p:spPr>
      </p:pic>
      <p:sp>
        <p:nvSpPr>
          <p:cNvPr id="69" name="Text 62"/>
          <p:cNvSpPr txBox="1"/>
          <p:nvPr/>
        </p:nvSpPr>
        <p:spPr>
          <a:xfrm>
            <a:off x="5610758" y="5208422"/>
            <a:ext cx="92263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Best Practices</a:t>
            </a:r>
            <a:endParaRPr lang="en-US" sz="1000" dirty="0"/>
          </a:p>
        </p:txBody>
      </p:sp>
      <p:sp>
        <p:nvSpPr>
          <p:cNvPr id="70" name="Text 63"/>
          <p:cNvSpPr txBox="1"/>
          <p:nvPr/>
        </p:nvSpPr>
        <p:spPr>
          <a:xfrm>
            <a:off x="5565038" y="5484571"/>
            <a:ext cx="357804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350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Avoid @Folder Abuse: Large folders consume context window rapidly.</a:t>
            </a:r>
            <a:endParaRPr lang="en-US" sz="900" dirty="0"/>
          </a:p>
        </p:txBody>
      </p:sp>
      <p:sp>
        <p:nvSpPr>
          <p:cNvPr id="71" name="Text 64"/>
          <p:cNvSpPr txBox="1"/>
          <p:nvPr/>
        </p:nvSpPr>
        <p:spPr>
          <a:xfrm>
            <a:off x="5565038" y="5688482"/>
            <a:ext cx="329184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350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The "Combo": Always include @constitution.md for consistency.</a:t>
            </a:r>
            <a:endParaRPr lang="en-US" sz="900" dirty="0"/>
          </a:p>
        </p:txBody>
      </p:sp>
      <p:sp>
        <p:nvSpPr>
          <p:cNvPr id="72" name="Text 65"/>
          <p:cNvSpPr txBox="1"/>
          <p:nvPr/>
        </p:nvSpPr>
        <p:spPr>
          <a:xfrm>
            <a:off x="5565038" y="5893308"/>
            <a:ext cx="373989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350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Precision First: Use @code over @file when modifying specific functions.</a:t>
            </a:r>
            <a:endParaRPr lang="en-US" sz="900" dirty="0"/>
          </a:p>
        </p:txBody>
      </p:sp>
      <p:sp>
        <p:nvSpPr>
          <p:cNvPr id="73" name="Text 66"/>
          <p:cNvSpPr txBox="1"/>
          <p:nvPr/>
        </p:nvSpPr>
        <p:spPr>
          <a:xfrm>
            <a:off x="11505895" y="6334049"/>
            <a:ext cx="400507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21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3968496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4.2 Structured Debug Workflow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668012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982566" y="295351"/>
            <a:ext cx="30961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Stop "Blind Fixes", Become a Diagnostic Expert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905" y="1510589"/>
            <a:ext cx="10972800" cy="418795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9" name="Shape 7"/>
          <p:cNvSpPr/>
          <p:nvPr/>
        </p:nvSpPr>
        <p:spPr>
          <a:xfrm>
            <a:off x="609905" y="1510589"/>
            <a:ext cx="38405" cy="418795"/>
          </a:xfrm>
          <a:prstGeom prst="rect">
            <a:avLst/>
          </a:prstGeom>
          <a:solidFill>
            <a:srgbClr val="F87171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1695" y="1641348"/>
            <a:ext cx="133502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72007" y="1644091"/>
            <a:ext cx="462503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1B1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Traditional Debug: Throw error to AI → Random guesses → Fix breaks more things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rcRect l="-505" r="-505"/>
          <a:stretch>
            <a:fillRect/>
          </a:stretch>
        </p:blipFill>
        <p:spPr>
          <a:xfrm>
            <a:off x="3191256" y="2838298"/>
            <a:ext cx="114300" cy="181051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2"/>
          <a:srcRect l="-505" r="-505"/>
          <a:stretch>
            <a:fillRect/>
          </a:stretch>
        </p:blipFill>
        <p:spPr>
          <a:xfrm>
            <a:off x="6038698" y="2838298"/>
            <a:ext cx="114300" cy="181051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2"/>
          <a:srcRect l="-505" r="-505"/>
          <a:stretch>
            <a:fillRect/>
          </a:stretch>
        </p:blipFill>
        <p:spPr>
          <a:xfrm>
            <a:off x="8887054" y="2838298"/>
            <a:ext cx="114300" cy="181051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09905" y="4070909"/>
            <a:ext cx="7086600" cy="2038198"/>
          </a:xfrm>
          <a:prstGeom prst="roundRect">
            <a:avLst>
              <a:gd name="adj" fmla="val 1677"/>
            </a:avLst>
          </a:prstGeom>
          <a:solidFill>
            <a:srgbClr val="F5F3FF"/>
          </a:solidFill>
        </p:spPr>
      </p:sp>
      <p:sp>
        <p:nvSpPr>
          <p:cNvPr id="16" name="Shape 10"/>
          <p:cNvSpPr/>
          <p:nvPr/>
        </p:nvSpPr>
        <p:spPr>
          <a:xfrm>
            <a:off x="609905" y="4070909"/>
            <a:ext cx="38405" cy="2038198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7" name="Shape 11"/>
          <p:cNvSpPr/>
          <p:nvPr/>
        </p:nvSpPr>
        <p:spPr>
          <a:xfrm>
            <a:off x="875995" y="422361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7C3AED"/>
          </a:solidFill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rcRect t="-80" b="-80"/>
          <a:stretch>
            <a:fillRect/>
          </a:stretch>
        </p:blipFill>
        <p:spPr>
          <a:xfrm>
            <a:off x="918972" y="4280306"/>
            <a:ext cx="142646" cy="1143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81405" y="4251960"/>
            <a:ext cx="17437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21B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Expert Prompt Template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875995" y="4528109"/>
            <a:ext cx="6590995" cy="1429207"/>
          </a:xfrm>
          <a:prstGeom prst="roundRect">
            <a:avLst>
              <a:gd name="adj" fmla="val 1706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1" name="Text 14"/>
          <p:cNvSpPr txBox="1"/>
          <p:nvPr/>
        </p:nvSpPr>
        <p:spPr>
          <a:xfrm>
            <a:off x="1000354" y="4661611"/>
            <a:ext cx="33814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@debug_report.md # Reference your symptom report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1000354" y="4851806"/>
            <a:ext cx="53062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"Don't just ask AI what to do, ask it to analyze causes + design solutions."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1244498" y="5080406"/>
            <a:ext cx="50959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Analyze: List 3 most likely causes for this error, ranked by probability.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1244498" y="5270602"/>
            <a:ext cx="49633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Diagnose: Provide verification steps for each cause (e.g., print vars).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1244498" y="5461711"/>
            <a:ext cx="48198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Fix: After confirmation, design a minimal-change fix and explain why.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1000354" y="5690311"/>
            <a:ext cx="41340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NOTE: Do not rewrite whole files directly. Analyze first.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7925105" y="4070909"/>
            <a:ext cx="9144" cy="2038198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28" name="Text 21"/>
          <p:cNvSpPr txBox="1"/>
          <p:nvPr/>
        </p:nvSpPr>
        <p:spPr>
          <a:xfrm>
            <a:off x="8086954" y="4642409"/>
            <a:ext cx="118597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Expected Outcome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8086954" y="4861865"/>
            <a:ext cx="25914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Get logic-based analysis instead of blind code patches.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8086954" y="5118811"/>
            <a:ext cx="3495751" cy="437998"/>
          </a:xfrm>
          <a:prstGeom prst="roundRect">
            <a:avLst>
              <a:gd name="adj" fmla="val 1815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10398" y="5242255"/>
            <a:ext cx="142646" cy="19019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67344" y="5261458"/>
            <a:ext cx="14529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Stop "Vibe Debugging"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11551615" y="6383426"/>
            <a:ext cx="32827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22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609905" y="2120494"/>
            <a:ext cx="2428646" cy="1647749"/>
          </a:xfrm>
          <a:prstGeom prst="roundRect">
            <a:avLst>
              <a:gd name="adj" fmla="val 3849"/>
            </a:avLst>
          </a:prstGeom>
          <a:solidFill>
            <a:srgbClr val="FFFFFF"/>
          </a:solidFill>
          <a:ln w="50800">
            <a:solidFill>
              <a:srgbClr val="EF4444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65353" y="3400654"/>
            <a:ext cx="590702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</p:spPr>
      </p:sp>
      <p:sp>
        <p:nvSpPr>
          <p:cNvPr id="36" name="Text 28"/>
          <p:cNvSpPr txBox="1"/>
          <p:nvPr/>
        </p:nvSpPr>
        <p:spPr>
          <a:xfrm>
            <a:off x="765353" y="2324405"/>
            <a:ext cx="11530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Locate Problem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765353" y="2572207"/>
            <a:ext cx="7909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SYMPTOMS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765353" y="2800807"/>
            <a:ext cx="10195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Write Debug Report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765353" y="2991002"/>
            <a:ext cx="10003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Record Repro Steps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765353" y="3181198"/>
            <a:ext cx="92445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Env &amp; Exclusions</a:t>
            </a:r>
            <a:endParaRPr lang="en-US" sz="900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42162" y="3443630"/>
            <a:ext cx="114300" cy="1143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993953" y="3438144"/>
            <a:ext cx="3721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 min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771754" y="2044598"/>
            <a:ext cx="228600" cy="228600"/>
          </a:xfrm>
          <a:prstGeom prst="ellipse">
            <a:avLst/>
          </a:prstGeom>
          <a:solidFill>
            <a:srgbClr val="EF4444"/>
          </a:solidFill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Text 35"/>
          <p:cNvSpPr txBox="1"/>
          <p:nvPr/>
        </p:nvSpPr>
        <p:spPr>
          <a:xfrm>
            <a:off x="851306" y="2055571"/>
            <a:ext cx="17922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3457346" y="2120494"/>
            <a:ext cx="2428646" cy="1647749"/>
          </a:xfrm>
          <a:prstGeom prst="roundRect">
            <a:avLst>
              <a:gd name="adj" fmla="val 3849"/>
            </a:avLst>
          </a:prstGeom>
          <a:solidFill>
            <a:srgbClr val="FFFFFF"/>
          </a:solidFill>
          <a:ln w="50800">
            <a:solidFill>
              <a:srgbClr val="F59E0B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3613709" y="3400654"/>
            <a:ext cx="590702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</p:spPr>
      </p:sp>
      <p:sp>
        <p:nvSpPr>
          <p:cNvPr id="47" name="Text 38"/>
          <p:cNvSpPr txBox="1"/>
          <p:nvPr/>
        </p:nvSpPr>
        <p:spPr>
          <a:xfrm>
            <a:off x="3613709" y="2324405"/>
            <a:ext cx="8668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48" name="Text 39"/>
          <p:cNvSpPr txBox="1"/>
          <p:nvPr/>
        </p:nvSpPr>
        <p:spPr>
          <a:xfrm>
            <a:off x="3613709" y="2572207"/>
            <a:ext cx="7050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ANALYSIS</a:t>
            </a:r>
            <a:endParaRPr lang="en-US" sz="900" dirty="0"/>
          </a:p>
        </p:txBody>
      </p:sp>
      <p:sp>
        <p:nvSpPr>
          <p:cNvPr id="49" name="Text 40"/>
          <p:cNvSpPr txBox="1"/>
          <p:nvPr/>
        </p:nvSpPr>
        <p:spPr>
          <a:xfrm>
            <a:off x="3613709" y="2800807"/>
            <a:ext cx="10287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List 3 Likely Causes</a:t>
            </a:r>
            <a:endParaRPr lang="en-US" sz="900" dirty="0"/>
          </a:p>
        </p:txBody>
      </p:sp>
      <p:sp>
        <p:nvSpPr>
          <p:cNvPr id="50" name="Text 41"/>
          <p:cNvSpPr txBox="1"/>
          <p:nvPr/>
        </p:nvSpPr>
        <p:spPr>
          <a:xfrm>
            <a:off x="3613709" y="2991002"/>
            <a:ext cx="11247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Request "Diagnostics"</a:t>
            </a:r>
            <a:endParaRPr lang="en-US" sz="900" dirty="0"/>
          </a:p>
        </p:txBody>
      </p:sp>
      <p:sp>
        <p:nvSpPr>
          <p:cNvPr id="51" name="Text 42"/>
          <p:cNvSpPr txBox="1"/>
          <p:nvPr/>
        </p:nvSpPr>
        <p:spPr>
          <a:xfrm>
            <a:off x="3613709" y="3181198"/>
            <a:ext cx="8293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Pinpoint Culprit</a:t>
            </a:r>
            <a:endParaRPr lang="en-US" sz="900" dirty="0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689604" y="3443630"/>
            <a:ext cx="114300" cy="114300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3842309" y="3438144"/>
            <a:ext cx="3721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 min</a:t>
            </a:r>
            <a:endParaRPr lang="en-US" sz="900" dirty="0"/>
          </a:p>
        </p:txBody>
      </p:sp>
      <p:sp>
        <p:nvSpPr>
          <p:cNvPr id="54" name="Shape 44"/>
          <p:cNvSpPr/>
          <p:nvPr/>
        </p:nvSpPr>
        <p:spPr>
          <a:xfrm>
            <a:off x="3619195" y="2044598"/>
            <a:ext cx="228600" cy="228600"/>
          </a:xfrm>
          <a:prstGeom prst="ellipse">
            <a:avLst/>
          </a:prstGeom>
          <a:solidFill>
            <a:srgbClr val="F59E0B"/>
          </a:solidFill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Text 45"/>
          <p:cNvSpPr txBox="1"/>
          <p:nvPr/>
        </p:nvSpPr>
        <p:spPr>
          <a:xfrm>
            <a:off x="3699662" y="2055571"/>
            <a:ext cx="17922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</a:t>
            </a:r>
            <a:endParaRPr lang="en-US" sz="1000" dirty="0"/>
          </a:p>
        </p:txBody>
      </p:sp>
      <p:sp>
        <p:nvSpPr>
          <p:cNvPr id="56" name="Shape 46"/>
          <p:cNvSpPr/>
          <p:nvPr/>
        </p:nvSpPr>
        <p:spPr>
          <a:xfrm>
            <a:off x="6305702" y="2120494"/>
            <a:ext cx="2428646" cy="1647749"/>
          </a:xfrm>
          <a:prstGeom prst="roundRect">
            <a:avLst>
              <a:gd name="adj" fmla="val 3849"/>
            </a:avLst>
          </a:prstGeom>
          <a:solidFill>
            <a:srgbClr val="FFFFFF"/>
          </a:solidFill>
          <a:ln w="50800">
            <a:solidFill>
              <a:srgbClr val="3B82F6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Shape 47"/>
          <p:cNvSpPr/>
          <p:nvPr/>
        </p:nvSpPr>
        <p:spPr>
          <a:xfrm>
            <a:off x="6462065" y="3400654"/>
            <a:ext cx="590702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</p:spPr>
      </p:sp>
      <p:sp>
        <p:nvSpPr>
          <p:cNvPr id="58" name="Text 48"/>
          <p:cNvSpPr txBox="1"/>
          <p:nvPr/>
        </p:nvSpPr>
        <p:spPr>
          <a:xfrm>
            <a:off x="6462065" y="2324405"/>
            <a:ext cx="8101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Fix Design</a:t>
            </a:r>
            <a:endParaRPr lang="en-US" sz="1200" dirty="0"/>
          </a:p>
        </p:txBody>
      </p:sp>
      <p:sp>
        <p:nvSpPr>
          <p:cNvPr id="59" name="Text 49"/>
          <p:cNvSpPr txBox="1"/>
          <p:nvPr/>
        </p:nvSpPr>
        <p:spPr>
          <a:xfrm>
            <a:off x="6462065" y="2572207"/>
            <a:ext cx="7434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PLANNING</a:t>
            </a:r>
            <a:endParaRPr lang="en-US" sz="900" dirty="0"/>
          </a:p>
        </p:txBody>
      </p:sp>
      <p:sp>
        <p:nvSpPr>
          <p:cNvPr id="60" name="Text 50"/>
          <p:cNvSpPr txBox="1"/>
          <p:nvPr/>
        </p:nvSpPr>
        <p:spPr>
          <a:xfrm>
            <a:off x="6462065" y="2800807"/>
            <a:ext cx="11055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Generate Options A/B</a:t>
            </a:r>
            <a:endParaRPr lang="en-US" sz="900" dirty="0"/>
          </a:p>
        </p:txBody>
      </p:sp>
      <p:sp>
        <p:nvSpPr>
          <p:cNvPr id="61" name="Text 51"/>
          <p:cNvSpPr txBox="1"/>
          <p:nvPr/>
        </p:nvSpPr>
        <p:spPr>
          <a:xfrm>
            <a:off x="6462065" y="2991002"/>
            <a:ext cx="11247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Compare Pros &amp; Cons</a:t>
            </a:r>
            <a:endParaRPr lang="en-US" sz="900" dirty="0"/>
          </a:p>
        </p:txBody>
      </p:sp>
      <p:sp>
        <p:nvSpPr>
          <p:cNvPr id="62" name="Text 52"/>
          <p:cNvSpPr txBox="1"/>
          <p:nvPr/>
        </p:nvSpPr>
        <p:spPr>
          <a:xfrm>
            <a:off x="6462065" y="3181198"/>
            <a:ext cx="12006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Choose Minimal Impact</a:t>
            </a:r>
            <a:endParaRPr lang="en-US" sz="900" dirty="0"/>
          </a:p>
        </p:txBody>
      </p:sp>
      <p:pic>
        <p:nvPicPr>
          <p:cNvPr id="63" name="Image 8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537960" y="3443630"/>
            <a:ext cx="114300" cy="114300"/>
          </a:xfrm>
          <a:prstGeom prst="rect">
            <a:avLst/>
          </a:prstGeom>
        </p:spPr>
      </p:pic>
      <p:sp>
        <p:nvSpPr>
          <p:cNvPr id="64" name="Text 53"/>
          <p:cNvSpPr txBox="1"/>
          <p:nvPr/>
        </p:nvSpPr>
        <p:spPr>
          <a:xfrm>
            <a:off x="6690665" y="3438144"/>
            <a:ext cx="3721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 min</a:t>
            </a:r>
            <a:endParaRPr lang="en-US" sz="900" dirty="0"/>
          </a:p>
        </p:txBody>
      </p:sp>
      <p:sp>
        <p:nvSpPr>
          <p:cNvPr id="65" name="Shape 54"/>
          <p:cNvSpPr/>
          <p:nvPr/>
        </p:nvSpPr>
        <p:spPr>
          <a:xfrm>
            <a:off x="6467551" y="2044598"/>
            <a:ext cx="228600" cy="228600"/>
          </a:xfrm>
          <a:prstGeom prst="ellipse">
            <a:avLst/>
          </a:prstGeom>
          <a:solidFill>
            <a:srgbClr val="3B82F6"/>
          </a:solidFill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6" name="Text 55"/>
          <p:cNvSpPr txBox="1"/>
          <p:nvPr/>
        </p:nvSpPr>
        <p:spPr>
          <a:xfrm>
            <a:off x="6547104" y="2055571"/>
            <a:ext cx="17922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</a:t>
            </a:r>
            <a:endParaRPr lang="en-US" sz="1000" dirty="0"/>
          </a:p>
        </p:txBody>
      </p:sp>
      <p:sp>
        <p:nvSpPr>
          <p:cNvPr id="67" name="Shape 56"/>
          <p:cNvSpPr/>
          <p:nvPr/>
        </p:nvSpPr>
        <p:spPr>
          <a:xfrm>
            <a:off x="9153144" y="2120494"/>
            <a:ext cx="2428646" cy="1647749"/>
          </a:xfrm>
          <a:prstGeom prst="roundRect">
            <a:avLst>
              <a:gd name="adj" fmla="val 3849"/>
            </a:avLst>
          </a:prstGeom>
          <a:solidFill>
            <a:srgbClr val="FFFFFF"/>
          </a:solidFill>
          <a:ln w="50800">
            <a:solidFill>
              <a:srgbClr val="10B981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8" name="Shape 57"/>
          <p:cNvSpPr/>
          <p:nvPr/>
        </p:nvSpPr>
        <p:spPr>
          <a:xfrm>
            <a:off x="9309506" y="3400654"/>
            <a:ext cx="590702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</p:spPr>
      </p:sp>
      <p:sp>
        <p:nvSpPr>
          <p:cNvPr id="69" name="Text 58"/>
          <p:cNvSpPr txBox="1"/>
          <p:nvPr/>
        </p:nvSpPr>
        <p:spPr>
          <a:xfrm>
            <a:off x="9309506" y="2324405"/>
            <a:ext cx="8293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Implement</a:t>
            </a:r>
            <a:endParaRPr lang="en-US" sz="1200" dirty="0"/>
          </a:p>
        </p:txBody>
      </p:sp>
      <p:sp>
        <p:nvSpPr>
          <p:cNvPr id="70" name="Text 59"/>
          <p:cNvSpPr txBox="1"/>
          <p:nvPr/>
        </p:nvSpPr>
        <p:spPr>
          <a:xfrm>
            <a:off x="9309506" y="2572207"/>
            <a:ext cx="10104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71" name="Text 60"/>
          <p:cNvSpPr txBox="1"/>
          <p:nvPr/>
        </p:nvSpPr>
        <p:spPr>
          <a:xfrm>
            <a:off x="9309506" y="2800807"/>
            <a:ext cx="10579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Atomic Modification</a:t>
            </a:r>
            <a:endParaRPr lang="en-US" sz="900" dirty="0"/>
          </a:p>
        </p:txBody>
      </p:sp>
      <p:sp>
        <p:nvSpPr>
          <p:cNvPr id="72" name="Text 61"/>
          <p:cNvSpPr txBox="1"/>
          <p:nvPr/>
        </p:nvSpPr>
        <p:spPr>
          <a:xfrm>
            <a:off x="9309506" y="2991002"/>
            <a:ext cx="10771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Run Regression Tests</a:t>
            </a:r>
            <a:endParaRPr lang="en-US" sz="900" dirty="0"/>
          </a:p>
        </p:txBody>
      </p:sp>
      <p:sp>
        <p:nvSpPr>
          <p:cNvPr id="73" name="Text 62"/>
          <p:cNvSpPr txBox="1"/>
          <p:nvPr/>
        </p:nvSpPr>
        <p:spPr>
          <a:xfrm>
            <a:off x="9309506" y="3181198"/>
            <a:ext cx="12097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Update Docs (if needed)</a:t>
            </a:r>
            <a:endParaRPr lang="en-US" sz="900" dirty="0"/>
          </a:p>
        </p:txBody>
      </p:sp>
      <p:pic>
        <p:nvPicPr>
          <p:cNvPr id="74" name="Image 9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385402" y="3443630"/>
            <a:ext cx="114300" cy="114300"/>
          </a:xfrm>
          <a:prstGeom prst="rect">
            <a:avLst/>
          </a:prstGeom>
        </p:spPr>
      </p:pic>
      <p:sp>
        <p:nvSpPr>
          <p:cNvPr id="75" name="Text 63"/>
          <p:cNvSpPr txBox="1"/>
          <p:nvPr/>
        </p:nvSpPr>
        <p:spPr>
          <a:xfrm>
            <a:off x="9538106" y="3438144"/>
            <a:ext cx="3721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 min</a:t>
            </a:r>
            <a:endParaRPr lang="en-US" sz="900" dirty="0"/>
          </a:p>
        </p:txBody>
      </p:sp>
      <p:sp>
        <p:nvSpPr>
          <p:cNvPr id="76" name="Shape 64"/>
          <p:cNvSpPr/>
          <p:nvPr/>
        </p:nvSpPr>
        <p:spPr>
          <a:xfrm>
            <a:off x="9315907" y="2044598"/>
            <a:ext cx="228600" cy="228600"/>
          </a:xfrm>
          <a:prstGeom prst="ellipse">
            <a:avLst/>
          </a:prstGeom>
          <a:solidFill>
            <a:srgbClr val="10B981"/>
          </a:solidFill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7" name="Text 65"/>
          <p:cNvSpPr txBox="1"/>
          <p:nvPr/>
        </p:nvSpPr>
        <p:spPr>
          <a:xfrm>
            <a:off x="9395460" y="2055571"/>
            <a:ext cx="17922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5844845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4.3 Version Control &amp; Experiment Management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547104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6861658" y="295351"/>
            <a:ext cx="20391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Research Workflow Integration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905" y="990295"/>
            <a:ext cx="5296205" cy="5715000"/>
          </a:xfrm>
          <a:prstGeom prst="roundRect">
            <a:avLst>
              <a:gd name="adj" fmla="val 2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1929" y="1516075"/>
            <a:ext cx="4914900" cy="19202"/>
          </a:xfrm>
          <a:prstGeom prst="rect">
            <a:avLst/>
          </a:prstGeom>
          <a:solidFill>
            <a:srgbClr val="E2E8F0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 t="-2725" b="-2725"/>
          <a:stretch>
            <a:fillRect/>
          </a:stretch>
        </p:blipFill>
        <p:spPr>
          <a:xfrm>
            <a:off x="801929" y="1222553"/>
            <a:ext cx="142646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44575" y="1183234"/>
            <a:ext cx="2069287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Git Workflow for Research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1929" y="1700784"/>
            <a:ext cx="433882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Structured branching strategy to isolate stable code from experimental features.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292962" y="2386584"/>
            <a:ext cx="3933749" cy="38405"/>
          </a:xfrm>
          <a:prstGeom prst="roundRect">
            <a:avLst>
              <a:gd name="adj" fmla="val 1190470"/>
            </a:avLst>
          </a:prstGeom>
          <a:solidFill>
            <a:srgbClr val="2563EB"/>
          </a:solidFill>
        </p:spPr>
      </p:sp>
      <p:sp>
        <p:nvSpPr>
          <p:cNvPr id="14" name="Shape 11"/>
          <p:cNvSpPr/>
          <p:nvPr/>
        </p:nvSpPr>
        <p:spPr>
          <a:xfrm>
            <a:off x="1292962" y="2120494"/>
            <a:ext cx="838505" cy="247802"/>
          </a:xfrm>
          <a:prstGeom prst="roundRect">
            <a:avLst>
              <a:gd name="adj" fmla="val 56770"/>
            </a:avLst>
          </a:prstGeom>
          <a:solidFill>
            <a:srgbClr val="F1F5F9"/>
          </a:solidFill>
        </p:spPr>
      </p:sp>
      <p:sp>
        <p:nvSpPr>
          <p:cNvPr id="15" name="Text 12"/>
          <p:cNvSpPr txBox="1"/>
          <p:nvPr/>
        </p:nvSpPr>
        <p:spPr>
          <a:xfrm>
            <a:off x="1368857" y="2169871"/>
            <a:ext cx="77724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main (stable)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783994" y="2653589"/>
            <a:ext cx="2952598" cy="38405"/>
          </a:xfrm>
          <a:prstGeom prst="roundRect">
            <a:avLst>
              <a:gd name="adj" fmla="val 1190470"/>
            </a:avLst>
          </a:prstGeom>
          <a:solidFill>
            <a:srgbClr val="10B981"/>
          </a:solidFill>
        </p:spPr>
      </p:sp>
      <p:sp>
        <p:nvSpPr>
          <p:cNvPr id="17" name="Shape 14"/>
          <p:cNvSpPr/>
          <p:nvPr/>
        </p:nvSpPr>
        <p:spPr>
          <a:xfrm>
            <a:off x="2275027" y="2853842"/>
            <a:ext cx="342900" cy="247802"/>
          </a:xfrm>
          <a:prstGeom prst="roundRect">
            <a:avLst>
              <a:gd name="adj" fmla="val 56770"/>
            </a:avLst>
          </a:prstGeom>
          <a:solidFill>
            <a:srgbClr val="F1F5F9"/>
          </a:solidFill>
        </p:spPr>
      </p:sp>
      <p:sp>
        <p:nvSpPr>
          <p:cNvPr id="18" name="Text 15"/>
          <p:cNvSpPr txBox="1"/>
          <p:nvPr/>
        </p:nvSpPr>
        <p:spPr>
          <a:xfrm>
            <a:off x="2351837" y="2903220"/>
            <a:ext cx="28255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dev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66060" y="2920594"/>
            <a:ext cx="1971446" cy="38405"/>
          </a:xfrm>
          <a:prstGeom prst="roundRect">
            <a:avLst>
              <a:gd name="adj" fmla="val 1190470"/>
            </a:avLst>
          </a:prstGeom>
          <a:solidFill>
            <a:srgbClr val="F59E0B"/>
          </a:solidFill>
        </p:spPr>
      </p:sp>
      <p:sp>
        <p:nvSpPr>
          <p:cNvPr id="20" name="Shape 17"/>
          <p:cNvSpPr/>
          <p:nvPr/>
        </p:nvSpPr>
        <p:spPr>
          <a:xfrm>
            <a:off x="3258007" y="3119933"/>
            <a:ext cx="1000354" cy="247802"/>
          </a:xfrm>
          <a:prstGeom prst="roundRect">
            <a:avLst>
              <a:gd name="adj" fmla="val 56770"/>
            </a:avLst>
          </a:prstGeom>
          <a:solidFill>
            <a:srgbClr val="F1F5F9"/>
          </a:solidFill>
        </p:spPr>
      </p:sp>
      <p:sp>
        <p:nvSpPr>
          <p:cNvPr id="21" name="Text 18"/>
          <p:cNvSpPr txBox="1"/>
          <p:nvPr/>
        </p:nvSpPr>
        <p:spPr>
          <a:xfrm>
            <a:off x="3333902" y="3169310"/>
            <a:ext cx="9400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exp/attention-v1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275027" y="2386584"/>
            <a:ext cx="19202" cy="267005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23" name="Shape 20"/>
          <p:cNvSpPr/>
          <p:nvPr/>
        </p:nvSpPr>
        <p:spPr>
          <a:xfrm>
            <a:off x="3258007" y="2653589"/>
            <a:ext cx="19202" cy="267005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24" name="Text 21"/>
          <p:cNvSpPr txBox="1"/>
          <p:nvPr/>
        </p:nvSpPr>
        <p:spPr>
          <a:xfrm>
            <a:off x="801929" y="3482035"/>
            <a:ext cx="15627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AI-Assisted Commit Message: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801929" y="3673145"/>
            <a:ext cx="24963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"I added attention module and fixed memory leak..."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01929" y="3891686"/>
            <a:ext cx="4914900" cy="1162202"/>
          </a:xfrm>
          <a:prstGeom prst="roundRect">
            <a:avLst>
              <a:gd name="adj" fmla="val 3869"/>
            </a:avLst>
          </a:prstGeom>
          <a:solidFill>
            <a:srgbClr val="1E293B"/>
          </a:solidFill>
        </p:spPr>
      </p:sp>
      <p:sp>
        <p:nvSpPr>
          <p:cNvPr id="27" name="Shape 24"/>
          <p:cNvSpPr/>
          <p:nvPr/>
        </p:nvSpPr>
        <p:spPr>
          <a:xfrm>
            <a:off x="801929" y="3891686"/>
            <a:ext cx="38405" cy="116220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8" name="Text 25"/>
          <p:cNvSpPr txBox="1"/>
          <p:nvPr/>
        </p:nvSpPr>
        <p:spPr>
          <a:xfrm>
            <a:off x="961949" y="4032504"/>
            <a:ext cx="347289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feat(model): add hierarchical attention module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961949" y="4398264"/>
            <a:ext cx="317754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fix(data): resolve data loader memory leak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61949" y="4581144"/>
            <a:ext cx="295899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Implement HierarchicalAttention class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961949" y="4764024"/>
            <a:ext cx="273954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Add garbage collection after epoch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286500" y="990295"/>
            <a:ext cx="5296205" cy="5715000"/>
          </a:xfrm>
          <a:prstGeom prst="roundRect">
            <a:avLst>
              <a:gd name="adj" fmla="val 2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478524" y="1516075"/>
            <a:ext cx="4914900" cy="19202"/>
          </a:xfrm>
          <a:prstGeom prst="rect">
            <a:avLst/>
          </a:prstGeom>
          <a:solidFill>
            <a:srgbClr val="E2E8F0"/>
          </a:solidFill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78524" y="1222553"/>
            <a:ext cx="171907" cy="171907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6650431" y="1183234"/>
            <a:ext cx="224028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Experiment Tracking (W&amp;B)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6478524" y="1700784"/>
            <a:ext cx="45774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Move beyond Excel sheets. Use Weights &amp; Biases for reproducible, visual tracking.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6478524" y="1986991"/>
            <a:ext cx="4914900" cy="476402"/>
          </a:xfrm>
          <a:prstGeom prst="roundRect">
            <a:avLst>
              <a:gd name="adj" fmla="val 23033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564478" y="2110435"/>
            <a:ext cx="228600" cy="228600"/>
          </a:xfrm>
          <a:prstGeom prst="roundRect">
            <a:avLst>
              <a:gd name="adj" fmla="val 66667"/>
            </a:avLst>
          </a:prstGeom>
          <a:solidFill>
            <a:srgbClr val="F59E0B"/>
          </a:solidFill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22085" y="2168042"/>
            <a:ext cx="114300" cy="114300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6907378" y="2082089"/>
            <a:ext cx="9628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Hyperparameters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6907378" y="2234794"/>
            <a:ext cx="17812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lr, batch_size, optimizer, architecture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6478524" y="2554834"/>
            <a:ext cx="4914900" cy="476402"/>
          </a:xfrm>
          <a:prstGeom prst="roundRect">
            <a:avLst>
              <a:gd name="adj" fmla="val 23033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564478" y="2678278"/>
            <a:ext cx="228600" cy="228600"/>
          </a:xfrm>
          <a:prstGeom prst="roundRect">
            <a:avLst>
              <a:gd name="adj" fmla="val 66667"/>
            </a:avLst>
          </a:prstGeom>
          <a:solidFill>
            <a:srgbClr val="F59E0B"/>
          </a:solidFill>
        </p:spPr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622085" y="2735885"/>
            <a:ext cx="114300" cy="114300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6907378" y="2649931"/>
            <a:ext cx="12481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Metrics &amp; Performance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6907378" y="2801722"/>
            <a:ext cx="20391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Train/Val Loss, Accuracy, F1 Score curves</a:t>
            </a:r>
            <a:endParaRPr lang="en-US" sz="900" dirty="0"/>
          </a:p>
        </p:txBody>
      </p:sp>
      <p:sp>
        <p:nvSpPr>
          <p:cNvPr id="47" name="Shape 41"/>
          <p:cNvSpPr/>
          <p:nvPr/>
        </p:nvSpPr>
        <p:spPr>
          <a:xfrm>
            <a:off x="6478524" y="3107131"/>
            <a:ext cx="4914900" cy="476402"/>
          </a:xfrm>
          <a:prstGeom prst="roundRect">
            <a:avLst>
              <a:gd name="adj" fmla="val 23033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6564478" y="3230575"/>
            <a:ext cx="228600" cy="228600"/>
          </a:xfrm>
          <a:prstGeom prst="roundRect">
            <a:avLst>
              <a:gd name="adj" fmla="val 66667"/>
            </a:avLst>
          </a:prstGeom>
          <a:solidFill>
            <a:srgbClr val="F59E0B"/>
          </a:solidFill>
        </p:spPr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5"/>
          <a:srcRect t="-80" b="-80"/>
          <a:stretch>
            <a:fillRect/>
          </a:stretch>
        </p:blipFill>
        <p:spPr>
          <a:xfrm>
            <a:off x="6607454" y="3288182"/>
            <a:ext cx="142646" cy="114300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6907378" y="3202229"/>
            <a:ext cx="5239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Artifacts</a:t>
            </a:r>
            <a:endParaRPr lang="en-US" sz="900" dirty="0"/>
          </a:p>
        </p:txBody>
      </p:sp>
      <p:sp>
        <p:nvSpPr>
          <p:cNvPr id="51" name="Text 44"/>
          <p:cNvSpPr txBox="1"/>
          <p:nvPr/>
        </p:nvSpPr>
        <p:spPr>
          <a:xfrm>
            <a:off x="6907378" y="3354934"/>
            <a:ext cx="19815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Best Model (.pt), Log files, System specs</a:t>
            </a:r>
            <a:endParaRPr lang="en-US" sz="900" dirty="0"/>
          </a:p>
        </p:txBody>
      </p:sp>
      <p:sp>
        <p:nvSpPr>
          <p:cNvPr id="52" name="Text 45"/>
          <p:cNvSpPr txBox="1"/>
          <p:nvPr/>
        </p:nvSpPr>
        <p:spPr>
          <a:xfrm>
            <a:off x="6478524" y="3745382"/>
            <a:ext cx="25054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Prompt: "Add W&amp;B logging to training loop"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6478524" y="3963924"/>
            <a:ext cx="4914900" cy="1686154"/>
          </a:xfrm>
          <a:prstGeom prst="roundRect">
            <a:avLst>
              <a:gd name="adj" fmla="val 1838"/>
            </a:avLst>
          </a:prstGeom>
          <a:solidFill>
            <a:srgbClr val="1E293B"/>
          </a:solidFill>
        </p:spPr>
      </p:sp>
      <p:sp>
        <p:nvSpPr>
          <p:cNvPr id="54" name="Shape 47"/>
          <p:cNvSpPr/>
          <p:nvPr/>
        </p:nvSpPr>
        <p:spPr>
          <a:xfrm>
            <a:off x="10938053" y="3963924"/>
            <a:ext cx="457200" cy="161849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55" name="Text 48"/>
          <p:cNvSpPr txBox="1"/>
          <p:nvPr/>
        </p:nvSpPr>
        <p:spPr>
          <a:xfrm>
            <a:off x="10999318" y="3988613"/>
            <a:ext cx="409651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56" name="Text 49"/>
          <p:cNvSpPr txBox="1"/>
          <p:nvPr/>
        </p:nvSpPr>
        <p:spPr>
          <a:xfrm>
            <a:off x="6601054" y="4095598"/>
            <a:ext cx="5056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900" dirty="0"/>
          </a:p>
        </p:txBody>
      </p:sp>
      <p:sp>
        <p:nvSpPr>
          <p:cNvPr id="57" name="Text 50"/>
          <p:cNvSpPr txBox="1"/>
          <p:nvPr/>
        </p:nvSpPr>
        <p:spPr>
          <a:xfrm>
            <a:off x="7013448" y="4095598"/>
            <a:ext cx="4389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wandb</a:t>
            </a:r>
            <a:endParaRPr lang="en-US" sz="900" dirty="0"/>
          </a:p>
        </p:txBody>
      </p:sp>
      <p:sp>
        <p:nvSpPr>
          <p:cNvPr id="58" name="Text 51"/>
          <p:cNvSpPr txBox="1"/>
          <p:nvPr/>
        </p:nvSpPr>
        <p:spPr>
          <a:xfrm>
            <a:off x="6601054" y="4415638"/>
            <a:ext cx="14008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wandb.init(project=</a:t>
            </a:r>
            <a:endParaRPr lang="en-US" sz="900" dirty="0"/>
          </a:p>
        </p:txBody>
      </p:sp>
      <p:sp>
        <p:nvSpPr>
          <p:cNvPr id="59" name="Text 52"/>
          <p:cNvSpPr txBox="1"/>
          <p:nvPr/>
        </p:nvSpPr>
        <p:spPr>
          <a:xfrm>
            <a:off x="7908646" y="4415638"/>
            <a:ext cx="12573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"urban-flow-pred"</a:t>
            </a:r>
            <a:endParaRPr lang="en-US" sz="900" dirty="0"/>
          </a:p>
        </p:txBody>
      </p:sp>
      <p:sp>
        <p:nvSpPr>
          <p:cNvPr id="60" name="Text 53"/>
          <p:cNvSpPr txBox="1"/>
          <p:nvPr/>
        </p:nvSpPr>
        <p:spPr>
          <a:xfrm>
            <a:off x="9078163" y="4415638"/>
            <a:ext cx="7818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config={</a:t>
            </a:r>
            <a:endParaRPr lang="en-US" sz="900" dirty="0"/>
          </a:p>
        </p:txBody>
      </p:sp>
      <p:sp>
        <p:nvSpPr>
          <p:cNvPr id="61" name="Text 54"/>
          <p:cNvSpPr txBox="1"/>
          <p:nvPr/>
        </p:nvSpPr>
        <p:spPr>
          <a:xfrm>
            <a:off x="6601054" y="4575658"/>
            <a:ext cx="11247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"learning_rate"</a:t>
            </a:r>
            <a:endParaRPr lang="en-US" sz="900" dirty="0"/>
          </a:p>
        </p:txBody>
      </p:sp>
      <p:sp>
        <p:nvSpPr>
          <p:cNvPr id="62" name="Text 55"/>
          <p:cNvSpPr txBox="1"/>
          <p:nvPr/>
        </p:nvSpPr>
        <p:spPr>
          <a:xfrm>
            <a:off x="7632497" y="4575658"/>
            <a:ext cx="1627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00" dirty="0"/>
          </a:p>
        </p:txBody>
      </p:sp>
      <p:sp>
        <p:nvSpPr>
          <p:cNvPr id="63" name="Text 56"/>
          <p:cNvSpPr txBox="1"/>
          <p:nvPr/>
        </p:nvSpPr>
        <p:spPr>
          <a:xfrm>
            <a:off x="7701991" y="4575658"/>
            <a:ext cx="4389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0.001</a:t>
            </a:r>
            <a:endParaRPr lang="en-US" sz="900" dirty="0"/>
          </a:p>
        </p:txBody>
      </p:sp>
      <p:sp>
        <p:nvSpPr>
          <p:cNvPr id="64" name="Text 57"/>
          <p:cNvSpPr txBox="1"/>
          <p:nvPr/>
        </p:nvSpPr>
        <p:spPr>
          <a:xfrm>
            <a:off x="8045806" y="4575658"/>
            <a:ext cx="1627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</p:txBody>
      </p:sp>
      <p:sp>
        <p:nvSpPr>
          <p:cNvPr id="65" name="Text 58"/>
          <p:cNvSpPr txBox="1"/>
          <p:nvPr/>
        </p:nvSpPr>
        <p:spPr>
          <a:xfrm>
            <a:off x="6601054" y="4735678"/>
            <a:ext cx="10579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"architecture"</a:t>
            </a:r>
            <a:endParaRPr lang="en-US" sz="900" dirty="0"/>
          </a:p>
        </p:txBody>
      </p:sp>
      <p:sp>
        <p:nvSpPr>
          <p:cNvPr id="66" name="Text 59"/>
          <p:cNvSpPr txBox="1"/>
          <p:nvPr/>
        </p:nvSpPr>
        <p:spPr>
          <a:xfrm>
            <a:off x="7563917" y="4735678"/>
            <a:ext cx="1627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00" dirty="0"/>
          </a:p>
        </p:txBody>
      </p:sp>
      <p:sp>
        <p:nvSpPr>
          <p:cNvPr id="67" name="Text 60"/>
          <p:cNvSpPr txBox="1"/>
          <p:nvPr/>
        </p:nvSpPr>
        <p:spPr>
          <a:xfrm>
            <a:off x="7633411" y="4735678"/>
            <a:ext cx="8485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"ResNet-50"</a:t>
            </a:r>
            <a:endParaRPr lang="en-US" sz="900" dirty="0"/>
          </a:p>
        </p:txBody>
      </p:sp>
      <p:sp>
        <p:nvSpPr>
          <p:cNvPr id="68" name="Text 61"/>
          <p:cNvSpPr txBox="1"/>
          <p:nvPr/>
        </p:nvSpPr>
        <p:spPr>
          <a:xfrm>
            <a:off x="6601054" y="4895698"/>
            <a:ext cx="2286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00" dirty="0"/>
          </a:p>
        </p:txBody>
      </p:sp>
      <p:sp>
        <p:nvSpPr>
          <p:cNvPr id="69" name="Text 62"/>
          <p:cNvSpPr txBox="1"/>
          <p:nvPr/>
        </p:nvSpPr>
        <p:spPr>
          <a:xfrm>
            <a:off x="6601054" y="5215738"/>
            <a:ext cx="21534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inside training loop ...</a:t>
            </a:r>
            <a:endParaRPr lang="en-US" sz="900" dirty="0"/>
          </a:p>
        </p:txBody>
      </p:sp>
      <p:sp>
        <p:nvSpPr>
          <p:cNvPr id="70" name="Text 63"/>
          <p:cNvSpPr txBox="1"/>
          <p:nvPr/>
        </p:nvSpPr>
        <p:spPr>
          <a:xfrm>
            <a:off x="6601054" y="5375758"/>
            <a:ext cx="8485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wandb.log({</a:t>
            </a:r>
            <a:endParaRPr lang="en-US" sz="900" dirty="0"/>
          </a:p>
        </p:txBody>
      </p:sp>
      <p:sp>
        <p:nvSpPr>
          <p:cNvPr id="71" name="Text 64"/>
          <p:cNvSpPr txBox="1"/>
          <p:nvPr/>
        </p:nvSpPr>
        <p:spPr>
          <a:xfrm>
            <a:off x="7358177" y="5375758"/>
            <a:ext cx="5056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"loss"</a:t>
            </a:r>
            <a:endParaRPr lang="en-US" sz="900" dirty="0"/>
          </a:p>
        </p:txBody>
      </p:sp>
      <p:sp>
        <p:nvSpPr>
          <p:cNvPr id="72" name="Text 65"/>
          <p:cNvSpPr txBox="1"/>
          <p:nvPr/>
        </p:nvSpPr>
        <p:spPr>
          <a:xfrm>
            <a:off x="7770571" y="5375758"/>
            <a:ext cx="5715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loss,</a:t>
            </a:r>
            <a:endParaRPr lang="en-US" sz="900" dirty="0"/>
          </a:p>
        </p:txBody>
      </p:sp>
      <p:sp>
        <p:nvSpPr>
          <p:cNvPr id="73" name="Text 66"/>
          <p:cNvSpPr txBox="1"/>
          <p:nvPr/>
        </p:nvSpPr>
        <p:spPr>
          <a:xfrm>
            <a:off x="8252460" y="5375758"/>
            <a:ext cx="7818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"accuracy"</a:t>
            </a:r>
            <a:endParaRPr lang="en-US" sz="900" dirty="0"/>
          </a:p>
        </p:txBody>
      </p:sp>
      <p:sp>
        <p:nvSpPr>
          <p:cNvPr id="74" name="Text 67"/>
          <p:cNvSpPr txBox="1"/>
          <p:nvPr/>
        </p:nvSpPr>
        <p:spPr>
          <a:xfrm>
            <a:off x="8941003" y="5375758"/>
            <a:ext cx="5715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acc})</a:t>
            </a:r>
            <a:endParaRPr lang="en-US" sz="900" dirty="0"/>
          </a:p>
        </p:txBody>
      </p:sp>
      <p:sp>
        <p:nvSpPr>
          <p:cNvPr id="75" name="Shape 68"/>
          <p:cNvSpPr/>
          <p:nvPr/>
        </p:nvSpPr>
        <p:spPr>
          <a:xfrm>
            <a:off x="1292962" y="2347265"/>
            <a:ext cx="133502" cy="133502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12700" dist="12700" dir="16200000" algn="bl" rotWithShape="0">
              <a:srgbClr val="2563EB">
                <a:alpha val="100000"/>
              </a:srgbClr>
            </a:outerShdw>
          </a:effectLst>
        </p:spPr>
      </p:sp>
      <p:sp>
        <p:nvSpPr>
          <p:cNvPr id="76" name="Shape 69"/>
          <p:cNvSpPr/>
          <p:nvPr/>
        </p:nvSpPr>
        <p:spPr>
          <a:xfrm>
            <a:off x="2275027" y="2347265"/>
            <a:ext cx="133502" cy="133502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12700" dist="12700" dir="16200000" algn="bl" rotWithShape="0">
              <a:srgbClr val="2563EB">
                <a:alpha val="100000"/>
              </a:srgbClr>
            </a:outerShdw>
          </a:effectLst>
        </p:spPr>
      </p:sp>
      <p:sp>
        <p:nvSpPr>
          <p:cNvPr id="77" name="Shape 70"/>
          <p:cNvSpPr/>
          <p:nvPr/>
        </p:nvSpPr>
        <p:spPr>
          <a:xfrm>
            <a:off x="2275027" y="2613355"/>
            <a:ext cx="133502" cy="133502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  <a:effectLst>
            <a:outerShdw blurRad="12700" dist="12700" dir="16200000" algn="bl" rotWithShape="0">
              <a:srgbClr val="10B981">
                <a:alpha val="100000"/>
              </a:srgbClr>
            </a:outerShdw>
          </a:effectLst>
        </p:spPr>
      </p:sp>
      <p:sp>
        <p:nvSpPr>
          <p:cNvPr id="78" name="Shape 71"/>
          <p:cNvSpPr/>
          <p:nvPr/>
        </p:nvSpPr>
        <p:spPr>
          <a:xfrm>
            <a:off x="3258007" y="2613355"/>
            <a:ext cx="133502" cy="133502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  <a:effectLst>
            <a:outerShdw blurRad="12700" dist="12700" dir="16200000" algn="bl" rotWithShape="0">
              <a:srgbClr val="10B981">
                <a:alpha val="100000"/>
              </a:srgbClr>
            </a:outerShdw>
          </a:effectLst>
        </p:spPr>
      </p:sp>
      <p:sp>
        <p:nvSpPr>
          <p:cNvPr id="79" name="Shape 72"/>
          <p:cNvSpPr/>
          <p:nvPr/>
        </p:nvSpPr>
        <p:spPr>
          <a:xfrm>
            <a:off x="3258007" y="2880360"/>
            <a:ext cx="133502" cy="133502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blurRad="12700" dist="12700" dir="16200000" algn="bl" rotWithShape="0">
              <a:srgbClr val="F59E0B">
                <a:alpha val="100000"/>
              </a:srgbClr>
            </a:outerShdw>
          </a:effectLst>
        </p:spPr>
      </p:sp>
      <p:sp>
        <p:nvSpPr>
          <p:cNvPr id="80" name="Shape 73"/>
          <p:cNvSpPr/>
          <p:nvPr/>
        </p:nvSpPr>
        <p:spPr>
          <a:xfrm>
            <a:off x="4240073" y="2880360"/>
            <a:ext cx="133502" cy="133502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blurRad="12700" dist="12700" dir="16200000" algn="bl" rotWithShape="0">
              <a:srgbClr val="F59E0B">
                <a:alpha val="100000"/>
              </a:srgbClr>
            </a:outerShdw>
          </a:effectLst>
        </p:spPr>
      </p:sp>
      <p:sp>
        <p:nvSpPr>
          <p:cNvPr id="81" name="Text 74"/>
          <p:cNvSpPr txBox="1"/>
          <p:nvPr/>
        </p:nvSpPr>
        <p:spPr>
          <a:xfrm>
            <a:off x="11544300" y="6381598"/>
            <a:ext cx="333756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23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2644445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4.4 Key Practical Tips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352190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3666744" y="295351"/>
            <a:ext cx="31821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6 Battle-Tested Tactics for Better AI Code Quality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905" y="914400"/>
            <a:ext cx="3562502" cy="2486254"/>
          </a:xfrm>
          <a:prstGeom prst="roundRect">
            <a:avLst>
              <a:gd name="adj" fmla="val 14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0664" y="1341425"/>
            <a:ext cx="3295498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" name="Shape 8"/>
          <p:cNvSpPr/>
          <p:nvPr/>
        </p:nvSpPr>
        <p:spPr>
          <a:xfrm>
            <a:off x="740664" y="1055218"/>
            <a:ext cx="209398" cy="209398"/>
          </a:xfrm>
          <a:prstGeom prst="roundRect">
            <a:avLst>
              <a:gd name="adj" fmla="val 99246"/>
            </a:avLst>
          </a:prstGeom>
          <a:solidFill>
            <a:srgbClr val="3B82F6"/>
          </a:solidFill>
        </p:spPr>
      </p:sp>
      <p:sp>
        <p:nvSpPr>
          <p:cNvPr id="11" name="Text 9"/>
          <p:cNvSpPr txBox="1"/>
          <p:nvPr/>
        </p:nvSpPr>
        <p:spPr>
          <a:xfrm>
            <a:off x="815645" y="1068934"/>
            <a:ext cx="1581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41502" y="1074420"/>
            <a:ext cx="16669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Step-by-Step Description</a:t>
            </a:r>
            <a:endParaRPr lang="en-US" sz="1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900830" y="1093622"/>
            <a:ext cx="133502" cy="133502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40664" y="1405433"/>
            <a:ext cx="114300" cy="1143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54964" y="1415491"/>
            <a:ext cx="3120847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Break complex tasks into logical chains. Avoid overwhelming the AI with too much at once.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740664" y="1795882"/>
            <a:ext cx="3295498" cy="1476756"/>
          </a:xfrm>
          <a:prstGeom prst="roundRect">
            <a:avLst>
              <a:gd name="adj" fmla="val 2397"/>
            </a:avLst>
          </a:prstGeom>
          <a:solidFill>
            <a:srgbClr val="EFF6FF"/>
          </a:solidFill>
        </p:spPr>
      </p:sp>
      <p:sp>
        <p:nvSpPr>
          <p:cNvPr id="17" name="Shape 13"/>
          <p:cNvSpPr/>
          <p:nvPr/>
        </p:nvSpPr>
        <p:spPr>
          <a:xfrm>
            <a:off x="740664" y="1795882"/>
            <a:ext cx="28346" cy="1476756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8" name="Text 14"/>
          <p:cNvSpPr txBox="1"/>
          <p:nvPr/>
        </p:nvSpPr>
        <p:spPr>
          <a:xfrm>
            <a:off x="845820" y="2314346"/>
            <a:ext cx="752551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BAD VS GOOD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845820" y="2456993"/>
            <a:ext cx="9912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❌ "Data Analysis"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845820" y="2606040"/>
            <a:ext cx="241035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✅ "Step 1: Read CSV; Step 2: Stats; Step 3: Plot"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317797" y="914400"/>
            <a:ext cx="3562502" cy="2486254"/>
          </a:xfrm>
          <a:prstGeom prst="roundRect">
            <a:avLst>
              <a:gd name="adj" fmla="val 14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449470" y="1341425"/>
            <a:ext cx="3295498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3" name="Shape 19"/>
          <p:cNvSpPr/>
          <p:nvPr/>
        </p:nvSpPr>
        <p:spPr>
          <a:xfrm>
            <a:off x="4449470" y="1055218"/>
            <a:ext cx="209398" cy="209398"/>
          </a:xfrm>
          <a:prstGeom prst="roundRect">
            <a:avLst>
              <a:gd name="adj" fmla="val 99246"/>
            </a:avLst>
          </a:prstGeom>
          <a:solidFill>
            <a:srgbClr val="10B981"/>
          </a:solidFill>
        </p:spPr>
      </p:sp>
      <p:sp>
        <p:nvSpPr>
          <p:cNvPr id="24" name="Text 20"/>
          <p:cNvSpPr txBox="1"/>
          <p:nvPr/>
        </p:nvSpPr>
        <p:spPr>
          <a:xfrm>
            <a:off x="4523537" y="1068934"/>
            <a:ext cx="1581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4750308" y="1074420"/>
            <a:ext cx="19431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Provide Examples (Few-shot)</a:t>
            </a:r>
            <a:endParaRPr lang="en-US" sz="12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rcRect t="-2644" b="-2644"/>
          <a:stretch>
            <a:fillRect/>
          </a:stretch>
        </p:blipFill>
        <p:spPr>
          <a:xfrm>
            <a:off x="7647127" y="1093622"/>
            <a:ext cx="95098" cy="133502"/>
          </a:xfrm>
          <a:prstGeom prst="rect">
            <a:avLst/>
          </a:prstGeom>
        </p:spPr>
      </p:pic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449470" y="1405433"/>
            <a:ext cx="114300" cy="1143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563770" y="1415491"/>
            <a:ext cx="3196742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Provide specific input/output samples for the AI to mimic exact formats.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449470" y="1795882"/>
            <a:ext cx="3295498" cy="1476756"/>
          </a:xfrm>
          <a:prstGeom prst="roundRect">
            <a:avLst>
              <a:gd name="adj" fmla="val 2397"/>
            </a:avLst>
          </a:prstGeom>
          <a:solidFill>
            <a:srgbClr val="ECFDF5"/>
          </a:solidFill>
        </p:spPr>
      </p:sp>
      <p:sp>
        <p:nvSpPr>
          <p:cNvPr id="30" name="Shape 24"/>
          <p:cNvSpPr/>
          <p:nvPr/>
        </p:nvSpPr>
        <p:spPr>
          <a:xfrm>
            <a:off x="4449470" y="1795882"/>
            <a:ext cx="28346" cy="1476756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1" name="Text 25"/>
          <p:cNvSpPr txBox="1"/>
          <p:nvPr/>
        </p:nvSpPr>
        <p:spPr>
          <a:xfrm>
            <a:off x="4553712" y="2314346"/>
            <a:ext cx="962863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PROMPT EXAMPLE</a:t>
            </a:r>
            <a:endParaRPr lang="en-US" sz="800" dirty="0"/>
          </a:p>
        </p:txBody>
      </p:sp>
      <p:sp>
        <p:nvSpPr>
          <p:cNvPr id="32" name="Text 26"/>
          <p:cNvSpPr txBox="1"/>
          <p:nvPr/>
        </p:nvSpPr>
        <p:spPr>
          <a:xfrm>
            <a:off x="4553712" y="2456993"/>
            <a:ext cx="15718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Input: {'name': 'BJ', 'pop': 2154}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4553712" y="2606040"/>
            <a:ext cx="17913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Output: 'Beijing Population: 21.54M'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6603" y="914400"/>
            <a:ext cx="3562502" cy="2486254"/>
          </a:xfrm>
          <a:prstGeom prst="roundRect">
            <a:avLst>
              <a:gd name="adj" fmla="val 14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57362" y="1341425"/>
            <a:ext cx="3295498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Shape 30"/>
          <p:cNvSpPr/>
          <p:nvPr/>
        </p:nvSpPr>
        <p:spPr>
          <a:xfrm>
            <a:off x="8157362" y="1055218"/>
            <a:ext cx="209398" cy="209398"/>
          </a:xfrm>
          <a:prstGeom prst="roundRect">
            <a:avLst>
              <a:gd name="adj" fmla="val 99246"/>
            </a:avLst>
          </a:prstGeom>
          <a:solidFill>
            <a:srgbClr val="8B5CF6"/>
          </a:solidFill>
        </p:spPr>
      </p:sp>
      <p:sp>
        <p:nvSpPr>
          <p:cNvPr id="37" name="Text 31"/>
          <p:cNvSpPr txBox="1"/>
          <p:nvPr/>
        </p:nvSpPr>
        <p:spPr>
          <a:xfrm>
            <a:off x="8232343" y="1068934"/>
            <a:ext cx="1581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8458200" y="1074420"/>
            <a:ext cx="8769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Role Setting</a:t>
            </a:r>
            <a:endParaRPr lang="en-US" sz="120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4"/>
          <a:srcRect t="-1100" b="-1100"/>
          <a:stretch>
            <a:fillRect/>
          </a:stretch>
        </p:blipFill>
        <p:spPr>
          <a:xfrm>
            <a:off x="11336731" y="1093622"/>
            <a:ext cx="114300" cy="133502"/>
          </a:xfrm>
          <a:prstGeom prst="rect">
            <a:avLst/>
          </a:prstGeom>
        </p:spPr>
      </p:pic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157362" y="1405433"/>
            <a:ext cx="114300" cy="11430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8271662" y="1415491"/>
            <a:ext cx="3140050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Assign expert personas to activate domain-specific knowledge weights.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8157362" y="1795882"/>
            <a:ext cx="3295498" cy="1476756"/>
          </a:xfrm>
          <a:prstGeom prst="roundRect">
            <a:avLst>
              <a:gd name="adj" fmla="val 2397"/>
            </a:avLst>
          </a:prstGeom>
          <a:solidFill>
            <a:srgbClr val="F5F3FF"/>
          </a:solidFill>
        </p:spPr>
      </p:sp>
      <p:sp>
        <p:nvSpPr>
          <p:cNvPr id="43" name="Shape 35"/>
          <p:cNvSpPr/>
          <p:nvPr/>
        </p:nvSpPr>
        <p:spPr>
          <a:xfrm>
            <a:off x="8157362" y="1795882"/>
            <a:ext cx="28346" cy="1476756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44" name="Text 36"/>
          <p:cNvSpPr txBox="1"/>
          <p:nvPr/>
        </p:nvSpPr>
        <p:spPr>
          <a:xfrm>
            <a:off x="8262518" y="2388413"/>
            <a:ext cx="962863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PROMPT EXAMPLE</a:t>
            </a:r>
            <a:endParaRPr lang="en-US" sz="800" dirty="0"/>
          </a:p>
        </p:txBody>
      </p:sp>
      <p:sp>
        <p:nvSpPr>
          <p:cNvPr id="45" name="Text 37"/>
          <p:cNvSpPr txBox="1"/>
          <p:nvPr/>
        </p:nvSpPr>
        <p:spPr>
          <a:xfrm>
            <a:off x="8262518" y="2531059"/>
            <a:ext cx="31437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"You are a GIS expert, proficient in GeoPandas spatial indexing..."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609905" y="3546958"/>
            <a:ext cx="3562502" cy="2486254"/>
          </a:xfrm>
          <a:prstGeom prst="roundRect">
            <a:avLst>
              <a:gd name="adj" fmla="val 14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740664" y="3973982"/>
            <a:ext cx="3295498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Shape 40"/>
          <p:cNvSpPr/>
          <p:nvPr/>
        </p:nvSpPr>
        <p:spPr>
          <a:xfrm>
            <a:off x="740664" y="3687775"/>
            <a:ext cx="209398" cy="209398"/>
          </a:xfrm>
          <a:prstGeom prst="roundRect">
            <a:avLst>
              <a:gd name="adj" fmla="val 99246"/>
            </a:avLst>
          </a:prstGeom>
          <a:solidFill>
            <a:srgbClr val="F59E0B"/>
          </a:solidFill>
        </p:spPr>
      </p:sp>
      <p:sp>
        <p:nvSpPr>
          <p:cNvPr id="49" name="Text 41"/>
          <p:cNvSpPr txBox="1"/>
          <p:nvPr/>
        </p:nvSpPr>
        <p:spPr>
          <a:xfrm>
            <a:off x="815645" y="3701491"/>
            <a:ext cx="1581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4</a:t>
            </a:r>
            <a:endParaRPr lang="en-US" sz="900" dirty="0"/>
          </a:p>
        </p:txBody>
      </p:sp>
      <p:sp>
        <p:nvSpPr>
          <p:cNvPr id="50" name="Text 42"/>
          <p:cNvSpPr txBox="1"/>
          <p:nvPr/>
        </p:nvSpPr>
        <p:spPr>
          <a:xfrm>
            <a:off x="1041502" y="3706978"/>
            <a:ext cx="13341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Explicit Constraints</a:t>
            </a:r>
            <a:endParaRPr lang="en-US" sz="1200" dirty="0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900830" y="3726180"/>
            <a:ext cx="133502" cy="133502"/>
          </a:xfrm>
          <a:prstGeom prst="rect">
            <a:avLst/>
          </a:prstGeom>
        </p:spPr>
      </p:pic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40664" y="4038905"/>
            <a:ext cx="114300" cy="114300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854964" y="4048049"/>
            <a:ext cx="314919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Set boundaries to prevent hallucinations or unwanted libraries.</a:t>
            </a:r>
            <a:endParaRPr lang="en-US" sz="900" dirty="0"/>
          </a:p>
        </p:txBody>
      </p:sp>
      <p:sp>
        <p:nvSpPr>
          <p:cNvPr id="54" name="Shape 44"/>
          <p:cNvSpPr/>
          <p:nvPr/>
        </p:nvSpPr>
        <p:spPr>
          <a:xfrm>
            <a:off x="740664" y="4263847"/>
            <a:ext cx="3295498" cy="1638605"/>
          </a:xfrm>
          <a:prstGeom prst="roundRect">
            <a:avLst>
              <a:gd name="adj" fmla="val 1947"/>
            </a:avLst>
          </a:prstGeom>
          <a:solidFill>
            <a:srgbClr val="FFFBEB"/>
          </a:solidFill>
        </p:spPr>
      </p:sp>
      <p:sp>
        <p:nvSpPr>
          <p:cNvPr id="55" name="Shape 45"/>
          <p:cNvSpPr/>
          <p:nvPr/>
        </p:nvSpPr>
        <p:spPr>
          <a:xfrm>
            <a:off x="740664" y="4263847"/>
            <a:ext cx="28346" cy="1638605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6" name="Text 46"/>
          <p:cNvSpPr txBox="1"/>
          <p:nvPr/>
        </p:nvSpPr>
        <p:spPr>
          <a:xfrm>
            <a:off x="845820" y="4938674"/>
            <a:ext cx="962863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PROMPT EXAMPLE</a:t>
            </a:r>
            <a:endParaRPr lang="en-US" sz="800" dirty="0"/>
          </a:p>
        </p:txBody>
      </p:sp>
      <p:sp>
        <p:nvSpPr>
          <p:cNvPr id="57" name="Text 47"/>
          <p:cNvSpPr txBox="1"/>
          <p:nvPr/>
        </p:nvSpPr>
        <p:spPr>
          <a:xfrm>
            <a:off x="845820" y="5082235"/>
            <a:ext cx="27057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"Use matplotlib only, no seaborn; processing time &lt; 10s"</a:t>
            </a:r>
            <a:endParaRPr lang="en-US" sz="900" dirty="0"/>
          </a:p>
        </p:txBody>
      </p:sp>
      <p:sp>
        <p:nvSpPr>
          <p:cNvPr id="58" name="Shape 48"/>
          <p:cNvSpPr/>
          <p:nvPr/>
        </p:nvSpPr>
        <p:spPr>
          <a:xfrm>
            <a:off x="4317797" y="3546958"/>
            <a:ext cx="3562502" cy="2486254"/>
          </a:xfrm>
          <a:prstGeom prst="roundRect">
            <a:avLst>
              <a:gd name="adj" fmla="val 14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59" name="Shape 49"/>
          <p:cNvSpPr/>
          <p:nvPr/>
        </p:nvSpPr>
        <p:spPr>
          <a:xfrm>
            <a:off x="4449470" y="3973982"/>
            <a:ext cx="3295498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Shape 50"/>
          <p:cNvSpPr/>
          <p:nvPr/>
        </p:nvSpPr>
        <p:spPr>
          <a:xfrm>
            <a:off x="4449470" y="3687775"/>
            <a:ext cx="209398" cy="209398"/>
          </a:xfrm>
          <a:prstGeom prst="roundRect">
            <a:avLst>
              <a:gd name="adj" fmla="val 99246"/>
            </a:avLst>
          </a:prstGeom>
          <a:solidFill>
            <a:srgbClr val="EC4899"/>
          </a:solidFill>
        </p:spPr>
      </p:sp>
      <p:sp>
        <p:nvSpPr>
          <p:cNvPr id="61" name="Text 51"/>
          <p:cNvSpPr txBox="1"/>
          <p:nvPr/>
        </p:nvSpPr>
        <p:spPr>
          <a:xfrm>
            <a:off x="4523537" y="3701491"/>
            <a:ext cx="1581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5</a:t>
            </a:r>
            <a:endParaRPr lang="en-US" sz="900" dirty="0"/>
          </a:p>
        </p:txBody>
      </p:sp>
      <p:sp>
        <p:nvSpPr>
          <p:cNvPr id="62" name="Text 52"/>
          <p:cNvSpPr txBox="1"/>
          <p:nvPr/>
        </p:nvSpPr>
        <p:spPr>
          <a:xfrm>
            <a:off x="4750308" y="3706978"/>
            <a:ext cx="1467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Iterative Optimization</a:t>
            </a:r>
            <a:endParaRPr lang="en-US" sz="1200" dirty="0"/>
          </a:p>
        </p:txBody>
      </p:sp>
      <p:pic>
        <p:nvPicPr>
          <p:cNvPr id="63" name="Image 8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608722" y="3726180"/>
            <a:ext cx="133502" cy="133502"/>
          </a:xfrm>
          <a:prstGeom prst="rect">
            <a:avLst/>
          </a:prstGeom>
        </p:spPr>
      </p:pic>
      <p:pic>
        <p:nvPicPr>
          <p:cNvPr id="64" name="Image 9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449470" y="4038905"/>
            <a:ext cx="114300" cy="114300"/>
          </a:xfrm>
          <a:prstGeom prst="rect">
            <a:avLst/>
          </a:prstGeom>
        </p:spPr>
      </p:pic>
      <p:sp>
        <p:nvSpPr>
          <p:cNvPr id="65" name="Text 53"/>
          <p:cNvSpPr txBox="1"/>
          <p:nvPr/>
        </p:nvSpPr>
        <p:spPr>
          <a:xfrm>
            <a:off x="4563770" y="4048049"/>
            <a:ext cx="281635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Do not aim for perfection in one shot. Refine in rounds.</a:t>
            </a:r>
            <a:endParaRPr lang="en-US" sz="900" dirty="0"/>
          </a:p>
        </p:txBody>
      </p:sp>
      <p:sp>
        <p:nvSpPr>
          <p:cNvPr id="66" name="Shape 54"/>
          <p:cNvSpPr/>
          <p:nvPr/>
        </p:nvSpPr>
        <p:spPr>
          <a:xfrm>
            <a:off x="4449470" y="4263847"/>
            <a:ext cx="3295498" cy="1638605"/>
          </a:xfrm>
          <a:prstGeom prst="roundRect">
            <a:avLst>
              <a:gd name="adj" fmla="val 1947"/>
            </a:avLst>
          </a:prstGeom>
          <a:solidFill>
            <a:srgbClr val="FDF2F8"/>
          </a:solidFill>
        </p:spPr>
      </p:sp>
      <p:sp>
        <p:nvSpPr>
          <p:cNvPr id="67" name="Shape 55"/>
          <p:cNvSpPr/>
          <p:nvPr/>
        </p:nvSpPr>
        <p:spPr>
          <a:xfrm>
            <a:off x="4449470" y="4263847"/>
            <a:ext cx="28346" cy="1638605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68" name="Text 56"/>
          <p:cNvSpPr txBox="1"/>
          <p:nvPr/>
        </p:nvSpPr>
        <p:spPr>
          <a:xfrm>
            <a:off x="4553712" y="4938674"/>
            <a:ext cx="657454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WORKFLOW</a:t>
            </a:r>
            <a:endParaRPr lang="en-US" sz="800" dirty="0"/>
          </a:p>
        </p:txBody>
      </p:sp>
      <p:sp>
        <p:nvSpPr>
          <p:cNvPr id="69" name="Text 57"/>
          <p:cNvSpPr txBox="1"/>
          <p:nvPr/>
        </p:nvSpPr>
        <p:spPr>
          <a:xfrm>
            <a:off x="4553712" y="5082235"/>
            <a:ext cx="31912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R1: Basic Function → R2: Error Handling → R3: Perf → R4: Docs</a:t>
            </a:r>
            <a:endParaRPr lang="en-US" sz="900" dirty="0"/>
          </a:p>
        </p:txBody>
      </p:sp>
      <p:sp>
        <p:nvSpPr>
          <p:cNvPr id="70" name="Shape 58"/>
          <p:cNvSpPr/>
          <p:nvPr/>
        </p:nvSpPr>
        <p:spPr>
          <a:xfrm>
            <a:off x="8026603" y="3546958"/>
            <a:ext cx="3562502" cy="2486254"/>
          </a:xfrm>
          <a:prstGeom prst="roundRect">
            <a:avLst>
              <a:gd name="adj" fmla="val 14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71" name="Shape 59"/>
          <p:cNvSpPr/>
          <p:nvPr/>
        </p:nvSpPr>
        <p:spPr>
          <a:xfrm>
            <a:off x="8157362" y="3973982"/>
            <a:ext cx="3295498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Shape 60"/>
          <p:cNvSpPr/>
          <p:nvPr/>
        </p:nvSpPr>
        <p:spPr>
          <a:xfrm>
            <a:off x="8157362" y="3687775"/>
            <a:ext cx="209398" cy="209398"/>
          </a:xfrm>
          <a:prstGeom prst="roundRect">
            <a:avLst>
              <a:gd name="adj" fmla="val 99246"/>
            </a:avLst>
          </a:prstGeom>
          <a:solidFill>
            <a:srgbClr val="6366F1"/>
          </a:solidFill>
        </p:spPr>
      </p:sp>
      <p:sp>
        <p:nvSpPr>
          <p:cNvPr id="73" name="Text 61"/>
          <p:cNvSpPr txBox="1"/>
          <p:nvPr/>
        </p:nvSpPr>
        <p:spPr>
          <a:xfrm>
            <a:off x="8232343" y="3701491"/>
            <a:ext cx="1581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6</a:t>
            </a:r>
            <a:endParaRPr lang="en-US" sz="900" dirty="0"/>
          </a:p>
        </p:txBody>
      </p:sp>
      <p:sp>
        <p:nvSpPr>
          <p:cNvPr id="74" name="Text 62"/>
          <p:cNvSpPr txBox="1"/>
          <p:nvPr/>
        </p:nvSpPr>
        <p:spPr>
          <a:xfrm>
            <a:off x="8458200" y="3706978"/>
            <a:ext cx="10771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Self-Review</a:t>
            </a:r>
            <a:endParaRPr lang="en-US" sz="1200" dirty="0"/>
          </a:p>
        </p:txBody>
      </p:sp>
      <p:pic>
        <p:nvPicPr>
          <p:cNvPr id="75" name="Image 10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317529" y="3726180"/>
            <a:ext cx="133502" cy="133502"/>
          </a:xfrm>
          <a:prstGeom prst="rect">
            <a:avLst/>
          </a:prstGeom>
        </p:spPr>
      </p:pic>
      <p:pic>
        <p:nvPicPr>
          <p:cNvPr id="76" name="Image 1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157362" y="4038905"/>
            <a:ext cx="114300" cy="114300"/>
          </a:xfrm>
          <a:prstGeom prst="rect">
            <a:avLst/>
          </a:prstGeom>
        </p:spPr>
      </p:pic>
      <p:sp>
        <p:nvSpPr>
          <p:cNvPr id="77" name="Text 63"/>
          <p:cNvSpPr txBox="1"/>
          <p:nvPr/>
        </p:nvSpPr>
        <p:spPr>
          <a:xfrm>
            <a:off x="8271662" y="4048049"/>
            <a:ext cx="317754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Use AI's reflection capability to spot bugs before running code.</a:t>
            </a:r>
            <a:endParaRPr lang="en-US" sz="900" dirty="0"/>
          </a:p>
        </p:txBody>
      </p:sp>
      <p:sp>
        <p:nvSpPr>
          <p:cNvPr id="78" name="Shape 64"/>
          <p:cNvSpPr/>
          <p:nvPr/>
        </p:nvSpPr>
        <p:spPr>
          <a:xfrm>
            <a:off x="8157362" y="4263847"/>
            <a:ext cx="3295498" cy="1638605"/>
          </a:xfrm>
          <a:prstGeom prst="roundRect">
            <a:avLst>
              <a:gd name="adj" fmla="val 1947"/>
            </a:avLst>
          </a:prstGeom>
          <a:solidFill>
            <a:srgbClr val="E0E7FF"/>
          </a:solidFill>
        </p:spPr>
      </p:sp>
      <p:sp>
        <p:nvSpPr>
          <p:cNvPr id="79" name="Shape 65"/>
          <p:cNvSpPr/>
          <p:nvPr/>
        </p:nvSpPr>
        <p:spPr>
          <a:xfrm>
            <a:off x="8157362" y="4263847"/>
            <a:ext cx="28346" cy="1638605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80" name="Text 66"/>
          <p:cNvSpPr txBox="1"/>
          <p:nvPr/>
        </p:nvSpPr>
        <p:spPr>
          <a:xfrm>
            <a:off x="8262518" y="4864608"/>
            <a:ext cx="962863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PROMPT EXAMPLE</a:t>
            </a:r>
            <a:endParaRPr lang="en-US" sz="800" dirty="0"/>
          </a:p>
        </p:txBody>
      </p:sp>
      <p:sp>
        <p:nvSpPr>
          <p:cNvPr id="81" name="Text 67"/>
          <p:cNvSpPr txBox="1"/>
          <p:nvPr/>
        </p:nvSpPr>
        <p:spPr>
          <a:xfrm>
            <a:off x="8262518" y="5007254"/>
            <a:ext cx="3105302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"Please review the code above for potential memory leaks &amp; edge cases."</a:t>
            </a:r>
            <a:endParaRPr lang="en-US" sz="900" dirty="0"/>
          </a:p>
        </p:txBody>
      </p:sp>
      <p:sp>
        <p:nvSpPr>
          <p:cNvPr id="82" name="Shape 68"/>
          <p:cNvSpPr/>
          <p:nvPr/>
        </p:nvSpPr>
        <p:spPr>
          <a:xfrm>
            <a:off x="609905" y="6179515"/>
            <a:ext cx="10972800" cy="381305"/>
          </a:xfrm>
          <a:prstGeom prst="roundRect">
            <a:avLst>
              <a:gd name="adj" fmla="val 47962"/>
            </a:avLst>
          </a:prstGeom>
          <a:solidFill>
            <a:srgbClr val="F1F5F9"/>
          </a:solidFill>
        </p:spPr>
      </p:sp>
      <p:pic>
        <p:nvPicPr>
          <p:cNvPr id="83" name="Image 12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92785" y="6300216"/>
            <a:ext cx="133502" cy="133502"/>
          </a:xfrm>
          <a:prstGeom prst="rect">
            <a:avLst/>
          </a:prstGeom>
        </p:spPr>
      </p:pic>
      <p:sp>
        <p:nvSpPr>
          <p:cNvPr id="84" name="Text 69"/>
          <p:cNvSpPr txBox="1"/>
          <p:nvPr/>
        </p:nvSpPr>
        <p:spPr>
          <a:xfrm>
            <a:off x="1002182" y="6290158"/>
            <a:ext cx="399592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Follow these 6 tips to reduce 80% of invalid dialogue &amp; debugging time.</a:t>
            </a:r>
            <a:endParaRPr lang="en-US" sz="1000" dirty="0"/>
          </a:p>
        </p:txBody>
      </p:sp>
      <p:pic>
        <p:nvPicPr>
          <p:cNvPr id="85" name="Image 13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0379354" y="6300216"/>
            <a:ext cx="133502" cy="133502"/>
          </a:xfrm>
          <a:prstGeom prst="rect">
            <a:avLst/>
          </a:prstGeom>
        </p:spPr>
      </p:pic>
      <p:sp>
        <p:nvSpPr>
          <p:cNvPr id="86" name="Text 70"/>
          <p:cNvSpPr txBox="1"/>
          <p:nvPr/>
        </p:nvSpPr>
        <p:spPr>
          <a:xfrm>
            <a:off x="10588752" y="6290158"/>
            <a:ext cx="9198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Desk Checklist</a:t>
            </a:r>
            <a:endParaRPr lang="en-US" sz="1000" dirty="0"/>
          </a:p>
        </p:txBody>
      </p:sp>
      <p:sp>
        <p:nvSpPr>
          <p:cNvPr id="87" name="Text 71"/>
          <p:cNvSpPr txBox="1"/>
          <p:nvPr/>
        </p:nvSpPr>
        <p:spPr>
          <a:xfrm>
            <a:off x="11505895" y="6334049"/>
            <a:ext cx="400507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24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457200" y="223114"/>
            <a:ext cx="4902098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Summary: Cognition × Methods × Tools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56225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5770778" y="295351"/>
            <a:ext cx="27432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AI-Assisted Research Programming Recap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44575"/>
            <a:ext cx="3610051" cy="4552798"/>
          </a:xfrm>
          <a:prstGeom prst="roundRect">
            <a:avLst>
              <a:gd name="adj" fmla="val 5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" y="954634"/>
            <a:ext cx="3590849" cy="533095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10" name="Shape 8"/>
          <p:cNvSpPr/>
          <p:nvPr/>
        </p:nvSpPr>
        <p:spPr>
          <a:xfrm>
            <a:off x="466344" y="1478585"/>
            <a:ext cx="3590849" cy="9144"/>
          </a:xfrm>
          <a:prstGeom prst="rect">
            <a:avLst/>
          </a:prstGeom>
          <a:solidFill>
            <a:srgbClr val="BFDBFE"/>
          </a:solidFill>
        </p:spPr>
      </p:sp>
      <p:sp>
        <p:nvSpPr>
          <p:cNvPr id="11" name="Shape 9"/>
          <p:cNvSpPr/>
          <p:nvPr/>
        </p:nvSpPr>
        <p:spPr>
          <a:xfrm>
            <a:off x="649224" y="1063447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3B82F6"/>
          </a:solidFill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5178" y="1149401"/>
            <a:ext cx="133502" cy="13350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76249" y="1119226"/>
            <a:ext cx="1764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Three Core Cognitions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" y="2678278"/>
            <a:ext cx="3343961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Paradigm Shift: From "Writing Code" to "Describing Needs"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" y="3258007"/>
            <a:ext cx="3343961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Mode Choice: Vibe Coding for speed, Spec-Driven for reliability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" y="3836822"/>
            <a:ext cx="3343961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Tool Mindset: No "best tool," only best combinations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92194" y="944575"/>
            <a:ext cx="3610051" cy="4552798"/>
          </a:xfrm>
          <a:prstGeom prst="roundRect">
            <a:avLst>
              <a:gd name="adj" fmla="val 5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02252" y="954634"/>
            <a:ext cx="3590849" cy="533095"/>
          </a:xfrm>
          <a:prstGeom prst="rect">
            <a:avLst/>
          </a:prstGeom>
          <a:solidFill>
            <a:srgbClr val="ECFDF5"/>
          </a:solidFill>
        </p:spPr>
      </p:sp>
      <p:sp>
        <p:nvSpPr>
          <p:cNvPr id="19" name="Shape 16"/>
          <p:cNvSpPr/>
          <p:nvPr/>
        </p:nvSpPr>
        <p:spPr>
          <a:xfrm>
            <a:off x="4302252" y="1478585"/>
            <a:ext cx="3590849" cy="9144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20" name="Shape 17"/>
          <p:cNvSpPr/>
          <p:nvPr/>
        </p:nvSpPr>
        <p:spPr>
          <a:xfrm>
            <a:off x="4485132" y="1063447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10B981"/>
          </a:solidFill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rcRect l="-2838" r="-2838"/>
          <a:stretch>
            <a:fillRect/>
          </a:stretch>
        </p:blipFill>
        <p:spPr>
          <a:xfrm>
            <a:off x="4575658" y="1149401"/>
            <a:ext cx="123444" cy="13350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911242" y="1119226"/>
            <a:ext cx="19074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Three Practical Methods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4485132" y="2678278"/>
            <a:ext cx="3343961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Prompt Engineering: 5W1H framework &amp; role constraints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4485132" y="3258007"/>
            <a:ext cx="3343961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Dev Levels: Spec-First / Anchored / As-Source three tiers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4485132" y="3836822"/>
            <a:ext cx="3343961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Context: Layered management &amp; precise refs (@docs, @code)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128102" y="944575"/>
            <a:ext cx="3610051" cy="4552798"/>
          </a:xfrm>
          <a:prstGeom prst="roundRect">
            <a:avLst>
              <a:gd name="adj" fmla="val 5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137246" y="954634"/>
            <a:ext cx="3590849" cy="533095"/>
          </a:xfrm>
          <a:prstGeom prst="rect">
            <a:avLst/>
          </a:prstGeom>
          <a:solidFill>
            <a:srgbClr val="F5F3FF"/>
          </a:solidFill>
        </p:spPr>
      </p:sp>
      <p:sp>
        <p:nvSpPr>
          <p:cNvPr id="28" name="Shape 24"/>
          <p:cNvSpPr/>
          <p:nvPr/>
        </p:nvSpPr>
        <p:spPr>
          <a:xfrm>
            <a:off x="8137246" y="1478585"/>
            <a:ext cx="3590849" cy="9144"/>
          </a:xfrm>
          <a:prstGeom prst="rect">
            <a:avLst/>
          </a:prstGeom>
          <a:solidFill>
            <a:srgbClr val="DDD6FE"/>
          </a:solidFill>
        </p:spPr>
      </p:sp>
      <p:sp>
        <p:nvSpPr>
          <p:cNvPr id="29" name="Shape 25"/>
          <p:cNvSpPr/>
          <p:nvPr/>
        </p:nvSpPr>
        <p:spPr>
          <a:xfrm>
            <a:off x="8320126" y="1063447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8B5CF6"/>
          </a:solidFill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406079" y="1149401"/>
            <a:ext cx="133502" cy="13350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747150" y="1119226"/>
            <a:ext cx="16504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Three Tool Strategies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8320126" y="3021178"/>
            <a:ext cx="32580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Zero Budget: Antigravity + Trae (Free &amp; Powerful)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8320126" y="3372307"/>
            <a:ext cx="29151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Standard: Cursor Pro ($20/mo) + Gemini CLI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8320126" y="3722522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Enterprise: Kiro (Spec-Driven) + Cursor Team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457200" y="5722315"/>
            <a:ext cx="11277295" cy="952805"/>
          </a:xfrm>
          <a:prstGeom prst="roundRect">
            <a:avLst>
              <a:gd name="adj" fmla="val 11516"/>
            </a:avLst>
          </a:prstGeom>
          <a:solidFill>
            <a:srgbClr val="1E293B"/>
          </a:solidFill>
          <a:effectLst>
            <a:outerShdw blurRad="139700" dist="1016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457200" y="5722315"/>
            <a:ext cx="57607" cy="952805"/>
          </a:xfrm>
          <a:prstGeom prst="rect">
            <a:avLst/>
          </a:prstGeom>
          <a:solidFill>
            <a:srgbClr val="FBBF24"/>
          </a:solidFill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4"/>
          <a:srcRect t="-54" b="-54"/>
          <a:stretch>
            <a:fillRect/>
          </a:stretch>
        </p:blipFill>
        <p:spPr>
          <a:xfrm>
            <a:off x="743407" y="5646420"/>
            <a:ext cx="533095" cy="609905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0" y="6782105"/>
            <a:ext cx="4067251" cy="7589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9" name="Shape 33"/>
          <p:cNvSpPr/>
          <p:nvPr/>
        </p:nvSpPr>
        <p:spPr>
          <a:xfrm>
            <a:off x="4063594" y="6782105"/>
            <a:ext cx="4067251" cy="75895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0" name="Shape 34"/>
          <p:cNvSpPr/>
          <p:nvPr/>
        </p:nvSpPr>
        <p:spPr>
          <a:xfrm>
            <a:off x="8128102" y="6782105"/>
            <a:ext cx="4067251" cy="75895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41" name="Text 35"/>
          <p:cNvSpPr txBox="1"/>
          <p:nvPr/>
        </p:nvSpPr>
        <p:spPr>
          <a:xfrm>
            <a:off x="3399739" y="5973775"/>
            <a:ext cx="558424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"AI is the copilot; you are the pilot. Master specs &amp; tools for 10x productivity."</a:t>
            </a:r>
            <a:endParaRPr lang="en-US" sz="1300" dirty="0"/>
          </a:p>
        </p:txBody>
      </p:sp>
      <p:sp>
        <p:nvSpPr>
          <p:cNvPr id="42" name="Text 36"/>
          <p:cNvSpPr txBox="1"/>
          <p:nvPr/>
        </p:nvSpPr>
        <p:spPr>
          <a:xfrm>
            <a:off x="4613148" y="6247181"/>
            <a:ext cx="313273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Always remember: Validate, Test, and Think Critically.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11505895" y="6334049"/>
            <a:ext cx="400507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23223</Words>
  <Application>WPS 表格</Application>
  <PresentationFormat>On-screen Show (16:9)</PresentationFormat>
  <Paragraphs>1865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57" baseType="lpstr">
      <vt:lpstr>Arial</vt:lpstr>
      <vt:lpstr>宋体</vt:lpstr>
      <vt:lpstr>Wingdings</vt:lpstr>
      <vt:lpstr>Times New Roman</vt:lpstr>
      <vt:lpstr>Times New Roman</vt:lpstr>
      <vt:lpstr>Times New Roman</vt:lpstr>
      <vt:lpstr>ui-monospace</vt:lpstr>
      <vt:lpstr>苹方-简</vt:lpstr>
      <vt:lpstr>ui-monospace</vt:lpstr>
      <vt:lpstr>ui-monospace</vt:lpstr>
      <vt:lpstr>ui-serif</vt:lpstr>
      <vt:lpstr>ui-serif</vt:lpstr>
      <vt:lpstr>ui-serif</vt:lpstr>
      <vt:lpstr>Calibri</vt:lpstr>
      <vt:lpstr>Helvetica Neue</vt:lpstr>
      <vt:lpstr>微软雅黑</vt:lpstr>
      <vt:lpstr>汉仪旗黑</vt:lpstr>
      <vt:lpstr>宋体</vt:lpstr>
      <vt:lpstr>Arial Unicode MS</vt:lpstr>
      <vt:lpstr>等线</vt:lpstr>
      <vt:lpstr>汉仪中等线KW</vt:lpstr>
      <vt:lpstr>汉仪书宋二KW</vt:lpstr>
      <vt:lpstr>Consolas</vt:lpstr>
      <vt:lpstr>Consolas</vt:lpstr>
      <vt:lpstr>Consolas</vt:lpstr>
      <vt:lpstr>Courier New</vt:lpstr>
      <vt:lpstr>Courier New</vt:lpstr>
      <vt:lpstr>Courier New</vt:lpstr>
      <vt:lpstr>Apple Color Emoji</vt:lpstr>
      <vt:lpstr>Times New Roman Bold</vt:lpstr>
      <vt:lpstr>Roboto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bruce</cp:lastModifiedBy>
  <cp:revision>35</cp:revision>
  <dcterms:created xsi:type="dcterms:W3CDTF">2026-01-08T23:46:22Z</dcterms:created>
  <dcterms:modified xsi:type="dcterms:W3CDTF">2026-01-08T23:46:22Z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B7B576ABFF971F47CC3F6069E30491AF_42</vt:lpwstr>
  </property>
  <property fmtid="{D5CDD505-2E9C-101B-9397-08002B2CF9AE}" pid="3" name="KSOProductBuildVer">
    <vt:lpwstr>2052-12.1.24031.24031</vt:lpwstr>
  </property>
</Properties>
</file>