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74" r:id="rId3"/>
    <p:sldId id="276" r:id="rId4"/>
    <p:sldId id="280" r:id="rId5"/>
    <p:sldId id="278" r:id="rId6"/>
    <p:sldId id="287" r:id="rId7"/>
    <p:sldId id="288" r:id="rId8"/>
    <p:sldId id="281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C7C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BE88D-1F7F-764A-B86F-4A20809C85AC}" v="379" dt="2025-12-06T02:37:38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40"/>
    <p:restoredTop sz="94589"/>
  </p:normalViewPr>
  <p:slideViewPr>
    <p:cSldViewPr snapToGrid="0" snapToObjects="1" showGuides="1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12/9/25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6EC7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Garamond" panose="02020404030301010803" pitchFamily="18" charset="0"/>
                <a:ea typeface="Garamond" panose="02020404030301010803" pitchFamily="18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rgbClr val="6EC7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Garamond" panose="02020404030301010803" pitchFamily="18" charset="0"/>
                <a:ea typeface="Garamond" panose="02020404030301010803" pitchFamily="18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aramond" panose="02020404030301010803" pitchFamily="18" charset="0"/>
                <a:ea typeface="Garamond" panose="02020404030301010803" pitchFamily="18" charset="0"/>
                <a:cs typeface="Garamond" panose="020204040303010108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0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79078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0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000000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000000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rgbClr val="000000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rgbClr val="000000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rgbClr val="000000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rgbClr val="000000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juliadynamics.github.io/Agents.jl" TargetMode="External"/><Relationship Id="rId13" Type="http://schemas.openxmlformats.org/officeDocument/2006/relationships/hyperlink" Target="https://github.com/azvoleff/pyabm" TargetMode="External"/><Relationship Id="rId3" Type="http://schemas.openxmlformats.org/officeDocument/2006/relationships/hyperlink" Target="https://www.swarm.org/" TargetMode="External"/><Relationship Id="rId7" Type="http://schemas.openxmlformats.org/officeDocument/2006/relationships/hyperlink" Target="https://www.anylogic.com/" TargetMode="External"/><Relationship Id="rId12" Type="http://schemas.openxmlformats.org/officeDocument/2006/relationships/hyperlink" Target="https://github.com/hsayama/PyCX" TargetMode="External"/><Relationship Id="rId2" Type="http://schemas.openxmlformats.org/officeDocument/2006/relationships/hyperlink" Target="https://ccl.northwestern.edu/netlogo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ama-platform.org/" TargetMode="External"/><Relationship Id="rId11" Type="http://schemas.openxmlformats.org/officeDocument/2006/relationships/hyperlink" Target="https://agentpy.readthedocs.io/" TargetMode="External"/><Relationship Id="rId5" Type="http://schemas.openxmlformats.org/officeDocument/2006/relationships/hyperlink" Target="https://cs.gmu.edu/~eclab/projects/mason" TargetMode="External"/><Relationship Id="rId15" Type="http://schemas.openxmlformats.org/officeDocument/2006/relationships/hyperlink" Target="https://github.com/ABM4ALL/Melodie" TargetMode="External"/><Relationship Id="rId10" Type="http://schemas.openxmlformats.org/officeDocument/2006/relationships/hyperlink" Target="https://repast.github.io/repast4py.site" TargetMode="External"/><Relationship Id="rId4" Type="http://schemas.openxmlformats.org/officeDocument/2006/relationships/hyperlink" Target="https://repast.github.io/" TargetMode="External"/><Relationship Id="rId9" Type="http://schemas.openxmlformats.org/officeDocument/2006/relationships/hyperlink" Target="https://krabmaga.github.io/" TargetMode="External"/><Relationship Id="rId14" Type="http://schemas.openxmlformats.org/officeDocument/2006/relationships/hyperlink" Target="https://github.com/sim-x/sim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hyperlink" Target="https://developers.google.com/season-of-docs?hl=zh-cn" TargetMode="External"/><Relationship Id="rId12" Type="http://schemas.openxmlformats.org/officeDocument/2006/relationships/image" Target="../media/image12.sv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s.google.com/open-source/gsoc/help/student-stipends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developers.google.com/open-source/gsoc/faq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numfocus.org/programs/small-development-grants" TargetMode="External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socguide.vercel.app/" TargetMode="External"/><Relationship Id="rId2" Type="http://schemas.openxmlformats.org/officeDocument/2006/relationships/hyperlink" Target="https://mesa.readthedocs.io/latest/GSoC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SongshGeoLab/ABSESp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hyperlink" Target="https://github.com/projectmesa/mesa/blob/main/CODE_OF_CONDUCT.md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Mesa </a:t>
            </a:r>
            <a:r>
              <a:rPr lang="en-US" dirty="0" err="1"/>
              <a:t>项目介绍</a:t>
            </a:r>
            <a:endParaRPr lang="en-US" dirty="0"/>
          </a:p>
        </p:txBody>
      </p:sp>
      <p:sp>
        <p:nvSpPr>
          <p:cNvPr id="7" name="Sub-topic">
            <a:extLst>
              <a:ext uri="{FF2B5EF4-FFF2-40B4-BE49-F238E27FC236}">
                <a16:creationId xmlns:a16="http://schemas.microsoft.com/office/drawing/2014/main" id="{9C71998B-4791-F94C-B599-D1D7674364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Boyu Wang</a:t>
            </a:r>
          </a:p>
          <a:p>
            <a:r>
              <a:rPr lang="en-US" sz="2000" dirty="0"/>
              <a:t>2025.12.07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446176D3-476E-427A-C60D-E145D8D0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60" y="4020792"/>
            <a:ext cx="3878093" cy="2837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04E0C8-BD64-8F4B-1C68-479E8260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01018"/>
            <a:ext cx="11122152" cy="1089529"/>
          </a:xfrm>
        </p:spPr>
        <p:txBody>
          <a:bodyPr/>
          <a:lstStyle/>
          <a:p>
            <a:r>
              <a:rPr lang="en-US" dirty="0"/>
              <a:t>Mesa: Agent-Based Modeling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F9E4-220A-AE97-769A-F6D784165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dirty="0"/>
              <a:t>Open-source project created in 2014</a:t>
            </a:r>
          </a:p>
          <a:p>
            <a:pPr>
              <a:buClr>
                <a:srgbClr val="6EC7CB"/>
              </a:buClr>
            </a:pPr>
            <a:r>
              <a:rPr lang="en-US" dirty="0"/>
              <a:t>~110k downloads per month (</a:t>
            </a:r>
            <a:r>
              <a:rPr lang="en-US" dirty="0" err="1"/>
              <a:t>PyPI</a:t>
            </a:r>
            <a:r>
              <a:rPr lang="en-US" dirty="0"/>
              <a:t> statistics as of Dec 2025)</a:t>
            </a:r>
          </a:p>
          <a:p>
            <a:pPr>
              <a:buClr>
                <a:srgbClr val="6EC7CB"/>
              </a:buClr>
            </a:pPr>
            <a:r>
              <a:rPr lang="en-US" dirty="0"/>
              <a:t>600+ citations of three Mesa papers</a:t>
            </a:r>
          </a:p>
          <a:p>
            <a:pPr>
              <a:buClr>
                <a:srgbClr val="6EC7CB"/>
              </a:buClr>
            </a:pPr>
            <a:r>
              <a:rPr lang="en-US" dirty="0"/>
              <a:t>Used in various fields including health, energy, technical, biological, ecological…</a:t>
            </a:r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3A5CB-BD2C-8BD5-42B1-B1C7022861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0DBC5D8A-61E9-CAC1-0AB4-2235B057A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602" y="1839292"/>
            <a:ext cx="3878093" cy="50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0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B3D-6B37-5735-9882-71A188D4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009C13-3794-7B0B-016B-0D5230B7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其它</a:t>
            </a:r>
            <a:r>
              <a:rPr lang="en-US" dirty="0"/>
              <a:t> ABM </a:t>
            </a:r>
            <a:r>
              <a:rPr lang="en-US" dirty="0" err="1"/>
              <a:t>框架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55895C-192D-B20D-8AC2-B85792D5D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cap="none" dirty="0"/>
              <a:t>Non-Python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AEEA28-1990-C1E0-ED34-1F9A0562DD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sz="1600" dirty="0" err="1"/>
              <a:t>NetLogo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https://</a:t>
            </a:r>
            <a:r>
              <a:rPr lang="en-US" sz="1600" dirty="0" err="1">
                <a:hlinkClick r:id="rId2"/>
              </a:rPr>
              <a:t>ccl.northwestern.edu</a:t>
            </a:r>
            <a:r>
              <a:rPr lang="en-US" sz="1600" dirty="0">
                <a:hlinkClick r:id="rId2"/>
              </a:rPr>
              <a:t>/</a:t>
            </a:r>
            <a:r>
              <a:rPr lang="en-US" sz="1600" dirty="0" err="1">
                <a:hlinkClick r:id="rId2"/>
              </a:rPr>
              <a:t>netlogo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/>
              <a:t>Swarm </a:t>
            </a:r>
            <a:r>
              <a:rPr lang="en-US" sz="1600" dirty="0">
                <a:hlinkClick r:id="rId3"/>
              </a:rPr>
              <a:t>https://</a:t>
            </a:r>
            <a:r>
              <a:rPr lang="en-US" sz="1600" dirty="0" err="1">
                <a:hlinkClick r:id="rId3"/>
              </a:rPr>
              <a:t>www.swarm.org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/>
              <a:t>Repast </a:t>
            </a:r>
            <a:r>
              <a:rPr lang="en-US" sz="1600" dirty="0">
                <a:hlinkClick r:id="rId4"/>
              </a:rPr>
              <a:t>https://</a:t>
            </a:r>
            <a:r>
              <a:rPr lang="en-US" sz="1600" dirty="0" err="1">
                <a:hlinkClick r:id="rId4"/>
              </a:rPr>
              <a:t>repast.github.io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/>
              <a:t>MASON </a:t>
            </a:r>
            <a:r>
              <a:rPr lang="en-US" sz="1600" dirty="0">
                <a:hlinkClick r:id="rId5"/>
              </a:rPr>
              <a:t>https://</a:t>
            </a:r>
            <a:r>
              <a:rPr lang="en-US" sz="1600" dirty="0" err="1">
                <a:hlinkClick r:id="rId5"/>
              </a:rPr>
              <a:t>cs.gmu.edu</a:t>
            </a:r>
            <a:r>
              <a:rPr lang="en-US" sz="1600" dirty="0">
                <a:hlinkClick r:id="rId5"/>
              </a:rPr>
              <a:t>/~</a:t>
            </a:r>
            <a:r>
              <a:rPr lang="en-US" sz="1600" dirty="0" err="1">
                <a:hlinkClick r:id="rId5"/>
              </a:rPr>
              <a:t>eclab</a:t>
            </a:r>
            <a:r>
              <a:rPr lang="en-US" sz="1600" dirty="0">
                <a:hlinkClick r:id="rId5"/>
              </a:rPr>
              <a:t>/projects/mason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/>
              <a:t>GAMA </a:t>
            </a:r>
            <a:r>
              <a:rPr lang="en-US" sz="1600" dirty="0">
                <a:hlinkClick r:id="rId6"/>
              </a:rPr>
              <a:t>https://</a:t>
            </a:r>
            <a:r>
              <a:rPr lang="en-US" sz="1600" dirty="0" err="1">
                <a:hlinkClick r:id="rId6"/>
              </a:rPr>
              <a:t>gama-platform.org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AnyLogic</a:t>
            </a:r>
            <a:r>
              <a:rPr lang="en-US" sz="1600" dirty="0"/>
              <a:t> </a:t>
            </a:r>
            <a:r>
              <a:rPr lang="en-US" sz="1600" dirty="0">
                <a:hlinkClick r:id="rId7"/>
              </a:rPr>
              <a:t>https://</a:t>
            </a:r>
            <a:r>
              <a:rPr lang="en-US" sz="1600" dirty="0" err="1">
                <a:hlinkClick r:id="rId7"/>
              </a:rPr>
              <a:t>www.anylogic.com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Agents.jl</a:t>
            </a:r>
            <a:r>
              <a:rPr lang="en-US" sz="1600" dirty="0"/>
              <a:t> </a:t>
            </a:r>
            <a:r>
              <a:rPr lang="en-US" sz="1600" dirty="0">
                <a:hlinkClick r:id="rId8"/>
              </a:rPr>
              <a:t>https://</a:t>
            </a:r>
            <a:r>
              <a:rPr lang="en-US" sz="1600" dirty="0" err="1">
                <a:hlinkClick r:id="rId8"/>
              </a:rPr>
              <a:t>juliadynamics.github.io</a:t>
            </a:r>
            <a:r>
              <a:rPr lang="en-US" sz="1600" dirty="0">
                <a:hlinkClick r:id="rId8"/>
              </a:rPr>
              <a:t>/</a:t>
            </a:r>
            <a:r>
              <a:rPr lang="en-US" sz="1600" dirty="0" err="1">
                <a:hlinkClick r:id="rId8"/>
              </a:rPr>
              <a:t>Agents.jl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krABMaga</a:t>
            </a:r>
            <a:r>
              <a:rPr lang="en-US" sz="1600" dirty="0"/>
              <a:t> </a:t>
            </a:r>
            <a:r>
              <a:rPr lang="en-US" sz="1600" dirty="0">
                <a:hlinkClick r:id="rId9"/>
              </a:rPr>
              <a:t>https://</a:t>
            </a:r>
            <a:r>
              <a:rPr lang="en-US" sz="1600" dirty="0" err="1">
                <a:hlinkClick r:id="rId9"/>
              </a:rPr>
              <a:t>krabmaga.github.io</a:t>
            </a:r>
            <a:endParaRPr lang="en-US" sz="1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031EFF-6DAC-8087-6858-49E096C4E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85416"/>
            <a:ext cx="5138928" cy="389979"/>
          </a:xfrm>
        </p:spPr>
        <p:txBody>
          <a:bodyPr/>
          <a:lstStyle/>
          <a:p>
            <a:pPr algn="ctr"/>
            <a:r>
              <a:rPr lang="en-US" cap="none" dirty="0"/>
              <a:t>Python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1232595-5910-F174-3432-300179F048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sz="1600" dirty="0"/>
              <a:t>Repast4Py </a:t>
            </a:r>
            <a:r>
              <a:rPr lang="en-US" sz="1600" dirty="0">
                <a:hlinkClick r:id="rId10"/>
              </a:rPr>
              <a:t>https://</a:t>
            </a:r>
            <a:r>
              <a:rPr lang="en-US" sz="1600" dirty="0" err="1">
                <a:hlinkClick r:id="rId10"/>
              </a:rPr>
              <a:t>repast.github.io</a:t>
            </a:r>
            <a:r>
              <a:rPr lang="en-US" sz="1600" dirty="0">
                <a:hlinkClick r:id="rId10"/>
              </a:rPr>
              <a:t>/repast4py.site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AgentPy</a:t>
            </a:r>
            <a:r>
              <a:rPr lang="en-US" sz="1600" dirty="0"/>
              <a:t> </a:t>
            </a:r>
            <a:r>
              <a:rPr lang="en-US" sz="1600" dirty="0">
                <a:hlinkClick r:id="rId11"/>
              </a:rPr>
              <a:t>https://</a:t>
            </a:r>
            <a:r>
              <a:rPr lang="en-US" sz="1600" dirty="0" err="1">
                <a:hlinkClick r:id="rId11"/>
              </a:rPr>
              <a:t>agentpy.readthedocs.io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PyCX</a:t>
            </a:r>
            <a:r>
              <a:rPr lang="en-US" sz="1600" dirty="0"/>
              <a:t> </a:t>
            </a:r>
            <a:r>
              <a:rPr lang="en-US" sz="1600" dirty="0">
                <a:hlinkClick r:id="rId12"/>
              </a:rPr>
              <a:t>https://</a:t>
            </a:r>
            <a:r>
              <a:rPr lang="en-US" sz="1600" dirty="0" err="1">
                <a:hlinkClick r:id="rId12"/>
              </a:rPr>
              <a:t>github.com</a:t>
            </a:r>
            <a:r>
              <a:rPr lang="en-US" sz="1600" dirty="0">
                <a:hlinkClick r:id="rId12"/>
              </a:rPr>
              <a:t>/</a:t>
            </a:r>
            <a:r>
              <a:rPr lang="en-US" sz="1600" dirty="0" err="1">
                <a:hlinkClick r:id="rId12"/>
              </a:rPr>
              <a:t>hsayama</a:t>
            </a:r>
            <a:r>
              <a:rPr lang="en-US" sz="1600" dirty="0">
                <a:hlinkClick r:id="rId12"/>
              </a:rPr>
              <a:t>/</a:t>
            </a:r>
            <a:r>
              <a:rPr lang="en-US" sz="1600" dirty="0" err="1">
                <a:hlinkClick r:id="rId12"/>
              </a:rPr>
              <a:t>PyCX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PyABM</a:t>
            </a:r>
            <a:r>
              <a:rPr lang="en-US" sz="1600" dirty="0"/>
              <a:t> </a:t>
            </a:r>
            <a:r>
              <a:rPr lang="en-US" sz="1600" dirty="0">
                <a:hlinkClick r:id="rId13"/>
              </a:rPr>
              <a:t>https://</a:t>
            </a:r>
            <a:r>
              <a:rPr lang="en-US" sz="1600" dirty="0" err="1">
                <a:hlinkClick r:id="rId13"/>
              </a:rPr>
              <a:t>github.com</a:t>
            </a:r>
            <a:r>
              <a:rPr lang="en-US" sz="1600" dirty="0">
                <a:hlinkClick r:id="rId13"/>
              </a:rPr>
              <a:t>/</a:t>
            </a:r>
            <a:r>
              <a:rPr lang="en-US" sz="1600" dirty="0" err="1">
                <a:hlinkClick r:id="rId13"/>
              </a:rPr>
              <a:t>azvoleff</a:t>
            </a:r>
            <a:r>
              <a:rPr lang="en-US" sz="1600" dirty="0">
                <a:hlinkClick r:id="rId13"/>
              </a:rPr>
              <a:t>/</a:t>
            </a:r>
            <a:r>
              <a:rPr lang="en-US" sz="1600" dirty="0" err="1">
                <a:hlinkClick r:id="rId13"/>
              </a:rPr>
              <a:t>pyabm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 err="1"/>
              <a:t>SimX</a:t>
            </a:r>
            <a:r>
              <a:rPr lang="en-US" sz="1600" dirty="0"/>
              <a:t> </a:t>
            </a:r>
            <a:r>
              <a:rPr lang="en-US" sz="1600" dirty="0">
                <a:hlinkClick r:id="rId14"/>
              </a:rPr>
              <a:t>https://</a:t>
            </a:r>
            <a:r>
              <a:rPr lang="en-US" sz="1600" dirty="0" err="1">
                <a:hlinkClick r:id="rId14"/>
              </a:rPr>
              <a:t>github.com</a:t>
            </a:r>
            <a:r>
              <a:rPr lang="en-US" sz="1600" dirty="0">
                <a:hlinkClick r:id="rId14"/>
              </a:rPr>
              <a:t>/sim-x/</a:t>
            </a:r>
            <a:r>
              <a:rPr lang="en-US" sz="1600" dirty="0" err="1">
                <a:hlinkClick r:id="rId14"/>
              </a:rPr>
              <a:t>simx</a:t>
            </a:r>
            <a:endParaRPr lang="en-US" sz="1600" dirty="0"/>
          </a:p>
          <a:p>
            <a:pPr>
              <a:buClr>
                <a:srgbClr val="6EC7CB"/>
              </a:buClr>
            </a:pPr>
            <a:r>
              <a:rPr lang="en-US" sz="1600" dirty="0"/>
              <a:t>Melodie </a:t>
            </a:r>
            <a:r>
              <a:rPr lang="en-US" sz="1600" dirty="0">
                <a:hlinkClick r:id="rId15"/>
              </a:rPr>
              <a:t>https://</a:t>
            </a:r>
            <a:r>
              <a:rPr lang="en-US" sz="1600" dirty="0" err="1">
                <a:hlinkClick r:id="rId15"/>
              </a:rPr>
              <a:t>github.com</a:t>
            </a:r>
            <a:r>
              <a:rPr lang="en-US" sz="1600" dirty="0">
                <a:hlinkClick r:id="rId15"/>
              </a:rPr>
              <a:t>/ABM4ALL/Melodie</a:t>
            </a:r>
            <a:endParaRPr lang="en-US" sz="1600" dirty="0"/>
          </a:p>
          <a:p>
            <a:pPr>
              <a:buClr>
                <a:srgbClr val="6EC7CB"/>
              </a:buClr>
            </a:pPr>
            <a:endParaRPr lang="en-US" sz="1600" dirty="0"/>
          </a:p>
          <a:p>
            <a:pPr>
              <a:buClr>
                <a:srgbClr val="6EC7CB"/>
              </a:buClr>
            </a:pP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E4148-8B65-7BE0-6966-14DE84418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9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C7AF-28C9-5CC5-D9B5-AE964043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Mesa </a:t>
            </a:r>
            <a:r>
              <a:rPr lang="en-US" dirty="0" err="1"/>
              <a:t>用户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5B3F8-EE76-3C82-A578-80D1037096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dirty="0"/>
              <a:t>University at Buffalo</a:t>
            </a:r>
          </a:p>
          <a:p>
            <a:pPr>
              <a:buClr>
                <a:srgbClr val="6EC7CB"/>
              </a:buClr>
            </a:pPr>
            <a:r>
              <a:rPr lang="en-US" dirty="0"/>
              <a:t>TU Delft (Netherlands)</a:t>
            </a:r>
          </a:p>
          <a:p>
            <a:pPr>
              <a:buClr>
                <a:srgbClr val="6EC7CB"/>
              </a:buClr>
            </a:pPr>
            <a:r>
              <a:rPr lang="en-US" dirty="0"/>
              <a:t>University of Chicago</a:t>
            </a:r>
          </a:p>
          <a:p>
            <a:pPr>
              <a:buClr>
                <a:srgbClr val="6EC7CB"/>
              </a:buClr>
            </a:pPr>
            <a:r>
              <a:rPr lang="en-US" dirty="0"/>
              <a:t>University of Pisa (Italy)</a:t>
            </a:r>
          </a:p>
          <a:p>
            <a:pPr>
              <a:buClr>
                <a:srgbClr val="6EC7CB"/>
              </a:buClr>
            </a:pPr>
            <a:r>
              <a:rPr lang="en-US" dirty="0"/>
              <a:t>National Research Council of Italy</a:t>
            </a:r>
          </a:p>
          <a:p>
            <a:pPr>
              <a:buClr>
                <a:srgbClr val="6EC7CB"/>
              </a:buClr>
            </a:pPr>
            <a:r>
              <a:rPr lang="en-US" dirty="0"/>
              <a:t>Universidad Politécnica de Madrid (Spain)</a:t>
            </a:r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160AF-3A44-BF34-88BB-9F893754BC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dirty="0"/>
              <a:t>University of Illinois (Urbana)</a:t>
            </a:r>
          </a:p>
          <a:p>
            <a:pPr>
              <a:buClr>
                <a:srgbClr val="6EC7CB"/>
              </a:buClr>
            </a:pPr>
            <a:r>
              <a:rPr lang="en-US" dirty="0"/>
              <a:t>University of Mary Washington</a:t>
            </a:r>
          </a:p>
          <a:p>
            <a:pPr>
              <a:buClr>
                <a:srgbClr val="6EC7CB"/>
              </a:buClr>
            </a:pPr>
            <a:r>
              <a:rPr lang="en-US" dirty="0" err="1"/>
              <a:t>Mitre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/>
              <a:t>Princeton University</a:t>
            </a:r>
          </a:p>
          <a:p>
            <a:pPr>
              <a:buClr>
                <a:srgbClr val="6EC7CB"/>
              </a:buClr>
            </a:pPr>
            <a:r>
              <a:rPr lang="en-US" dirty="0"/>
              <a:t>George Mason University</a:t>
            </a:r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7E0CC-48A3-4CD6-51E2-051DAF54C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8D59B-DEE2-9843-46C8-52800E692B77}"/>
              </a:ext>
            </a:extLst>
          </p:cNvPr>
          <p:cNvSpPr txBox="1"/>
          <p:nvPr/>
        </p:nvSpPr>
        <p:spPr>
          <a:xfrm>
            <a:off x="2036848" y="5363563"/>
            <a:ext cx="8285018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… goal is to be a Python 3-based alternative to other popular frameworks based in other languages such as </a:t>
            </a: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NetLogo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, Repast, or MASON. …</a:t>
            </a:r>
          </a:p>
          <a:p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algn="r"/>
            <a:r>
              <a:rPr lang="en-US" sz="1400" dirty="0">
                <a:solidFill>
                  <a:srgbClr val="000000"/>
                </a:solidFill>
                <a:latin typeface="Garamond" panose="02020404030301010803" pitchFamily="18" charset="0"/>
              </a:rPr>
              <a:t>Masad, D., &amp; Kazil, J. L. (2015, July). Mesa: An Agent-Based Modeling Framework. In SciPy (pp. 51-58).</a:t>
            </a:r>
          </a:p>
        </p:txBody>
      </p:sp>
      <p:pic>
        <p:nvPicPr>
          <p:cNvPr id="10" name="Graphic 9" descr="Open quotation mark with solid fill">
            <a:extLst>
              <a:ext uri="{FF2B5EF4-FFF2-40B4-BE49-F238E27FC236}">
                <a16:creationId xmlns:a16="http://schemas.microsoft.com/office/drawing/2014/main" id="{99F6A6E1-95F1-A7EA-4EC5-384884DDB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321866" y="6097338"/>
            <a:ext cx="760662" cy="760662"/>
          </a:xfrm>
          <a:prstGeom prst="rect">
            <a:avLst/>
          </a:prstGeom>
        </p:spPr>
      </p:pic>
      <p:pic>
        <p:nvPicPr>
          <p:cNvPr id="12" name="Graphic 11" descr="Open quotation mark with solid fill">
            <a:extLst>
              <a:ext uri="{FF2B5EF4-FFF2-40B4-BE49-F238E27FC236}">
                <a16:creationId xmlns:a16="http://schemas.microsoft.com/office/drawing/2014/main" id="{F6EA8F92-FCA3-23E5-5707-C84D80BC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6186" y="4978053"/>
            <a:ext cx="760662" cy="76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1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FA61-9FEB-506C-7B7D-D897A638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A3DD-5E42-61AF-81BF-6B558FBC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参与方式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8E69E-2E35-9974-BF25-8AC6DBF107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7" name="Picture 16" descr="Finger heart on pink background">
            <a:extLst>
              <a:ext uri="{FF2B5EF4-FFF2-40B4-BE49-F238E27FC236}">
                <a16:creationId xmlns:a16="http://schemas.microsoft.com/office/drawing/2014/main" id="{05DEA3CE-7C56-B5C1-0EB6-E443E0C5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728" y="966007"/>
            <a:ext cx="1499954" cy="1067218"/>
          </a:xfrm>
          <a:prstGeom prst="rect">
            <a:avLst/>
          </a:prstGeom>
        </p:spPr>
      </p:pic>
      <p:pic>
        <p:nvPicPr>
          <p:cNvPr id="18" name="Content Placeholder 16" descr="A blue and orange text with a white background&#10;&#10;Description automatically generated">
            <a:extLst>
              <a:ext uri="{FF2B5EF4-FFF2-40B4-BE49-F238E27FC236}">
                <a16:creationId xmlns:a16="http://schemas.microsoft.com/office/drawing/2014/main" id="{8FFECD98-F53D-72D2-3526-A35E493FD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3083"/>
          <a:stretch/>
        </p:blipFill>
        <p:spPr>
          <a:xfrm>
            <a:off x="1534281" y="2484174"/>
            <a:ext cx="1811084" cy="402977"/>
          </a:xfrm>
          <a:ln w="12700"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14E238B-C0D4-EC77-EC22-A1035969DF8F}"/>
              </a:ext>
            </a:extLst>
          </p:cNvPr>
          <p:cNvSpPr txBox="1"/>
          <p:nvPr/>
        </p:nvSpPr>
        <p:spPr>
          <a:xfrm>
            <a:off x="838321" y="3152001"/>
            <a:ext cx="3200400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6EC7CB"/>
              </a:buClr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Small Development Grants</a:t>
            </a:r>
            <a:r>
              <a:rPr lang="en-US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: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3 funding rounds per year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1 application per grant cycle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max 2 grants per year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up to $10k for each proposal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prior involvement in the project required (?)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31E7B-427A-F546-9B80-85E692D1F047}"/>
              </a:ext>
            </a:extLst>
          </p:cNvPr>
          <p:cNvSpPr txBox="1"/>
          <p:nvPr/>
        </p:nvSpPr>
        <p:spPr>
          <a:xfrm>
            <a:off x="838321" y="5668805"/>
            <a:ext cx="5955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  <a:hlinkClick r:id="rId4"/>
              </a:rPr>
              <a:t>https://numfocus.org/programs/small-development-grants</a:t>
            </a:r>
            <a:endParaRPr lang="en-US" sz="12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en-US" sz="120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</a:rPr>
              <a:t> FAQ: 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  <a:hlinkClick r:id="rId5"/>
              </a:rPr>
              <a:t>https://developers.google.com/open-source/gsoc/faq</a:t>
            </a:r>
            <a:endParaRPr lang="en-US" sz="12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</a:rPr>
              <a:t>Contributor Stipends: 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  <a:hlinkClick r:id="rId6"/>
              </a:rPr>
              <a:t>https://developers.google.com/open-source/gsoc/help/student-stipends</a:t>
            </a:r>
            <a:endParaRPr lang="en-US" sz="12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en-US" sz="120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</a:rPr>
              <a:t> Google Season of Docs: </a:t>
            </a:r>
            <a:r>
              <a:rPr lang="en-US" sz="1200" dirty="0">
                <a:solidFill>
                  <a:srgbClr val="000000"/>
                </a:solidFill>
                <a:latin typeface="Garamond" panose="02020404030301010803" pitchFamily="18" charset="0"/>
                <a:hlinkClick r:id="rId7"/>
              </a:rPr>
              <a:t>https://developers.google.com/season-of-docs?hl=zh-cn</a:t>
            </a:r>
            <a:endParaRPr lang="en-US" sz="12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8893E28-86D3-EA8F-3D6B-B35E946E55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4366" y="2489716"/>
            <a:ext cx="3200400" cy="397435"/>
          </a:xfrm>
          <a:prstGeom prst="rect">
            <a:avLst/>
          </a:prstGeom>
        </p:spPr>
      </p:pic>
      <p:pic>
        <p:nvPicPr>
          <p:cNvPr id="22" name="Picture 2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7EBBAA4-54D5-29A0-A19B-F6F8265305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3037" y="2279871"/>
            <a:ext cx="3200400" cy="817123"/>
          </a:xfrm>
          <a:prstGeom prst="rect">
            <a:avLst/>
          </a:prstGeom>
          <a:noFill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7C76AE-9069-F6F1-7DFA-8563B7DF6515}"/>
              </a:ext>
            </a:extLst>
          </p:cNvPr>
          <p:cNvSpPr txBox="1"/>
          <p:nvPr/>
        </p:nvSpPr>
        <p:spPr>
          <a:xfrm>
            <a:off x="4495679" y="3152001"/>
            <a:ext cx="32004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once per year for an open-source beginner or a student</a:t>
            </a:r>
            <a:r>
              <a:rPr lang="en-US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2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small projects: 90 hours in 8-12 weeks, $900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medium/large projects: 175/350 hours in 10-22 weeks (default 12 weeks), $1800/$3600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55078B-EC75-F19B-D3D8-C34271AA6079}"/>
              </a:ext>
            </a:extLst>
          </p:cNvPr>
          <p:cNvSpPr txBox="1"/>
          <p:nvPr/>
        </p:nvSpPr>
        <p:spPr>
          <a:xfrm>
            <a:off x="8153037" y="3152001"/>
            <a:ext cx="32004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once per year for technical writers</a:t>
            </a:r>
            <a:r>
              <a:rPr lang="en-US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3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$5k-$15k per project</a:t>
            </a:r>
          </a:p>
          <a:p>
            <a:pPr marL="285750" indent="-285750"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5-30 hours per week, from April 10 to November 22 (2024)</a:t>
            </a:r>
          </a:p>
        </p:txBody>
      </p:sp>
      <p:pic>
        <p:nvPicPr>
          <p:cNvPr id="27" name="Graphic 26" descr="Close with solid fill">
            <a:extLst>
              <a:ext uri="{FF2B5EF4-FFF2-40B4-BE49-F238E27FC236}">
                <a16:creationId xmlns:a16="http://schemas.microsoft.com/office/drawing/2014/main" id="{4F58742A-36B6-BF4A-B6A1-ABB826F6A7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96037" y="22650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2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29DC-F5BF-9465-76DC-2DFFC5E4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CE1A7-1854-3D04-CF17-2C4A3E5985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BC33C-EF18-787E-DFAC-9C181E151C55}"/>
              </a:ext>
            </a:extLst>
          </p:cNvPr>
          <p:cNvSpPr txBox="1"/>
          <p:nvPr/>
        </p:nvSpPr>
        <p:spPr>
          <a:xfrm>
            <a:off x="4495679" y="3152001"/>
            <a:ext cx="3200400" cy="12957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空间模型实战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项目管理进阶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复杂网络上的多主体建模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0AD29-DDDF-7FC1-DAEC-6648C2A9092E}"/>
              </a:ext>
            </a:extLst>
          </p:cNvPr>
          <p:cNvSpPr txBox="1"/>
          <p:nvPr/>
        </p:nvSpPr>
        <p:spPr>
          <a:xfrm>
            <a:off x="8153037" y="3152001"/>
            <a:ext cx="3200400" cy="12957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社区参与与沟通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GSoC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提案准备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Clr>
                <a:srgbClr val="6EC7CB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aramond" panose="02020404030301010803" pitchFamily="18" charset="0"/>
              </a:rPr>
              <a:t>真实项目实战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C001CA-AE2E-A2C1-A93E-CC4E865B9937}"/>
              </a:ext>
            </a:extLst>
          </p:cNvPr>
          <p:cNvSpPr txBox="1">
            <a:spLocks/>
          </p:cNvSpPr>
          <p:nvPr/>
        </p:nvSpPr>
        <p:spPr>
          <a:xfrm>
            <a:off x="838321" y="2424678"/>
            <a:ext cx="3200400" cy="393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第一阶段</a:t>
            </a:r>
            <a:r>
              <a:rPr lang="en-US" b="1" dirty="0"/>
              <a:t>: </a:t>
            </a:r>
            <a:r>
              <a:rPr lang="en-US" b="1" dirty="0" err="1"/>
              <a:t>基础入门</a:t>
            </a:r>
            <a:endParaRPr lang="en-US" b="1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FED3F6B-D2EA-2026-4806-FB5C1AC39A55}"/>
              </a:ext>
            </a:extLst>
          </p:cNvPr>
          <p:cNvSpPr txBox="1">
            <a:spLocks/>
          </p:cNvSpPr>
          <p:nvPr/>
        </p:nvSpPr>
        <p:spPr>
          <a:xfrm>
            <a:off x="4495679" y="2428993"/>
            <a:ext cx="3200400" cy="393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第二阶段</a:t>
            </a:r>
            <a:r>
              <a:rPr lang="en-US" b="1" dirty="0"/>
              <a:t>: </a:t>
            </a:r>
            <a:r>
              <a:rPr lang="en-US" b="1" dirty="0" err="1"/>
              <a:t>深度实践</a:t>
            </a:r>
            <a:endParaRPr lang="en-US" b="1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C3B66F-6326-08B3-9749-5DF71C99BAC8}"/>
              </a:ext>
            </a:extLst>
          </p:cNvPr>
          <p:cNvSpPr txBox="1">
            <a:spLocks/>
          </p:cNvSpPr>
          <p:nvPr/>
        </p:nvSpPr>
        <p:spPr>
          <a:xfrm>
            <a:off x="8153037" y="2424678"/>
            <a:ext cx="3200400" cy="393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第三阶段</a:t>
            </a:r>
            <a:r>
              <a:rPr lang="en-US" b="1" dirty="0"/>
              <a:t>: </a:t>
            </a:r>
            <a:r>
              <a:rPr lang="en-US" b="1" dirty="0" err="1"/>
              <a:t>实践项目开发</a:t>
            </a:r>
            <a:endParaRPr lang="en-US" b="1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710B86-3FC8-0DD8-74FF-0F8D83DA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 err="1"/>
              <a:t>培训计划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DD9EA98-AB3D-DDC6-642C-4A8C636A73AC}"/>
              </a:ext>
            </a:extLst>
          </p:cNvPr>
          <p:cNvSpPr txBox="1">
            <a:spLocks/>
          </p:cNvSpPr>
          <p:nvPr/>
        </p:nvSpPr>
        <p:spPr>
          <a:xfrm>
            <a:off x="838321" y="3152001"/>
            <a:ext cx="3200400" cy="2977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System Font Regular"/>
              <a:buChar char="-"/>
              <a:defRPr sz="1800" kern="1200">
                <a:solidFill>
                  <a:srgbClr val="000000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6EC7CB"/>
              </a:buClr>
            </a:pPr>
            <a:r>
              <a:rPr lang="en-US" dirty="0"/>
              <a:t>Mesa </a:t>
            </a:r>
            <a:r>
              <a:rPr lang="en-US" dirty="0" err="1"/>
              <a:t>框架入门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 err="1"/>
              <a:t>开源开发基础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/>
              <a:t>AI </a:t>
            </a:r>
            <a:r>
              <a:rPr lang="en-US" dirty="0" err="1"/>
              <a:t>辅助编程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 err="1"/>
              <a:t>模型实践进阶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6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7A0B-073C-6594-282E-09DD6A21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申请 </a:t>
            </a:r>
            <a:r>
              <a:rPr lang="en-US" altLang="zh-CN" dirty="0" err="1"/>
              <a:t>GSoC</a:t>
            </a:r>
            <a:r>
              <a:rPr lang="en-US" altLang="zh-CN" dirty="0"/>
              <a:t> 2026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7B141C-24E3-77AC-F20A-48F3683DF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5138928" cy="427168"/>
          </a:xfrm>
        </p:spPr>
        <p:txBody>
          <a:bodyPr/>
          <a:lstStyle/>
          <a:p>
            <a:pPr algn="ctr"/>
            <a:r>
              <a:rPr lang="en-US" sz="1800" cap="none" dirty="0"/>
              <a:t>Start NOW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888930-2D0E-5CB9-E688-6EBD5F731D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zh-CN" altLang="en-US" dirty="0"/>
              <a:t>提前了解 </a:t>
            </a:r>
            <a:r>
              <a:rPr lang="en-US" dirty="0" err="1"/>
              <a:t>GSoC</a:t>
            </a:r>
            <a:r>
              <a:rPr lang="en-US" dirty="0"/>
              <a:t> </a:t>
            </a:r>
            <a:r>
              <a:rPr lang="zh-CN" altLang="en-US" dirty="0"/>
              <a:t>项目与流程</a:t>
            </a:r>
          </a:p>
          <a:p>
            <a:pPr>
              <a:buClr>
                <a:srgbClr val="6EC7CB"/>
              </a:buClr>
            </a:pPr>
            <a:r>
              <a:rPr lang="zh-CN" altLang="en-US" dirty="0"/>
              <a:t>提前和 </a:t>
            </a:r>
            <a:r>
              <a:rPr lang="en-US" dirty="0"/>
              <a:t>Mentor </a:t>
            </a:r>
            <a:r>
              <a:rPr lang="zh-CN" altLang="en-US" dirty="0"/>
              <a:t>或社区沟通，获得反馈，迭代你的想法</a:t>
            </a:r>
            <a:endParaRPr lang="en-US" altLang="zh-CN" dirty="0"/>
          </a:p>
          <a:p>
            <a:pPr>
              <a:buClr>
                <a:srgbClr val="6EC7CB"/>
              </a:buClr>
            </a:pPr>
            <a:r>
              <a:rPr lang="zh-CN" altLang="en-US" dirty="0"/>
              <a:t>有时间熟悉 </a:t>
            </a:r>
            <a:r>
              <a:rPr lang="en-US" dirty="0"/>
              <a:t>Mesa / </a:t>
            </a:r>
            <a:r>
              <a:rPr lang="zh-CN" altLang="en-US" dirty="0"/>
              <a:t>其它开源项目的代码与贡献流程</a:t>
            </a:r>
          </a:p>
          <a:p>
            <a:pPr>
              <a:buClr>
                <a:srgbClr val="6EC7CB"/>
              </a:buClr>
            </a:pPr>
            <a:r>
              <a:rPr lang="zh-CN" altLang="en-US" dirty="0"/>
              <a:t>可以先做一些 </a:t>
            </a:r>
            <a:r>
              <a:rPr lang="en-US" dirty="0"/>
              <a:t>small but real contributions（</a:t>
            </a:r>
            <a:r>
              <a:rPr lang="zh-CN" altLang="en-US" dirty="0"/>
              <a:t>修文档、加测试、修小 </a:t>
            </a:r>
            <a:r>
              <a:rPr lang="en-US" dirty="0"/>
              <a:t>bug）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4A7288-8D83-1591-C21C-380F09FC9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85416"/>
            <a:ext cx="5138928" cy="405384"/>
          </a:xfrm>
        </p:spPr>
        <p:txBody>
          <a:bodyPr/>
          <a:lstStyle/>
          <a:p>
            <a:pPr algn="ctr"/>
            <a:r>
              <a:rPr lang="en-US" sz="1800" cap="none" dirty="0"/>
              <a:t>Useful Resources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ECE253-93F8-87A1-2ACB-CACEFEF4B1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en-US" dirty="0"/>
              <a:t>Mesa </a:t>
            </a:r>
            <a:r>
              <a:rPr lang="en-US" dirty="0" err="1"/>
              <a:t>GSoC</a:t>
            </a:r>
            <a:r>
              <a:rPr lang="en-US" dirty="0"/>
              <a:t> Candidates Guide: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mesa.readthedocs.io</a:t>
            </a:r>
            <a:r>
              <a:rPr lang="en-US" dirty="0">
                <a:hlinkClick r:id="rId2"/>
              </a:rPr>
              <a:t>/latest/</a:t>
            </a:r>
            <a:r>
              <a:rPr lang="en-US" dirty="0" err="1">
                <a:hlinkClick r:id="rId2"/>
              </a:rPr>
              <a:t>GSoC.html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/>
              <a:t>Collection of accepted </a:t>
            </a:r>
            <a:r>
              <a:rPr lang="en-US" dirty="0" err="1"/>
              <a:t>GSoC</a:t>
            </a:r>
            <a:r>
              <a:rPr lang="en-US" dirty="0"/>
              <a:t> 2025 proposals: </a:t>
            </a: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gsocguide.vercel.app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en-US" dirty="0"/>
              <a:t>Look beyond Mesa:</a:t>
            </a:r>
          </a:p>
          <a:p>
            <a:pPr lvl="1">
              <a:buClr>
                <a:srgbClr val="6EC7CB"/>
              </a:buClr>
            </a:pPr>
            <a:r>
              <a:rPr lang="zh-CN" altLang="en-US" dirty="0"/>
              <a:t>找到你真正感兴趣的项目</a:t>
            </a:r>
            <a:r>
              <a:rPr lang="en-US" altLang="zh-CN" dirty="0"/>
              <a:t>/</a:t>
            </a:r>
            <a:r>
              <a:rPr lang="zh-CN" altLang="en-US" dirty="0"/>
              <a:t>领域</a:t>
            </a:r>
            <a:r>
              <a:rPr lang="en-US" altLang="zh-CN" dirty="0"/>
              <a:t>/</a:t>
            </a:r>
            <a:r>
              <a:rPr lang="zh-CN" altLang="en-US" dirty="0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技术栈（</a:t>
            </a:r>
            <a:r>
              <a:rPr lang="en-US" altLang="zh-CN" dirty="0"/>
              <a:t>e.g., </a:t>
            </a:r>
            <a:r>
              <a:rPr lang="en-US" altLang="zh-CN" dirty="0" err="1">
                <a:hlinkClick r:id="rId4"/>
              </a:rPr>
              <a:t>ABSESpy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Clr>
                <a:srgbClr val="6EC7CB"/>
              </a:buClr>
            </a:pPr>
            <a:r>
              <a:rPr lang="zh-CN" altLang="en-US" dirty="0"/>
              <a:t>不要只等这次培训的后续阶段，现在就开始调研与阅读代码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53603-E735-9AE5-A5AA-8FB32F552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6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43BF-D201-8E07-31FC-42B98335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72FA9-4F35-F1C1-6F49-491EB65F75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08288F-6A80-6D23-DEFA-334DB493090F}"/>
              </a:ext>
            </a:extLst>
          </p:cNvPr>
          <p:cNvSpPr txBox="1">
            <a:spLocks/>
          </p:cNvSpPr>
          <p:nvPr/>
        </p:nvSpPr>
        <p:spPr>
          <a:xfrm>
            <a:off x="1327105" y="2124997"/>
            <a:ext cx="3246119" cy="260800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0000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/>
              <a:t>社区行为准则</a:t>
            </a:r>
            <a:br>
              <a:rPr lang="en-US" sz="3200" dirty="0"/>
            </a:br>
            <a:r>
              <a:rPr lang="en-US" sz="3200" dirty="0"/>
              <a:t>Code of Conduct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7A071-564C-55EC-2E7D-D2CE5ECB8193}"/>
              </a:ext>
            </a:extLst>
          </p:cNvPr>
          <p:cNvSpPr txBox="1"/>
          <p:nvPr/>
        </p:nvSpPr>
        <p:spPr>
          <a:xfrm>
            <a:off x="6116755" y="6502336"/>
            <a:ext cx="5143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  <a:hlinkClick r:id="rId2"/>
              </a:rPr>
              <a:t>https://</a:t>
            </a:r>
            <a:r>
              <a:rPr lang="en-US" sz="1200" dirty="0" err="1">
                <a:latin typeface="Garamond" panose="02020404030301010803" pitchFamily="18" charset="0"/>
                <a:hlinkClick r:id="rId2"/>
              </a:rPr>
              <a:t>github.com</a:t>
            </a:r>
            <a:r>
              <a:rPr lang="en-US" sz="1200" dirty="0">
                <a:latin typeface="Garamond" panose="02020404030301010803" pitchFamily="18" charset="0"/>
                <a:hlinkClick r:id="rId2"/>
              </a:rPr>
              <a:t>/</a:t>
            </a:r>
            <a:r>
              <a:rPr lang="en-US" sz="1200" dirty="0" err="1">
                <a:latin typeface="Garamond" panose="02020404030301010803" pitchFamily="18" charset="0"/>
                <a:hlinkClick r:id="rId2"/>
              </a:rPr>
              <a:t>projectmesa</a:t>
            </a:r>
            <a:r>
              <a:rPr lang="en-US" sz="1200" dirty="0">
                <a:latin typeface="Garamond" panose="02020404030301010803" pitchFamily="18" charset="0"/>
                <a:hlinkClick r:id="rId2"/>
              </a:rPr>
              <a:t>/mesa/blob/main/</a:t>
            </a:r>
            <a:r>
              <a:rPr lang="en-US" sz="1200" dirty="0" err="1">
                <a:latin typeface="Garamond" panose="02020404030301010803" pitchFamily="18" charset="0"/>
                <a:hlinkClick r:id="rId2"/>
              </a:rPr>
              <a:t>CODE_OF_CONDUCT.md</a:t>
            </a:r>
            <a:endParaRPr lang="en-US" sz="1200" dirty="0">
              <a:latin typeface="Garamond" panose="02020404030301010803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AEC588-54E9-759D-4ECC-5B585F973A28}"/>
              </a:ext>
            </a:extLst>
          </p:cNvPr>
          <p:cNvGrpSpPr/>
          <p:nvPr/>
        </p:nvGrpSpPr>
        <p:grpSpPr>
          <a:xfrm>
            <a:off x="6026990" y="1182998"/>
            <a:ext cx="5330593" cy="5136776"/>
            <a:chOff x="6026991" y="880848"/>
            <a:chExt cx="5330593" cy="5136776"/>
          </a:xfrm>
        </p:grpSpPr>
        <p:pic>
          <p:nvPicPr>
            <p:cNvPr id="8" name="Content Placeholder 4">
              <a:extLst>
                <a:ext uri="{FF2B5EF4-FFF2-40B4-BE49-F238E27FC236}">
                  <a16:creationId xmlns:a16="http://schemas.microsoft.com/office/drawing/2014/main" id="{C9E364F7-33B3-15AC-8161-DA78198A2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b="31780"/>
            <a:stretch/>
          </p:blipFill>
          <p:spPr>
            <a:xfrm>
              <a:off x="6026991" y="880848"/>
              <a:ext cx="5323503" cy="5136776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C319619-7D77-98CD-DB8E-79E97CFA238E}"/>
                </a:ext>
              </a:extLst>
            </p:cNvPr>
            <p:cNvCxnSpPr>
              <a:cxnSpLocks/>
            </p:cNvCxnSpPr>
            <p:nvPr/>
          </p:nvCxnSpPr>
          <p:spPr>
            <a:xfrm>
              <a:off x="6030536" y="880848"/>
              <a:ext cx="5323503" cy="0"/>
            </a:xfrm>
            <a:prstGeom prst="line">
              <a:avLst/>
            </a:prstGeom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8E60F44-53F1-953C-38AF-9D886FC49A0B}"/>
                </a:ext>
              </a:extLst>
            </p:cNvPr>
            <p:cNvCxnSpPr>
              <a:cxnSpLocks/>
            </p:cNvCxnSpPr>
            <p:nvPr/>
          </p:nvCxnSpPr>
          <p:spPr>
            <a:xfrm>
              <a:off x="6026991" y="880848"/>
              <a:ext cx="3545" cy="5136776"/>
            </a:xfrm>
            <a:prstGeom prst="line">
              <a:avLst/>
            </a:prstGeom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92E87E-2374-54B4-0BCE-B02FAF7EC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354039" y="880848"/>
              <a:ext cx="3545" cy="5136776"/>
            </a:xfrm>
            <a:prstGeom prst="line">
              <a:avLst/>
            </a:prstGeom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325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B913-94EF-F3C5-C763-59EF344C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7F29C00E-EB4C-AA1A-99CA-1C94B0D5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65E88E-76B3-6FAB-2351-AE43E6328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zh-CN" altLang="en-US" b="1" dirty="0"/>
              <a:t>宋爽 </a:t>
            </a:r>
            <a:r>
              <a:rPr lang="en-US" altLang="zh-CN" b="1" dirty="0"/>
              <a:t>· </a:t>
            </a:r>
            <a:r>
              <a:rPr lang="en-US" b="1" dirty="0"/>
              <a:t>Shuang Song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马克斯</a:t>
            </a:r>
            <a:r>
              <a:rPr lang="en-US" altLang="zh-CN" sz="1400" dirty="0"/>
              <a:t>·</a:t>
            </a:r>
            <a:r>
              <a:rPr lang="zh-CN" altLang="en-US" sz="1400" dirty="0"/>
              <a:t>普朗克研究所 </a:t>
            </a:r>
            <a:r>
              <a:rPr lang="en-US" altLang="zh-CN" sz="1400" dirty="0"/>
              <a:t>· </a:t>
            </a:r>
            <a:r>
              <a:rPr lang="zh-CN" altLang="en-US" sz="1400" dirty="0"/>
              <a:t>博士后研究员</a:t>
            </a:r>
          </a:p>
          <a:p>
            <a:pPr lvl="1">
              <a:buClr>
                <a:srgbClr val="6EC7CB"/>
              </a:buClr>
            </a:pPr>
            <a:r>
              <a:rPr lang="en-US" sz="1400" dirty="0" err="1"/>
              <a:t>cv.songshgeo.com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zh-CN" altLang="en-US" b="1" dirty="0"/>
              <a:t>王博宇 </a:t>
            </a:r>
            <a:r>
              <a:rPr lang="en-US" altLang="zh-CN" b="1" dirty="0"/>
              <a:t>· </a:t>
            </a:r>
            <a:r>
              <a:rPr lang="en-US" b="1" dirty="0"/>
              <a:t>Boyu Wang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美国布法罗大学 </a:t>
            </a:r>
            <a:r>
              <a:rPr lang="en-US" altLang="zh-CN" sz="1400" dirty="0"/>
              <a:t>· </a:t>
            </a:r>
            <a:r>
              <a:rPr lang="zh-CN" altLang="en-US" sz="1400" dirty="0"/>
              <a:t>博士生</a:t>
            </a:r>
          </a:p>
          <a:p>
            <a:pPr lvl="1">
              <a:buClr>
                <a:srgbClr val="6EC7CB"/>
              </a:buClr>
            </a:pPr>
            <a:r>
              <a:rPr lang="en-US" sz="1400" dirty="0"/>
              <a:t>wang-</a:t>
            </a:r>
            <a:r>
              <a:rPr lang="en-US" sz="1400" dirty="0" err="1"/>
              <a:t>boyu.github.io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zh-CN" altLang="en-US" b="1" dirty="0"/>
              <a:t>林鑫 </a:t>
            </a:r>
            <a:r>
              <a:rPr lang="en-US" altLang="zh-CN" b="1" dirty="0"/>
              <a:t>· </a:t>
            </a:r>
            <a:r>
              <a:rPr lang="en-US" b="1" dirty="0"/>
              <a:t>Xin Lin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中国地质大学（武汉） </a:t>
            </a:r>
            <a:r>
              <a:rPr lang="en-US" altLang="zh-CN" sz="1400" dirty="0"/>
              <a:t>· </a:t>
            </a:r>
            <a:r>
              <a:rPr lang="zh-CN" altLang="en-US" sz="1400" dirty="0"/>
              <a:t>硕士研究生</a:t>
            </a:r>
          </a:p>
          <a:p>
            <a:pPr lvl="1">
              <a:buClr>
                <a:srgbClr val="6EC7CB"/>
              </a:buClr>
            </a:pPr>
            <a:r>
              <a:rPr lang="en-US" sz="1400" dirty="0" err="1"/>
              <a:t>github.com</a:t>
            </a:r>
            <a:r>
              <a:rPr lang="en-US" sz="1400" dirty="0"/>
              <a:t>/peter-</a:t>
            </a:r>
            <a:r>
              <a:rPr lang="en-US" sz="1400" dirty="0" err="1"/>
              <a:t>kinger</a:t>
            </a:r>
            <a:endParaRPr lang="en-US" sz="14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5762384-EF4A-4E03-6494-7CD033D8FC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6EC7CB"/>
              </a:buClr>
            </a:pPr>
            <a:r>
              <a:rPr lang="zh-CN" altLang="en-US" b="1" dirty="0"/>
              <a:t>周正梓 </a:t>
            </a:r>
            <a:r>
              <a:rPr lang="en-US" altLang="zh-CN" b="1" dirty="0"/>
              <a:t>· </a:t>
            </a:r>
            <a:r>
              <a:rPr lang="en-US" b="1" dirty="0"/>
              <a:t>Adam Zhou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伦敦大学学院 </a:t>
            </a:r>
            <a:r>
              <a:rPr lang="en-US" altLang="zh-CN" sz="1400" dirty="0"/>
              <a:t>· </a:t>
            </a:r>
            <a:r>
              <a:rPr lang="zh-CN" altLang="en-US" sz="1400" dirty="0"/>
              <a:t>博士生</a:t>
            </a:r>
          </a:p>
          <a:p>
            <a:pPr lvl="1">
              <a:buClr>
                <a:srgbClr val="6EC7CB"/>
              </a:buClr>
            </a:pPr>
            <a:r>
              <a:rPr lang="en-US" sz="1400" dirty="0" err="1"/>
              <a:t>github.com</a:t>
            </a:r>
            <a:r>
              <a:rPr lang="en-US" sz="1400" dirty="0"/>
              <a:t>/AdamZh0u</a:t>
            </a:r>
          </a:p>
          <a:p>
            <a:pPr>
              <a:buClr>
                <a:srgbClr val="6EC7CB"/>
              </a:buClr>
            </a:pPr>
            <a:r>
              <a:rPr lang="zh-CN" altLang="en-US" b="1" dirty="0"/>
              <a:t>胡博 </a:t>
            </a:r>
            <a:r>
              <a:rPr lang="en-US" altLang="zh-CN" b="1" dirty="0"/>
              <a:t>· </a:t>
            </a:r>
            <a:r>
              <a:rPr lang="en-US" b="1" dirty="0"/>
              <a:t>Bo Hu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南京大学</a:t>
            </a:r>
            <a:r>
              <a:rPr lang="en-US" altLang="zh-CN" sz="1400" dirty="0"/>
              <a:t>· </a:t>
            </a:r>
            <a:r>
              <a:rPr lang="zh-CN" altLang="en-US" sz="1400" dirty="0"/>
              <a:t>博士生</a:t>
            </a:r>
          </a:p>
          <a:p>
            <a:pPr lvl="1">
              <a:buClr>
                <a:srgbClr val="6EC7CB"/>
              </a:buClr>
            </a:pPr>
            <a:r>
              <a:rPr lang="en-US" sz="1400" dirty="0" err="1"/>
              <a:t>hubo-home.com</a:t>
            </a:r>
            <a:endParaRPr lang="en-US" dirty="0"/>
          </a:p>
          <a:p>
            <a:pPr>
              <a:buClr>
                <a:srgbClr val="6EC7CB"/>
              </a:buClr>
            </a:pPr>
            <a:r>
              <a:rPr lang="zh-CN" altLang="en-US" b="1" dirty="0"/>
              <a:t>郭家乐 </a:t>
            </a:r>
            <a:r>
              <a:rPr lang="en-US" altLang="zh-CN" b="1" dirty="0"/>
              <a:t>· </a:t>
            </a:r>
            <a:r>
              <a:rPr lang="en-US" b="1" dirty="0"/>
              <a:t>Jiale Guo</a:t>
            </a:r>
          </a:p>
          <a:p>
            <a:pPr lvl="1">
              <a:buClr>
                <a:srgbClr val="6EC7CB"/>
              </a:buClr>
            </a:pPr>
            <a:r>
              <a:rPr lang="zh-CN" altLang="en-US" sz="1400" dirty="0"/>
              <a:t>米兰理工大学</a:t>
            </a:r>
            <a:r>
              <a:rPr lang="en-US" altLang="zh-CN" sz="1400" dirty="0"/>
              <a:t>· </a:t>
            </a:r>
            <a:r>
              <a:rPr lang="zh-CN" altLang="en-US" sz="1400" dirty="0"/>
              <a:t>硕士研究生</a:t>
            </a:r>
            <a:endParaRPr lang="en-US" altLang="zh-CN" sz="1400" dirty="0"/>
          </a:p>
          <a:p>
            <a:pPr lvl="1">
              <a:buClr>
                <a:srgbClr val="6EC7CB"/>
              </a:buClr>
            </a:pPr>
            <a:r>
              <a:rPr lang="en-US" sz="1400" dirty="0" err="1"/>
              <a:t>guojialegeographer.github.io</a:t>
            </a:r>
            <a:endParaRPr lang="en-US" sz="1400" dirty="0"/>
          </a:p>
          <a:p>
            <a:pPr>
              <a:buClr>
                <a:srgbClr val="6EC7CB"/>
              </a:buClr>
            </a:pPr>
            <a:endParaRPr lang="en-US" dirty="0"/>
          </a:p>
          <a:p>
            <a:pPr>
              <a:buClr>
                <a:srgbClr val="6EC7CB"/>
              </a:buClr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03CC-0C30-6EFB-87BB-3017793936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>
                <a:latin typeface="Garamond" panose="02020404030301010803" pitchFamily="18" charset="0"/>
              </a:rPr>
              <a:pPr/>
              <a:t>9</a:t>
            </a:fld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51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6464a8a-f8ed-40b1-99e2-5f6b50a20250}" enabled="0" method="" siteId="{96464a8a-f8ed-40b1-99e2-5f6b50a202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751</Words>
  <Application>Microsoft Macintosh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Regular</vt:lpstr>
      <vt:lpstr>System Font Regular</vt:lpstr>
      <vt:lpstr>Arial</vt:lpstr>
      <vt:lpstr>Garamond</vt:lpstr>
      <vt:lpstr>Office Theme</vt:lpstr>
      <vt:lpstr>Mesa 项目介绍</vt:lpstr>
      <vt:lpstr>Mesa: Agent-Based Modeling in Python</vt:lpstr>
      <vt:lpstr>其它 ABM 框架</vt:lpstr>
      <vt:lpstr>Mesa 用户</vt:lpstr>
      <vt:lpstr>参与方式</vt:lpstr>
      <vt:lpstr>培训计划</vt:lpstr>
      <vt:lpstr>申请 GSoC 2026</vt:lpstr>
      <vt:lpstr>PowerPoint Presentation</vt:lpstr>
      <vt:lpstr>Mentors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Boyu Wang</cp:lastModifiedBy>
  <cp:revision>81</cp:revision>
  <dcterms:created xsi:type="dcterms:W3CDTF">2019-04-04T19:20:28Z</dcterms:created>
  <dcterms:modified xsi:type="dcterms:W3CDTF">2025-12-09T09:57:17Z</dcterms:modified>
  <cp:category/>
</cp:coreProperties>
</file>